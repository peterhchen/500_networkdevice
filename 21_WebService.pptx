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5" r:id="rId3"/>
    <p:sldId id="266" r:id="rId4"/>
    <p:sldId id="267" r:id="rId5"/>
    <p:sldId id="269" r:id="rId6"/>
    <p:sldId id="268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9" r:id="rId16"/>
    <p:sldId id="278" r:id="rId17"/>
    <p:sldId id="280" r:id="rId18"/>
    <p:sldId id="281" r:id="rId19"/>
    <p:sldId id="259" r:id="rId2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20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EDA8-41C8-4B24-A206-13C08A65A6D7}" type="datetimeFigureOut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AA135-E01C-4A42-9760-5A137A0CA4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5509C-BD4F-47BF-9B1E-FC2E949B3621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9440-D9EF-40CC-9B52-F6428D9B2C76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1BF52-5C6C-4959-8E27-CECB68D39FE4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3F05-2DD9-4EB1-A827-12FD992DE9D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AF51-4491-4873-A096-75DB6CE47516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AD9C8-8B9E-40FF-ABE2-858AC2057BBB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84999-BBBE-4BE4-A8D0-877E7D1D66C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D17E6-02BD-4944-B9FE-7BFCCBF83D48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E23D-1FEF-4D78-A3A3-3D6F2BB31954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1B24-F787-4C15-8A0F-7AEC20C70069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D33C-CE2B-45F1-B8D4-FFD1F131F331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7F35-AD6F-4594-8B50-334492D2E7E8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tutorialspoint.com/communication_technologies/communication_technologies_web_services.htm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web_services.htm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web_services.htm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web_services.htm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web_services.htm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web_services.htm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tutorialspoint.com/communication_technologies/communication_technologies_web_services.htm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web_services.htm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www.tutorialspoint.com/communication_technologies/communication_technologies_web_services.htm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web_services.htm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web_services.htm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web_services.htm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web_services.htm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web_services.htm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www.tutorialspoint.com/communication_technologies/communication_technologies_web_services.htm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web_services.htm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web_services.htm" TargetMode="Externa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21 Web Service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4570616"/>
            <a:ext cx="6400800" cy="694928"/>
          </a:xfrm>
        </p:spPr>
        <p:txBody>
          <a:bodyPr>
            <a:normAutofit/>
          </a:bodyPr>
          <a:lstStyle/>
          <a:p>
            <a:r>
              <a:rPr lang="en-US" altLang="zh-TW" dirty="0"/>
              <a:t>Peter H. Chen</a:t>
            </a:r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8BD46-82E2-48A7-803A-12ED04C9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825" y="3717032"/>
            <a:ext cx="1098349" cy="950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21 Web Service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216023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WWW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WWW is the acronym for </a:t>
            </a:r>
            <a:r>
              <a:rPr lang="en-US" sz="1800" b="1" dirty="0">
                <a:solidFill>
                  <a:schemeClr val="tx1"/>
                </a:solidFill>
              </a:rPr>
              <a:t>World Wide Web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WWW is an information space inhabited by interlinked documents and other media that can be accessed via the Internet.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WWW was invented by British scientist Tim Berners-Lee in 1989 and developed the </a:t>
            </a:r>
            <a:r>
              <a:rPr lang="en-US" sz="1800" b="1" dirty="0">
                <a:solidFill>
                  <a:schemeClr val="tx1"/>
                </a:solidFill>
              </a:rPr>
              <a:t>first web browser</a:t>
            </a:r>
            <a:r>
              <a:rPr lang="en-US" sz="1800" dirty="0">
                <a:solidFill>
                  <a:schemeClr val="tx1"/>
                </a:solidFill>
              </a:rPr>
              <a:t> in 1990 to facilitate exchange of information through the use of interlinked </a:t>
            </a:r>
            <a:r>
              <a:rPr lang="en-US" sz="1800" b="1" dirty="0">
                <a:solidFill>
                  <a:schemeClr val="tx1"/>
                </a:solidFill>
              </a:rPr>
              <a:t>hypertexts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i="1" dirty="0">
              <a:solidFill>
                <a:schemeClr val="tx1"/>
              </a:solidFill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https://www.tutorialspoint.com/communication_technologies/communication_technologies_web_services.htm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2</a:t>
            </a:fld>
            <a:endParaRPr lang="zh-TW" altLang="en-US"/>
          </a:p>
        </p:txBody>
      </p:sp>
      <p:pic>
        <p:nvPicPr>
          <p:cNvPr id="1026" name="Picture 2" descr="World Wide Web">
            <a:extLst>
              <a:ext uri="{FF2B5EF4-FFF2-40B4-BE49-F238E27FC236}">
                <a16:creationId xmlns:a16="http://schemas.microsoft.com/office/drawing/2014/main" id="{86A0407E-BB7A-44CB-9E16-87EE61CDA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645024"/>
            <a:ext cx="4181831" cy="2448272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154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21 Web Service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3024335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WWW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 text that contains link to another piece of text is called hypertext. The web resources were identified by a unique name called </a:t>
            </a:r>
            <a:r>
              <a:rPr lang="en-US" sz="1800" b="1" dirty="0">
                <a:solidFill>
                  <a:schemeClr val="tx1"/>
                </a:solidFill>
              </a:rPr>
              <a:t>URL</a:t>
            </a:r>
            <a:r>
              <a:rPr lang="en-US" sz="1800" dirty="0">
                <a:solidFill>
                  <a:schemeClr val="tx1"/>
                </a:solidFill>
              </a:rPr>
              <a:t> to avoid confusion.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World Wide Web has revolutionized the way we create, store and exchange information. Success of WWW can be attributed to these factors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User friendly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Use of multimedia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Interlinking of pages through hypertexts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Interactive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https://www.tutorialspoint.com/communication_technologies/communication_technologies_web_services.htm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8033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21 Web Service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352839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HTML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HTML stands for </a:t>
            </a:r>
            <a:r>
              <a:rPr lang="en-US" sz="1800" b="1" dirty="0">
                <a:solidFill>
                  <a:schemeClr val="tx1"/>
                </a:solidFill>
              </a:rPr>
              <a:t>Hypertext Markup Language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 language designed such that parts of text can be marked to specify its structure, layout and style in context of the whole page is called a </a:t>
            </a:r>
            <a:r>
              <a:rPr lang="en-US" sz="1800" b="1" dirty="0">
                <a:solidFill>
                  <a:schemeClr val="tx1"/>
                </a:solidFill>
              </a:rPr>
              <a:t>markup language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Its primary function is defining, processing and presenting text.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HTML</a:t>
            </a:r>
            <a:r>
              <a:rPr lang="en-US" sz="1800" dirty="0">
                <a:solidFill>
                  <a:schemeClr val="tx1"/>
                </a:solidFill>
              </a:rPr>
              <a:t> is the standard language for creating web pages and web applications, and loading them in </a:t>
            </a:r>
            <a:r>
              <a:rPr lang="en-US" sz="1800" b="1" dirty="0">
                <a:solidFill>
                  <a:schemeClr val="tx1"/>
                </a:solidFill>
              </a:rPr>
              <a:t>web browsers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Like WWW it was created by Time Berners-Lee to enable users to access pages from any page easily.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When you send request for a page, the </a:t>
            </a:r>
            <a:r>
              <a:rPr lang="en-US" sz="1800" b="1" dirty="0">
                <a:solidFill>
                  <a:schemeClr val="tx1"/>
                </a:solidFill>
              </a:rPr>
              <a:t>web server sends file in HTML form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This HTML file is interpreted by the web browser and displayed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https://www.tutorialspoint.com/communication_technologies/communication_technologies_web_services.htm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4187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21 Web Service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187220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XML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XML stands for </a:t>
            </a:r>
            <a:r>
              <a:rPr lang="en-US" sz="1800" b="1" dirty="0" err="1">
                <a:solidFill>
                  <a:schemeClr val="tx1"/>
                </a:solidFill>
              </a:rPr>
              <a:t>eXtensible</a:t>
            </a:r>
            <a:r>
              <a:rPr lang="en-US" sz="1800" b="1" dirty="0">
                <a:solidFill>
                  <a:schemeClr val="tx1"/>
                </a:solidFill>
              </a:rPr>
              <a:t> Markup Language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It is a markup language designed to store and transport data in safe, secure and correct way.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As the word extensible indicates, XML provides users with a tool to define their own language, especially to display documents on the Internet.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https://www.tutorialspoint.com/communication_technologies/communication_technologies_web_services.htm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8" name="副標題 2">
            <a:extLst>
              <a:ext uri="{FF2B5EF4-FFF2-40B4-BE49-F238E27FC236}">
                <a16:creationId xmlns:a16="http://schemas.microsoft.com/office/drawing/2014/main" id="{E6D288AC-511D-406F-B299-B5743DC8F5DE}"/>
              </a:ext>
            </a:extLst>
          </p:cNvPr>
          <p:cNvSpPr txBox="1">
            <a:spLocks/>
          </p:cNvSpPr>
          <p:nvPr/>
        </p:nvSpPr>
        <p:spPr>
          <a:xfrm>
            <a:off x="367862" y="3702578"/>
            <a:ext cx="4420162" cy="174264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Any XML document has two parts – </a:t>
            </a:r>
            <a:r>
              <a:rPr lang="en-US" sz="1800" b="1" dirty="0">
                <a:solidFill>
                  <a:schemeClr val="tx1"/>
                </a:solidFill>
              </a:rPr>
              <a:t>structure</a:t>
            </a:r>
            <a:r>
              <a:rPr lang="en-US" sz="1800" dirty="0">
                <a:solidFill>
                  <a:schemeClr val="tx1"/>
                </a:solidFill>
              </a:rPr>
              <a:t> and </a:t>
            </a:r>
            <a:r>
              <a:rPr lang="en-US" sz="1800" b="1" dirty="0">
                <a:solidFill>
                  <a:schemeClr val="tx1"/>
                </a:solidFill>
              </a:rPr>
              <a:t>content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Let’s take an example to understand this. Suppose your school library wants to create a database of magazines it subscribes to. </a:t>
            </a:r>
          </a:p>
        </p:txBody>
      </p:sp>
    </p:spTree>
    <p:extLst>
      <p:ext uri="{BB962C8B-B14F-4D97-AF65-F5344CB8AC3E}">
        <p14:creationId xmlns:p14="http://schemas.microsoft.com/office/powerpoint/2010/main" val="3736334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21 Web Service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64807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XML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This is the CATALOG XML file that needs to be created.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https://www.tutorialspoint.com/communication_technologies/communication_technologies_web_services.htm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8" name="副標題 2">
            <a:extLst>
              <a:ext uri="{FF2B5EF4-FFF2-40B4-BE49-F238E27FC236}">
                <a16:creationId xmlns:a16="http://schemas.microsoft.com/office/drawing/2014/main" id="{E6D288AC-511D-406F-B299-B5743DC8F5DE}"/>
              </a:ext>
            </a:extLst>
          </p:cNvPr>
          <p:cNvSpPr txBox="1">
            <a:spLocks/>
          </p:cNvSpPr>
          <p:nvPr/>
        </p:nvSpPr>
        <p:spPr>
          <a:xfrm>
            <a:off x="1524000" y="2204864"/>
            <a:ext cx="5184576" cy="378299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</a:rPr>
              <a:t>&lt;CATALOG&gt; 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</a:rPr>
              <a:t>   &lt;MAGAZINE&gt; 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</a:rPr>
              <a:t>        &lt;TITLE&gt;Magic Pot&lt;/TITLE&gt; 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</a:rPr>
              <a:t>        &lt;PUBLISHER&gt;MM Publications&lt;/PUBLISHER&gt; 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</a:rPr>
              <a:t>        &lt;FREQUENCY&gt;Weekly&lt;/FREQUENCY&gt; 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</a:rPr>
              <a:t>        &lt;PRICE&gt;15&lt;/PRICE&gt; 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</a:rPr>
              <a:t>   &lt;/MAGAZINE&gt; 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</a:rPr>
              <a:t>   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</a:rPr>
              <a:t>   &lt;MAGAZINE&gt; 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</a:rPr>
              <a:t>       &lt;TITLE&gt;Competition Refresher&lt;/TITLE&gt; 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</a:rPr>
              <a:t>       &lt;PUBLISHER&gt;Bright Publications&lt;/PUBLISHER&gt;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</a:rPr>
              <a:t>       &lt;FREQUENCY&gt;Monthly&lt;/FREQUENC&gt; 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</a:rPr>
              <a:t>       &lt;PRICE&gt;100&lt;/PRICE&gt; 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</a:rPr>
              <a:t>   &lt;/MAGAZINE&gt; 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</a:rPr>
              <a:t>&lt;/CATALOG&gt; </a:t>
            </a:r>
          </a:p>
        </p:txBody>
      </p:sp>
    </p:spTree>
    <p:extLst>
      <p:ext uri="{BB962C8B-B14F-4D97-AF65-F5344CB8AC3E}">
        <p14:creationId xmlns:p14="http://schemas.microsoft.com/office/powerpoint/2010/main" val="364795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21 Web Service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259228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XML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Each magazine has title, publisher, frequency and price information stored about it.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This is the structure of catalog.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Values like Magic Pot, MM Publication, Monthly, Weekly, etc. are the content.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This XML file has information about all the magazines available in the library.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Remember that this file will not do anything on its own.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But another piece of code can be easily written to extract, analyze and present data stored here.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https://www.tutorialspoint.com/communication_technologies/communication_technologies_web_services.htm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6696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21 Web Service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216023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HTTP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HTTP stands for </a:t>
            </a:r>
            <a:r>
              <a:rPr lang="en-US" sz="1800" b="1" dirty="0">
                <a:solidFill>
                  <a:schemeClr val="tx1"/>
                </a:solidFill>
              </a:rPr>
              <a:t>Hypertext Transfer Protocol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It is the most fundamental protocol used for transferring text, graphics, image, video and other multimedia files on the </a:t>
            </a:r>
            <a:r>
              <a:rPr lang="en-US" sz="1800" b="1" dirty="0">
                <a:solidFill>
                  <a:schemeClr val="tx1"/>
                </a:solidFill>
              </a:rPr>
              <a:t>World Wide Web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HTTP is an </a:t>
            </a:r>
            <a:r>
              <a:rPr lang="en-US" sz="1800" b="1" dirty="0">
                <a:solidFill>
                  <a:schemeClr val="tx1"/>
                </a:solidFill>
              </a:rPr>
              <a:t>application layer</a:t>
            </a:r>
            <a:r>
              <a:rPr lang="en-US" sz="1800" dirty="0">
                <a:solidFill>
                  <a:schemeClr val="tx1"/>
                </a:solidFill>
              </a:rPr>
              <a:t> protocol of the </a:t>
            </a:r>
            <a:r>
              <a:rPr lang="en-US" sz="1800" b="1" dirty="0">
                <a:solidFill>
                  <a:schemeClr val="tx1"/>
                </a:solidFill>
              </a:rPr>
              <a:t>TCP/IP</a:t>
            </a:r>
            <a:r>
              <a:rPr lang="en-US" sz="1800" dirty="0">
                <a:solidFill>
                  <a:schemeClr val="tx1"/>
                </a:solidFill>
              </a:rPr>
              <a:t> suite in </a:t>
            </a:r>
            <a:r>
              <a:rPr lang="en-US" sz="1800" b="1" dirty="0">
                <a:solidFill>
                  <a:schemeClr val="tx1"/>
                </a:solidFill>
              </a:rPr>
              <a:t>client-server </a:t>
            </a:r>
            <a:r>
              <a:rPr lang="en-US" sz="1800" dirty="0">
                <a:solidFill>
                  <a:schemeClr val="tx1"/>
                </a:solidFill>
              </a:rPr>
              <a:t>networking model and was outlined for the first time by Tim Berners-Lee, father of World Wide Web.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https://www.tutorialspoint.com/communication_technologies/communication_technologies_web_services.htm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8</a:t>
            </a:fld>
            <a:endParaRPr lang="zh-TW" altLang="en-US"/>
          </a:p>
        </p:txBody>
      </p:sp>
      <p:pic>
        <p:nvPicPr>
          <p:cNvPr id="6146" name="Picture 2" descr="Hypertext Transfer Protocol">
            <a:extLst>
              <a:ext uri="{FF2B5EF4-FFF2-40B4-BE49-F238E27FC236}">
                <a16:creationId xmlns:a16="http://schemas.microsoft.com/office/drawing/2014/main" id="{A93C9756-0F16-46FF-B22B-0F75FE514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5329" y="3692623"/>
            <a:ext cx="2628900" cy="175260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副標題 2">
            <a:extLst>
              <a:ext uri="{FF2B5EF4-FFF2-40B4-BE49-F238E27FC236}">
                <a16:creationId xmlns:a16="http://schemas.microsoft.com/office/drawing/2014/main" id="{ADDF172F-D13F-44FA-9AD8-7F45241AB253}"/>
              </a:ext>
            </a:extLst>
          </p:cNvPr>
          <p:cNvSpPr txBox="1">
            <a:spLocks/>
          </p:cNvSpPr>
          <p:nvPr/>
        </p:nvSpPr>
        <p:spPr>
          <a:xfrm>
            <a:off x="367862" y="3692623"/>
            <a:ext cx="5572290" cy="2400673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HTTP is a </a:t>
            </a:r>
            <a:r>
              <a:rPr lang="en-US" sz="1800" b="1" dirty="0">
                <a:solidFill>
                  <a:schemeClr val="tx1"/>
                </a:solidFill>
              </a:rPr>
              <a:t>request-response</a:t>
            </a:r>
            <a:r>
              <a:rPr lang="en-US" sz="1800" dirty="0">
                <a:solidFill>
                  <a:schemeClr val="tx1"/>
                </a:solidFill>
              </a:rPr>
              <a:t> protocol. Here is how it functions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Client submits request to HTTP.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TCP connection is established with the server.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After necessary processing server sends back status request as well as a message. The message may have the requested content or an error message.</a:t>
            </a:r>
          </a:p>
        </p:txBody>
      </p:sp>
    </p:spTree>
    <p:extLst>
      <p:ext uri="{BB962C8B-B14F-4D97-AF65-F5344CB8AC3E}">
        <p14:creationId xmlns:p14="http://schemas.microsoft.com/office/powerpoint/2010/main" val="2103503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21 Web Service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223224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HTTP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An HTTP request is called method.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Some of the most popular methods are </a:t>
            </a:r>
            <a:r>
              <a:rPr lang="en-US" sz="1800" b="1" dirty="0">
                <a:solidFill>
                  <a:schemeClr val="tx1"/>
                </a:solidFill>
              </a:rPr>
              <a:t>GET, PUT, POST, CONNECT,</a:t>
            </a:r>
            <a:r>
              <a:rPr lang="en-US" sz="1800" dirty="0">
                <a:solidFill>
                  <a:schemeClr val="tx1"/>
                </a:solidFill>
              </a:rPr>
              <a:t> etc.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Methods that have in-built security mechanisms are called safe methods while others are called </a:t>
            </a:r>
            <a:r>
              <a:rPr lang="en-US" sz="1800" b="1" dirty="0">
                <a:solidFill>
                  <a:schemeClr val="tx1"/>
                </a:solidFill>
              </a:rPr>
              <a:t>unsafe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 version of HTTP that is completely secure is HTTPS where S stands for secure. Here all methods are secure.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https://www.tutorialspoint.com/communication_technologies/communication_technologies_web_services.htm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0320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21 Web Service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159951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Domain Names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Domain name is a unique name given to a server to identify it on the World Wide Web.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 The right most label .com is called </a:t>
            </a:r>
            <a:r>
              <a:rPr lang="en-US" sz="1800" b="1" dirty="0">
                <a:solidFill>
                  <a:schemeClr val="tx1"/>
                </a:solidFill>
              </a:rPr>
              <a:t>top level domain</a:t>
            </a:r>
            <a:r>
              <a:rPr lang="en-US" sz="1800" dirty="0">
                <a:solidFill>
                  <a:schemeClr val="tx1"/>
                </a:solidFill>
              </a:rPr>
              <a:t> (TLD).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Other examples of TLDs include </a:t>
            </a:r>
            <a:r>
              <a:rPr lang="en-US" sz="1800" b="1" dirty="0" err="1">
                <a:solidFill>
                  <a:schemeClr val="tx1"/>
                </a:solidFill>
              </a:rPr>
              <a:t>.net</a:t>
            </a:r>
            <a:r>
              <a:rPr lang="en-US" sz="1800" b="1" dirty="0">
                <a:solidFill>
                  <a:schemeClr val="tx1"/>
                </a:solidFill>
              </a:rPr>
              <a:t>, .org, .co, .au,</a:t>
            </a:r>
            <a:r>
              <a:rPr lang="en-US" sz="1800" dirty="0">
                <a:solidFill>
                  <a:schemeClr val="tx1"/>
                </a:solidFill>
              </a:rPr>
              <a:t> etc. 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https://www.tutorialspoint.com/communication_technologies/communication_technologies_web_services.htm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10</a:t>
            </a:fld>
            <a:endParaRPr lang="zh-TW" altLang="en-US"/>
          </a:p>
        </p:txBody>
      </p:sp>
      <p:pic>
        <p:nvPicPr>
          <p:cNvPr id="8194" name="Picture 2" descr="Domain Names">
            <a:extLst>
              <a:ext uri="{FF2B5EF4-FFF2-40B4-BE49-F238E27FC236}">
                <a16:creationId xmlns:a16="http://schemas.microsoft.com/office/drawing/2014/main" id="{4080F8C4-DFE7-46FB-A213-9E484B63B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016" y="3226150"/>
            <a:ext cx="3101330" cy="310133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2739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21 Web Service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1296143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URL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URL stands for </a:t>
            </a:r>
            <a:r>
              <a:rPr lang="en-US" sz="1800" b="1" dirty="0">
                <a:solidFill>
                  <a:schemeClr val="tx1"/>
                </a:solidFill>
              </a:rPr>
              <a:t>Uniform Resource Locator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URL refers to the location of a web resource on computer network and mechanism for retrieving it.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https://www.tutorialspoint.com/communication_technologies/communication_technologies_web_services.htm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9206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21 Web Service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1296143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Websites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Website</a:t>
            </a:r>
            <a:r>
              <a:rPr lang="en-US" sz="1800" dirty="0">
                <a:solidFill>
                  <a:schemeClr val="tx1"/>
                </a:solidFill>
              </a:rPr>
              <a:t> is a set of </a:t>
            </a:r>
            <a:r>
              <a:rPr lang="en-US" sz="1800" b="1" dirty="0">
                <a:solidFill>
                  <a:schemeClr val="tx1"/>
                </a:solidFill>
              </a:rPr>
              <a:t>web pages</a:t>
            </a:r>
            <a:r>
              <a:rPr lang="en-US" sz="1800" dirty="0">
                <a:solidFill>
                  <a:schemeClr val="tx1"/>
                </a:solidFill>
              </a:rPr>
              <a:t> under a single domain name. </a:t>
            </a:r>
            <a:r>
              <a:rPr lang="en-US" sz="1800" b="1" dirty="0">
                <a:solidFill>
                  <a:schemeClr val="tx1"/>
                </a:solidFill>
              </a:rPr>
              <a:t>Web page</a:t>
            </a:r>
            <a:r>
              <a:rPr lang="en-US" sz="1800" dirty="0">
                <a:solidFill>
                  <a:schemeClr val="tx1"/>
                </a:solidFill>
              </a:rPr>
              <a:t> is a text document located on a server and connected to the </a:t>
            </a:r>
            <a:r>
              <a:rPr lang="en-US" sz="1800" b="1" dirty="0">
                <a:solidFill>
                  <a:schemeClr val="tx1"/>
                </a:solidFill>
              </a:rPr>
              <a:t>World Wide Web</a:t>
            </a:r>
            <a:r>
              <a:rPr lang="en-US" sz="1800" dirty="0">
                <a:solidFill>
                  <a:schemeClr val="tx1"/>
                </a:solidFill>
              </a:rPr>
              <a:t> through hypertexts. 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https://www.tutorialspoint.com/communication_technologies/communication_technologies_web_services.htm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2622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21 Web Service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295232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Web Browsers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Web browser</a:t>
            </a:r>
            <a:r>
              <a:rPr lang="en-US" sz="1800" dirty="0">
                <a:solidFill>
                  <a:schemeClr val="tx1"/>
                </a:solidFill>
              </a:rPr>
              <a:t> is an </a:t>
            </a:r>
            <a:r>
              <a:rPr lang="en-US" sz="1800" b="1" dirty="0">
                <a:solidFill>
                  <a:schemeClr val="tx1"/>
                </a:solidFill>
              </a:rPr>
              <a:t>application software</a:t>
            </a:r>
            <a:r>
              <a:rPr lang="en-US" sz="1800" dirty="0">
                <a:solidFill>
                  <a:schemeClr val="tx1"/>
                </a:solidFill>
              </a:rPr>
              <a:t> for accessing, retrieving, presenting and traversing any resource identified by a </a:t>
            </a:r>
            <a:r>
              <a:rPr lang="en-US" sz="1800" b="1" dirty="0">
                <a:solidFill>
                  <a:schemeClr val="tx1"/>
                </a:solidFill>
              </a:rPr>
              <a:t>URL</a:t>
            </a:r>
            <a:r>
              <a:rPr lang="en-US" sz="1800" dirty="0">
                <a:solidFill>
                  <a:schemeClr val="tx1"/>
                </a:solidFill>
              </a:rPr>
              <a:t> on the </a:t>
            </a:r>
            <a:r>
              <a:rPr lang="en-US" sz="1800" b="1" dirty="0">
                <a:solidFill>
                  <a:schemeClr val="tx1"/>
                </a:solidFill>
              </a:rPr>
              <a:t>World Wide Web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Most popular web browsers include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Chrome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Internet Explorer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Firefox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Apple Safari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Opera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https://www.tutorialspoint.com/communication_technologies/communication_technologies_web_services.htm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4270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21 Web Service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1656183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Web Servers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Web server</a:t>
            </a:r>
            <a:r>
              <a:rPr lang="en-US" sz="1800" dirty="0">
                <a:solidFill>
                  <a:schemeClr val="tx1"/>
                </a:solidFill>
              </a:rPr>
              <a:t> is any </a:t>
            </a:r>
            <a:r>
              <a:rPr lang="en-US" sz="1800" b="1" dirty="0">
                <a:solidFill>
                  <a:schemeClr val="tx1"/>
                </a:solidFill>
              </a:rPr>
              <a:t>software application, computer</a:t>
            </a:r>
            <a:r>
              <a:rPr lang="en-US" sz="1800" dirty="0">
                <a:solidFill>
                  <a:schemeClr val="tx1"/>
                </a:solidFill>
              </a:rPr>
              <a:t> or </a:t>
            </a:r>
            <a:r>
              <a:rPr lang="en-US" sz="1800" b="1" dirty="0">
                <a:solidFill>
                  <a:schemeClr val="tx1"/>
                </a:solidFill>
              </a:rPr>
              <a:t>networked device</a:t>
            </a:r>
            <a:r>
              <a:rPr lang="en-US" sz="1800" dirty="0">
                <a:solidFill>
                  <a:schemeClr val="tx1"/>
                </a:solidFill>
              </a:rPr>
              <a:t> that serves files to the users as per their request.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These requests are sent by client devices through HTTP or HTTPS requests.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Popular web server software include </a:t>
            </a:r>
            <a:r>
              <a:rPr lang="en-US" sz="1800" b="1" dirty="0">
                <a:solidFill>
                  <a:schemeClr val="tx1"/>
                </a:solidFill>
              </a:rPr>
              <a:t>Apache</a:t>
            </a:r>
            <a:r>
              <a:rPr lang="en-US" sz="1800" dirty="0">
                <a:solidFill>
                  <a:schemeClr val="tx1"/>
                </a:solidFill>
              </a:rPr>
              <a:t>, </a:t>
            </a:r>
            <a:r>
              <a:rPr lang="en-US" sz="1800" b="1" dirty="0">
                <a:solidFill>
                  <a:schemeClr val="tx1"/>
                </a:solidFill>
              </a:rPr>
              <a:t>Microsoft IIS</a:t>
            </a:r>
            <a:r>
              <a:rPr lang="en-US" sz="1800" dirty="0">
                <a:solidFill>
                  <a:schemeClr val="tx1"/>
                </a:solidFill>
              </a:rPr>
              <a:t>, and </a:t>
            </a:r>
            <a:r>
              <a:rPr lang="en-US" sz="1800" b="1" dirty="0">
                <a:solidFill>
                  <a:schemeClr val="tx1"/>
                </a:solidFill>
              </a:rPr>
              <a:t>Nginx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https://www.tutorialspoint.com/communication_technologies/communication_technologies_web_services.htm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7111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21 Web Service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223224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Web Hosting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Web hosting</a:t>
            </a:r>
            <a:r>
              <a:rPr lang="en-US" sz="1800" dirty="0">
                <a:solidFill>
                  <a:schemeClr val="tx1"/>
                </a:solidFill>
              </a:rPr>
              <a:t> is an Internet service that enables individuals, organizations or businesses to store </a:t>
            </a:r>
            <a:r>
              <a:rPr lang="en-US" sz="1800" b="1" dirty="0">
                <a:solidFill>
                  <a:schemeClr val="tx1"/>
                </a:solidFill>
              </a:rPr>
              <a:t>web pages</a:t>
            </a:r>
            <a:r>
              <a:rPr lang="en-US" sz="1800" dirty="0">
                <a:solidFill>
                  <a:schemeClr val="tx1"/>
                </a:solidFill>
              </a:rPr>
              <a:t> that can be accessed on the Internet. 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Web hosting service providers</a:t>
            </a:r>
            <a:r>
              <a:rPr lang="en-US" sz="1800" dirty="0">
                <a:solidFill>
                  <a:schemeClr val="tx1"/>
                </a:solidFill>
              </a:rPr>
              <a:t> have web servers on which they host web sites and their pages.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They also provide the technologies necessary for making a web page available upon client request.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https://www.tutorialspoint.com/communication_technologies/communication_technologies_web_services.htm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4737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21 Web Service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3096343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Web Scripting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Script</a:t>
            </a:r>
            <a:r>
              <a:rPr lang="en-US" sz="1800" dirty="0">
                <a:solidFill>
                  <a:schemeClr val="tx1"/>
                </a:solidFill>
              </a:rPr>
              <a:t> is a set of instructions written using any </a:t>
            </a:r>
            <a:r>
              <a:rPr lang="en-US" sz="1800" b="1" dirty="0">
                <a:solidFill>
                  <a:schemeClr val="tx1"/>
                </a:solidFill>
              </a:rPr>
              <a:t>programming language </a:t>
            </a:r>
            <a:r>
              <a:rPr lang="en-US" sz="1800" dirty="0">
                <a:solidFill>
                  <a:schemeClr val="tx1"/>
                </a:solidFill>
              </a:rPr>
              <a:t>and </a:t>
            </a:r>
            <a:r>
              <a:rPr lang="en-US" sz="1800" b="1" dirty="0">
                <a:solidFill>
                  <a:schemeClr val="tx1"/>
                </a:solidFill>
              </a:rPr>
              <a:t>interpreted </a:t>
            </a:r>
            <a:r>
              <a:rPr lang="en-US" sz="1800" dirty="0">
                <a:solidFill>
                  <a:schemeClr val="tx1"/>
                </a:solidFill>
              </a:rPr>
              <a:t>(rather than </a:t>
            </a:r>
            <a:r>
              <a:rPr lang="en-US" sz="1800" b="1" dirty="0">
                <a:solidFill>
                  <a:schemeClr val="tx1"/>
                </a:solidFill>
              </a:rPr>
              <a:t>compiled</a:t>
            </a:r>
            <a:r>
              <a:rPr lang="en-US" sz="1800" dirty="0">
                <a:solidFill>
                  <a:schemeClr val="tx1"/>
                </a:solidFill>
              </a:rPr>
              <a:t>) by another program.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Embedding scripts within web pages to make them dynamic is called </a:t>
            </a:r>
            <a:r>
              <a:rPr lang="en-US" sz="1800" b="1" dirty="0">
                <a:solidFill>
                  <a:schemeClr val="tx1"/>
                </a:solidFill>
              </a:rPr>
              <a:t>web scripting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As you know, </a:t>
            </a:r>
            <a:r>
              <a:rPr lang="en-US" sz="1800" b="1" dirty="0">
                <a:solidFill>
                  <a:schemeClr val="tx1"/>
                </a:solidFill>
              </a:rPr>
              <a:t>web pages</a:t>
            </a:r>
            <a:r>
              <a:rPr lang="en-US" sz="1800" dirty="0">
                <a:solidFill>
                  <a:schemeClr val="tx1"/>
                </a:solidFill>
              </a:rPr>
              <a:t> are created using </a:t>
            </a:r>
            <a:r>
              <a:rPr lang="en-US" sz="1800" b="1" dirty="0">
                <a:solidFill>
                  <a:schemeClr val="tx1"/>
                </a:solidFill>
              </a:rPr>
              <a:t>HTML</a:t>
            </a:r>
            <a:r>
              <a:rPr lang="en-US" sz="1800" dirty="0">
                <a:solidFill>
                  <a:schemeClr val="tx1"/>
                </a:solidFill>
              </a:rPr>
              <a:t>, stored on the server and then loaded into </a:t>
            </a:r>
            <a:r>
              <a:rPr lang="en-US" sz="1800" b="1" dirty="0">
                <a:solidFill>
                  <a:schemeClr val="tx1"/>
                </a:solidFill>
              </a:rPr>
              <a:t>web browsers</a:t>
            </a:r>
            <a:r>
              <a:rPr lang="en-US" sz="1800" dirty="0">
                <a:solidFill>
                  <a:schemeClr val="tx1"/>
                </a:solidFill>
              </a:rPr>
              <a:t> upon client’s request.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Earlier these web pages were </a:t>
            </a:r>
            <a:r>
              <a:rPr lang="en-US" sz="1800" b="1" dirty="0">
                <a:solidFill>
                  <a:schemeClr val="tx1"/>
                </a:solidFill>
              </a:rPr>
              <a:t>static</a:t>
            </a:r>
            <a:r>
              <a:rPr lang="en-US" sz="1800" dirty="0">
                <a:solidFill>
                  <a:schemeClr val="tx1"/>
                </a:solidFill>
              </a:rPr>
              <a:t> in nature, i.e. what was once created was the only version displayed to the users.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However, modern users as well as website owners demand some interaction with the web pages.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https://www.tutorialspoint.com/communication_technologies/communication_technologies_web_services.htm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16</a:t>
            </a:fld>
            <a:endParaRPr lang="zh-TW" altLang="en-US"/>
          </a:p>
        </p:txBody>
      </p:sp>
      <p:pic>
        <p:nvPicPr>
          <p:cNvPr id="12290" name="Picture 2" descr="Web Scripting">
            <a:extLst>
              <a:ext uri="{FF2B5EF4-FFF2-40B4-BE49-F238E27FC236}">
                <a16:creationId xmlns:a16="http://schemas.microsoft.com/office/drawing/2014/main" id="{C18D6B6C-450C-4418-8900-C20461728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705557"/>
            <a:ext cx="2619375" cy="165735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7127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21 Web Service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388843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Web Scripting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Examples of interaction includes validating online forms filled by users, showing messages after user has registered a choice, etc.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All this can be achieved by web scripting. Web scripting is of two types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Client side scripting: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Here the scripts embedded in a page are executed by the client computer itself using web browser. 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Most popular client side scripting languages are JavaScript, VBScript, AJAX, etc.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Server side scripting: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Here scripts are run on the server. Web page requested by the client is generated and sent after the scripts are run. 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Most popular server side scripting languages are PHP, Python, ASP </a:t>
            </a:r>
            <a:r>
              <a:rPr lang="en-US" sz="1800" dirty="0" err="1">
                <a:solidFill>
                  <a:schemeClr val="tx1"/>
                </a:solidFill>
              </a:rPr>
              <a:t>.Net</a:t>
            </a:r>
            <a:r>
              <a:rPr lang="en-US" sz="1800" dirty="0">
                <a:solidFill>
                  <a:schemeClr val="tx1"/>
                </a:solidFill>
              </a:rPr>
              <a:t>, etc.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https://www.tutorialspoint.com/communication_technologies/communication_technologies_web_services.htm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6135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21 Web Service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403244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Web 2.0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Web 2.0</a:t>
            </a:r>
            <a:r>
              <a:rPr lang="en-US" sz="1800" dirty="0">
                <a:solidFill>
                  <a:schemeClr val="tx1"/>
                </a:solidFill>
              </a:rPr>
              <a:t> is the second stage of development in </a:t>
            </a:r>
            <a:r>
              <a:rPr lang="en-US" sz="1800" b="1" dirty="0">
                <a:solidFill>
                  <a:schemeClr val="tx1"/>
                </a:solidFill>
              </a:rPr>
              <a:t>World Wide Web</a:t>
            </a:r>
            <a:r>
              <a:rPr lang="en-US" sz="1800" dirty="0">
                <a:solidFill>
                  <a:schemeClr val="tx1"/>
                </a:solidFill>
              </a:rPr>
              <a:t> where the emphasis is on </a:t>
            </a:r>
            <a:r>
              <a:rPr lang="en-US" sz="1800" b="1" dirty="0">
                <a:solidFill>
                  <a:schemeClr val="tx1"/>
                </a:solidFill>
              </a:rPr>
              <a:t>dynamic</a:t>
            </a:r>
            <a:r>
              <a:rPr lang="en-US" sz="1800" dirty="0">
                <a:solidFill>
                  <a:schemeClr val="tx1"/>
                </a:solidFill>
              </a:rPr>
              <a:t> and </a:t>
            </a:r>
            <a:r>
              <a:rPr lang="en-US" sz="1800" b="1" dirty="0">
                <a:solidFill>
                  <a:schemeClr val="tx1"/>
                </a:solidFill>
              </a:rPr>
              <a:t>user generated content</a:t>
            </a:r>
            <a:r>
              <a:rPr lang="en-US" sz="1800" dirty="0">
                <a:solidFill>
                  <a:schemeClr val="tx1"/>
                </a:solidFill>
              </a:rPr>
              <a:t> rather than static content.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As discussed above, World Wide Web initially supported creation and presentation of static content using HTML.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However, as the users evolved, demand for interactive content grew and web scripting was used to add this dynamism to content.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In 1999, Darcy </a:t>
            </a:r>
            <a:r>
              <a:rPr lang="en-US" sz="1800" dirty="0" err="1">
                <a:solidFill>
                  <a:schemeClr val="tx1"/>
                </a:solidFill>
              </a:rPr>
              <a:t>DiNucci</a:t>
            </a:r>
            <a:r>
              <a:rPr lang="en-US" sz="1800" dirty="0">
                <a:solidFill>
                  <a:schemeClr val="tx1"/>
                </a:solidFill>
              </a:rPr>
              <a:t> coined the term Web 2.0 to emphasize the paradigm shift in the way web pages were being designed and presented to the user</a:t>
            </a:r>
            <a:r>
              <a:rPr lang="en-US" sz="180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>
                <a:solidFill>
                  <a:schemeClr val="tx1"/>
                </a:solidFill>
              </a:rPr>
              <a:t>It </a:t>
            </a:r>
            <a:r>
              <a:rPr lang="en-US" sz="1800" dirty="0">
                <a:solidFill>
                  <a:schemeClr val="tx1"/>
                </a:solidFill>
              </a:rPr>
              <a:t>became popularity around 2004.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Examples of user generated content in Web 2.0 include social media websites, virtual communities, live chats, etc.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These have revolutionized the way we experience and use the Internet.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https://www.tutorialspoint.com/communication_technologies/communication_technologies_web_services.htm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82070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r>
              <a:rPr lang="en-US" altLang="zh-TW" sz="6000" b="1" dirty="0">
                <a:solidFill>
                  <a:srgbClr val="FFFF00"/>
                </a:solidFill>
              </a:rPr>
              <a:t>End of Chapter</a:t>
            </a:r>
            <a:endParaRPr lang="zh-TW" altLang="en-US" sz="60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BE27-E923-4EC2-B046-3272AE2A3E5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1428</TotalTime>
  <Words>1792</Words>
  <Application>Microsoft Office PowerPoint</Application>
  <PresentationFormat>On-screen Show (4:3)</PresentationFormat>
  <Paragraphs>185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Wingdings</vt:lpstr>
      <vt:lpstr>Office 佈景主題</vt:lpstr>
      <vt:lpstr>21 Web Service</vt:lpstr>
      <vt:lpstr>21 Web Service</vt:lpstr>
      <vt:lpstr>21 Web Service</vt:lpstr>
      <vt:lpstr>21 Web Service</vt:lpstr>
      <vt:lpstr>21 Web Service</vt:lpstr>
      <vt:lpstr>21 Web Service</vt:lpstr>
      <vt:lpstr>21 Web Service</vt:lpstr>
      <vt:lpstr>21 Web Service</vt:lpstr>
      <vt:lpstr>21 Web Service</vt:lpstr>
      <vt:lpstr>21 Web Service</vt:lpstr>
      <vt:lpstr>21 Web Service</vt:lpstr>
      <vt:lpstr>21 Web Service</vt:lpstr>
      <vt:lpstr>21 Web Service</vt:lpstr>
      <vt:lpstr>21 Web Service</vt:lpstr>
      <vt:lpstr>21 Web Service</vt:lpstr>
      <vt:lpstr>21 Web Service</vt:lpstr>
      <vt:lpstr>21 Web Service</vt:lpstr>
      <vt:lpstr>21 Web Service</vt:lpstr>
      <vt:lpstr>End of Chapter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creator>USER</dc:creator>
  <cp:lastModifiedBy>14088587657</cp:lastModifiedBy>
  <cp:revision>507</cp:revision>
  <dcterms:created xsi:type="dcterms:W3CDTF">2018-09-28T16:40:41Z</dcterms:created>
  <dcterms:modified xsi:type="dcterms:W3CDTF">2020-03-29T02:22:02Z</dcterms:modified>
</cp:coreProperties>
</file>