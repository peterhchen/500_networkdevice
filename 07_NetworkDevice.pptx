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63" r:id="rId3"/>
    <p:sldId id="264" r:id="rId4"/>
    <p:sldId id="265" r:id="rId5"/>
    <p:sldId id="266" r:id="rId6"/>
    <p:sldId id="267" r:id="rId7"/>
    <p:sldId id="268" r:id="rId8"/>
    <p:sldId id="269" r:id="rId9"/>
    <p:sldId id="270" r:id="rId10"/>
    <p:sldId id="271" r:id="rId11"/>
    <p:sldId id="272" r:id="rId12"/>
    <p:sldId id="273" r:id="rId13"/>
    <p:sldId id="259" r:id="rId14"/>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204" y="11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837EDA8-41C8-4B24-A206-13C08A65A6D7}" type="datetimeFigureOut">
              <a:rPr lang="zh-TW" altLang="en-US" smtClean="0"/>
              <a:pPr/>
              <a:t>2020/3/27</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1FAA135-E01C-4A42-9760-5A137A0CA41F}"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lvl1pPr>
              <a:defRPr>
                <a:solidFill>
                  <a:schemeClr val="tx1"/>
                </a:solidFill>
              </a:defRPr>
            </a:lvl1pPr>
          </a:lstStyle>
          <a:p>
            <a:fld id="{8B85509C-BD4F-47BF-9B1E-FC2E949B3621}" type="datetime1">
              <a:rPr lang="zh-TW" altLang="en-US" smtClean="0"/>
              <a:pPr/>
              <a:t>2020/3/27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lvl1pPr>
              <a:defRPr>
                <a:solidFill>
                  <a:schemeClr val="tx1"/>
                </a:solidFill>
              </a:defRPr>
            </a:lvl1pPr>
          </a:lstStyle>
          <a:p>
            <a:fld id="{E4D7E63D-91F2-4366-A2C4-1B00C9E2590E}"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0B99440-D9EF-40CC-9B52-F6428D9B2C76}" type="datetime1">
              <a:rPr lang="zh-TW" altLang="en-US" smtClean="0"/>
              <a:pPr/>
              <a:t>2020/3/27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0871BF52-5C6C-4959-8E27-CECB68D39FE4}" type="datetime1">
              <a:rPr lang="zh-TW" altLang="en-US" smtClean="0"/>
              <a:pPr/>
              <a:t>2020/3/27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DF863F05-2DD9-4EB1-A827-12FD992DE9DC}" type="datetime1">
              <a:rPr lang="zh-TW" altLang="en-US" smtClean="0"/>
              <a:pPr/>
              <a:t>2020/3/27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6339AF51-4491-4873-A096-75DB6CE47516}" type="datetime1">
              <a:rPr lang="zh-TW" altLang="en-US" smtClean="0"/>
              <a:pPr/>
              <a:t>2020/3/27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EE4AD9C8-8B9E-40FF-ABE2-858AC2057BBB}" type="datetime1">
              <a:rPr lang="zh-TW" altLang="en-US" smtClean="0"/>
              <a:pPr/>
              <a:t>2020/3/27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B4784999-BBBE-4BE4-A8D0-877E7D1D66CC}" type="datetime1">
              <a:rPr lang="zh-TW" altLang="en-US" smtClean="0"/>
              <a:pPr/>
              <a:t>2020/3/27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E88D17E6-02BD-4944-B9FE-7BFCCBF83D48}" type="datetime1">
              <a:rPr lang="zh-TW" altLang="en-US" smtClean="0"/>
              <a:pPr/>
              <a:t>2020/3/27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3C13E23D-1FEF-4D78-A3A3-3D6F2BB31954}" type="datetime1">
              <a:rPr lang="zh-TW" altLang="en-US" smtClean="0"/>
              <a:pPr/>
              <a:t>2020/3/27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42251B24-F787-4C15-8A0F-7AEC20C70069}" type="datetime1">
              <a:rPr lang="zh-TW" altLang="en-US" smtClean="0"/>
              <a:pPr/>
              <a:t>2020/3/27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9CA0D33C-CE2B-45F1-B8D4-FFD1F131F331}" type="datetime1">
              <a:rPr lang="zh-TW" altLang="en-US" smtClean="0"/>
              <a:pPr/>
              <a:t>2020/3/27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197F35-AD6F-4594-8B50-334492D2E7E8}" type="datetime1">
              <a:rPr lang="zh-TW" altLang="en-US" smtClean="0"/>
              <a:pPr/>
              <a:t>2020/3/27</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D7E63D-91F2-4366-A2C4-1B00C9E2590E}"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tutorialspoint.com/communication_technologies/communication_technologies_network_devices.htm"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www.tutorialspoint.com/communication_technologies/communication_technologies_network_devices.htm"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hyperlink" Target="https://www.tutorialspoint.com/communication_technologies/communication_technologies_network_devices.htm"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www.tutorialspoint.com/communication_technologies/communication_technologies_network_devices.htm"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https://www.tutorialspoint.com/communication_technologies/communication_technologies_network_devices.htm"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s://www.tutorialspoint.com/communication_technologies/communication_technologies_network_devices.htm"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hyperlink" Target="https://www.tutorialspoint.com/communication_technologies/communication_technologies_network_devices.htm"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s://www.tutorialspoint.com/communication_technologies/communication_technologies_network_devices.htm"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hyperlink" Target="https://www.tutorialspoint.com/communication_technologies/communication_technologies_network_devices.htm" TargetMode="Externa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hyperlink" Target="https://www.tutorialspoint.com/communication_technologies/communication_technologies_network_devices.htm" TargetMode="Externa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s://www.tutorialspoint.com/communication_technologies/communication_technologies_network_devices.htm" TargetMode="Externa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2130425"/>
            <a:ext cx="9144000" cy="1470025"/>
          </a:xfrm>
          <a:solidFill>
            <a:srgbClr val="00B0F0"/>
          </a:solidFill>
        </p:spPr>
        <p:txBody>
          <a:bodyPr>
            <a:normAutofit/>
          </a:bodyPr>
          <a:lstStyle/>
          <a:p>
            <a:r>
              <a:rPr lang="en-US" altLang="zh-TW" sz="4800" b="1" dirty="0">
                <a:solidFill>
                  <a:srgbClr val="FFFF00"/>
                </a:solidFill>
              </a:rPr>
              <a:t>7 Network Device</a:t>
            </a:r>
            <a:endParaRPr lang="zh-TW" altLang="en-US" sz="4800" b="1" dirty="0">
              <a:solidFill>
                <a:srgbClr val="FFFF00"/>
              </a:solidFill>
            </a:endParaRPr>
          </a:p>
        </p:txBody>
      </p:sp>
      <p:sp>
        <p:nvSpPr>
          <p:cNvPr id="3" name="副標題 2"/>
          <p:cNvSpPr>
            <a:spLocks noGrp="1"/>
          </p:cNvSpPr>
          <p:nvPr>
            <p:ph type="subTitle" idx="1"/>
          </p:nvPr>
        </p:nvSpPr>
        <p:spPr>
          <a:xfrm>
            <a:off x="1371600" y="4570616"/>
            <a:ext cx="6400800" cy="694928"/>
          </a:xfrm>
        </p:spPr>
        <p:txBody>
          <a:bodyPr>
            <a:normAutofit/>
          </a:bodyPr>
          <a:lstStyle/>
          <a:p>
            <a:r>
              <a:rPr lang="en-US" altLang="zh-TW" dirty="0"/>
              <a:t>Peter H. Chen</a:t>
            </a:r>
            <a:endParaRPr lang="zh-TW" altLang="en-US" dirty="0"/>
          </a:p>
        </p:txBody>
      </p:sp>
      <p:sp>
        <p:nvSpPr>
          <p:cNvPr id="5" name="日期版面配置區 4"/>
          <p:cNvSpPr>
            <a:spLocks noGrp="1"/>
          </p:cNvSpPr>
          <p:nvPr>
            <p:ph type="dt" sz="half" idx="10"/>
          </p:nvPr>
        </p:nvSpPr>
        <p:spPr/>
        <p:txBody>
          <a:bodyPr/>
          <a:lstStyle/>
          <a:p>
            <a:fld id="{C389EDC9-19E3-47AC-9C57-C6A24DEA81AD}" type="datetime1">
              <a:rPr lang="zh-TW" altLang="en-US" smtClean="0"/>
              <a:pPr/>
              <a:t>2020/3/27</a:t>
            </a:fld>
            <a:endParaRPr lang="zh-TW" altLang="en-US"/>
          </a:p>
        </p:txBody>
      </p:sp>
      <p:sp>
        <p:nvSpPr>
          <p:cNvPr id="6" name="投影片編號版面配置區 5"/>
          <p:cNvSpPr>
            <a:spLocks noGrp="1"/>
          </p:cNvSpPr>
          <p:nvPr>
            <p:ph type="sldNum" sz="quarter" idx="12"/>
          </p:nvPr>
        </p:nvSpPr>
        <p:spPr/>
        <p:txBody>
          <a:bodyPr/>
          <a:lstStyle/>
          <a:p>
            <a:fld id="{E4D7E63D-91F2-4366-A2C4-1B00C9E2590E}" type="slidenum">
              <a:rPr lang="zh-TW" altLang="en-US" smtClean="0"/>
              <a:pPr/>
              <a:t>1</a:t>
            </a:fld>
            <a:endParaRPr lang="zh-TW" altLang="en-US"/>
          </a:p>
        </p:txBody>
      </p:sp>
      <p:pic>
        <p:nvPicPr>
          <p:cNvPr id="4" name="Picture 3">
            <a:extLst>
              <a:ext uri="{FF2B5EF4-FFF2-40B4-BE49-F238E27FC236}">
                <a16:creationId xmlns:a16="http://schemas.microsoft.com/office/drawing/2014/main" id="{E3C8BD46-82E2-48A7-803A-12ED04C9EDCE}"/>
              </a:ext>
            </a:extLst>
          </p:cNvPr>
          <p:cNvPicPr>
            <a:picLocks noChangeAspect="1"/>
          </p:cNvPicPr>
          <p:nvPr/>
        </p:nvPicPr>
        <p:blipFill>
          <a:blip r:embed="rId2"/>
          <a:stretch>
            <a:fillRect/>
          </a:stretch>
        </p:blipFill>
        <p:spPr>
          <a:xfrm>
            <a:off x="4022825" y="3717032"/>
            <a:ext cx="1098349" cy="950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1"/>
            <a:ext cx="9144000" cy="764704"/>
          </a:xfr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p:spPr>
        <p:txBody>
          <a:bodyPr/>
          <a:lstStyle/>
          <a:p>
            <a:pPr algn="l"/>
            <a:r>
              <a:rPr lang="en-US" altLang="zh-TW" b="1" dirty="0">
                <a:solidFill>
                  <a:srgbClr val="FFFF00"/>
                </a:solidFill>
              </a:rPr>
              <a:t>7 Network Device</a:t>
            </a:r>
            <a:endParaRPr lang="zh-TW" altLang="en-US" b="1" dirty="0">
              <a:solidFill>
                <a:srgbClr val="FFFF00"/>
              </a:solidFill>
            </a:endParaRPr>
          </a:p>
        </p:txBody>
      </p:sp>
      <p:sp>
        <p:nvSpPr>
          <p:cNvPr id="3" name="副標題 2"/>
          <p:cNvSpPr>
            <a:spLocks noGrp="1"/>
          </p:cNvSpPr>
          <p:nvPr>
            <p:ph type="subTitle" idx="1"/>
          </p:nvPr>
        </p:nvSpPr>
        <p:spPr>
          <a:xfrm>
            <a:off x="367862" y="1412777"/>
            <a:ext cx="8318938" cy="2520279"/>
          </a:xfrm>
          <a:ln>
            <a:solidFill>
              <a:srgbClr val="C00000"/>
            </a:solidFill>
          </a:ln>
        </p:spPr>
        <p:txBody>
          <a:bodyPr>
            <a:noAutofit/>
          </a:bodyPr>
          <a:lstStyle/>
          <a:p>
            <a:pPr marL="342900" indent="-342900" algn="l">
              <a:buClr>
                <a:srgbClr val="0070C0"/>
              </a:buClr>
              <a:buSzPct val="80000"/>
              <a:buFont typeface="Wingdings" pitchFamily="2" charset="2"/>
              <a:buChar char="u"/>
            </a:pPr>
            <a:r>
              <a:rPr lang="en-US" sz="1800" dirty="0">
                <a:solidFill>
                  <a:schemeClr val="tx1"/>
                </a:solidFill>
              </a:rPr>
              <a:t>Hardware devices that are used to connect computers, printers, fax machines and other electronic devices to a network are called </a:t>
            </a:r>
            <a:r>
              <a:rPr lang="en-US" sz="1800" b="1" dirty="0">
                <a:solidFill>
                  <a:schemeClr val="tx1"/>
                </a:solidFill>
              </a:rPr>
              <a:t>network devices</a:t>
            </a:r>
            <a:r>
              <a:rPr lang="en-US" sz="1800" dirty="0">
                <a:solidFill>
                  <a:schemeClr val="tx1"/>
                </a:solidFill>
              </a:rPr>
              <a:t>. </a:t>
            </a:r>
          </a:p>
          <a:p>
            <a:pPr marL="342900" indent="-342900" algn="l">
              <a:buClr>
                <a:srgbClr val="0070C0"/>
              </a:buClr>
              <a:buSzPct val="80000"/>
              <a:buFont typeface="Wingdings" pitchFamily="2" charset="2"/>
              <a:buChar char="u"/>
            </a:pPr>
            <a:r>
              <a:rPr lang="en-US" sz="1800" dirty="0">
                <a:solidFill>
                  <a:schemeClr val="tx1"/>
                </a:solidFill>
              </a:rPr>
              <a:t>These devices transfer data in a fast, secure and correct way over same or different networks. </a:t>
            </a:r>
          </a:p>
          <a:p>
            <a:pPr marL="342900" indent="-342900" algn="l">
              <a:buClr>
                <a:srgbClr val="0070C0"/>
              </a:buClr>
              <a:buSzPct val="80000"/>
              <a:buFont typeface="Wingdings" pitchFamily="2" charset="2"/>
              <a:buChar char="u"/>
            </a:pPr>
            <a:r>
              <a:rPr lang="en-US" sz="1800" dirty="0">
                <a:solidFill>
                  <a:schemeClr val="tx1"/>
                </a:solidFill>
              </a:rPr>
              <a:t>Network devices may be inter-network or intra-network. </a:t>
            </a:r>
          </a:p>
          <a:p>
            <a:pPr marL="342900" indent="-342900" algn="l">
              <a:buClr>
                <a:srgbClr val="0070C0"/>
              </a:buClr>
              <a:buSzPct val="80000"/>
              <a:buFont typeface="Wingdings" pitchFamily="2" charset="2"/>
              <a:buChar char="u"/>
            </a:pPr>
            <a:r>
              <a:rPr lang="en-US" sz="1800" dirty="0">
                <a:solidFill>
                  <a:schemeClr val="tx1"/>
                </a:solidFill>
              </a:rPr>
              <a:t>Some devices are installed on the device, like NIC card or RJ45 connector, whereas some are part of the network, like router, switch, etc. Let us explore some of these devices in greater detail.</a:t>
            </a:r>
          </a:p>
        </p:txBody>
      </p:sp>
      <p:sp>
        <p:nvSpPr>
          <p:cNvPr id="4" name="標題 1"/>
          <p:cNvSpPr txBox="1">
            <a:spLocks/>
          </p:cNvSpPr>
          <p:nvPr/>
        </p:nvSpPr>
        <p:spPr>
          <a:xfrm>
            <a:off x="0" y="764704"/>
            <a:ext cx="9144000" cy="398616"/>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vert="horz" lIns="91440" tIns="45720" rIns="91440" bIns="45720" rtlCol="0" anchor="ctr">
            <a:normAutofit fontScale="92500"/>
          </a:bodyPr>
          <a:lstStyle/>
          <a:p>
            <a:pPr marL="0" lvl="1"/>
            <a:r>
              <a:rPr lang="en-US" sz="1600" dirty="0">
                <a:hlinkClick r:id="rId2"/>
              </a:rPr>
              <a:t>https://www.tutorialspoint.com/communication_technologies/communication_technologies_network_devices.htm</a:t>
            </a:r>
            <a:endParaRPr lang="en-US" sz="1600" dirty="0"/>
          </a:p>
        </p:txBody>
      </p:sp>
      <p:sp>
        <p:nvSpPr>
          <p:cNvPr id="5" name="日期版面配置區 4"/>
          <p:cNvSpPr>
            <a:spLocks noGrp="1"/>
          </p:cNvSpPr>
          <p:nvPr>
            <p:ph type="dt" sz="half" idx="10"/>
          </p:nvPr>
        </p:nvSpPr>
        <p:spPr>
          <a:xfrm>
            <a:off x="457200" y="6356350"/>
            <a:ext cx="2133600" cy="404246"/>
          </a:xfrm>
        </p:spPr>
        <p:txBody>
          <a:bodyPr/>
          <a:lstStyle/>
          <a:p>
            <a:fld id="{A4F910E6-8D00-4BAF-8C48-9688E0B449D3}" type="datetime1">
              <a:rPr lang="zh-TW" altLang="en-US" smtClean="0"/>
              <a:pPr/>
              <a:t>2020/3/27</a:t>
            </a:fld>
            <a:endParaRPr lang="zh-TW" altLang="en-US"/>
          </a:p>
        </p:txBody>
      </p:sp>
      <p:sp>
        <p:nvSpPr>
          <p:cNvPr id="6" name="投影片編號版面配置區 5"/>
          <p:cNvSpPr>
            <a:spLocks noGrp="1"/>
          </p:cNvSpPr>
          <p:nvPr>
            <p:ph type="sldNum" sz="quarter" idx="12"/>
          </p:nvPr>
        </p:nvSpPr>
        <p:spPr>
          <a:xfrm>
            <a:off x="6553200" y="6356350"/>
            <a:ext cx="2133600" cy="404246"/>
          </a:xfrm>
        </p:spPr>
        <p:txBody>
          <a:bodyPr/>
          <a:lstStyle/>
          <a:p>
            <a:fld id="{E4D7E63D-91F2-4366-A2C4-1B00C9E2590E}" type="slidenum">
              <a:rPr lang="zh-TW" altLang="en-US" smtClean="0"/>
              <a:pPr/>
              <a:t>2</a:t>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1"/>
            <a:ext cx="9144000" cy="764704"/>
          </a:xfr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p:spPr>
        <p:txBody>
          <a:bodyPr/>
          <a:lstStyle/>
          <a:p>
            <a:pPr algn="l"/>
            <a:r>
              <a:rPr lang="en-US" altLang="zh-TW" b="1" dirty="0">
                <a:solidFill>
                  <a:srgbClr val="FFFF00"/>
                </a:solidFill>
              </a:rPr>
              <a:t>7 Network Device</a:t>
            </a:r>
            <a:endParaRPr lang="zh-TW" altLang="en-US" b="1" dirty="0">
              <a:solidFill>
                <a:srgbClr val="FFFF00"/>
              </a:solidFill>
            </a:endParaRPr>
          </a:p>
        </p:txBody>
      </p:sp>
      <p:sp>
        <p:nvSpPr>
          <p:cNvPr id="3" name="副標題 2"/>
          <p:cNvSpPr>
            <a:spLocks noGrp="1"/>
          </p:cNvSpPr>
          <p:nvPr>
            <p:ph type="subTitle" idx="1"/>
          </p:nvPr>
        </p:nvSpPr>
        <p:spPr>
          <a:xfrm>
            <a:off x="367862" y="1412777"/>
            <a:ext cx="8318938" cy="1584175"/>
          </a:xfrm>
          <a:ln>
            <a:solidFill>
              <a:srgbClr val="C00000"/>
            </a:solidFill>
          </a:ln>
        </p:spPr>
        <p:txBody>
          <a:bodyPr>
            <a:noAutofit/>
          </a:bodyPr>
          <a:lstStyle/>
          <a:p>
            <a:pPr marL="342900" indent="-342900" algn="l">
              <a:buClr>
                <a:srgbClr val="0070C0"/>
              </a:buClr>
              <a:buSzPct val="80000"/>
              <a:buFont typeface="Wingdings" pitchFamily="2" charset="2"/>
              <a:buChar char="u"/>
            </a:pPr>
            <a:r>
              <a:rPr lang="en-US" sz="1800" b="1" dirty="0">
                <a:solidFill>
                  <a:schemeClr val="tx1"/>
                </a:solidFill>
              </a:rPr>
              <a:t>Modem</a:t>
            </a:r>
          </a:p>
          <a:p>
            <a:pPr marL="342900" indent="-342900" algn="l">
              <a:buClr>
                <a:srgbClr val="0070C0"/>
              </a:buClr>
              <a:buSzPct val="80000"/>
              <a:buFont typeface="Wingdings" pitchFamily="2" charset="2"/>
              <a:buChar char="u"/>
            </a:pPr>
            <a:r>
              <a:rPr lang="en-US" sz="1800" dirty="0">
                <a:solidFill>
                  <a:schemeClr val="tx1"/>
                </a:solidFill>
              </a:rPr>
              <a:t>Modem is a device that enables a computer to send or receive data over telephone or cable lines. </a:t>
            </a:r>
          </a:p>
          <a:p>
            <a:pPr marL="342900" indent="-342900" algn="l">
              <a:buClr>
                <a:srgbClr val="0070C0"/>
              </a:buClr>
              <a:buSzPct val="80000"/>
              <a:buFont typeface="Wingdings" pitchFamily="2" charset="2"/>
              <a:buChar char="u"/>
            </a:pPr>
            <a:r>
              <a:rPr lang="en-US" sz="1800" dirty="0">
                <a:solidFill>
                  <a:schemeClr val="tx1"/>
                </a:solidFill>
              </a:rPr>
              <a:t>The data stored on the computer is digital whereas a telephone line or cable wire can transmit only analog data.</a:t>
            </a:r>
          </a:p>
        </p:txBody>
      </p:sp>
      <p:sp>
        <p:nvSpPr>
          <p:cNvPr id="4" name="標題 1"/>
          <p:cNvSpPr txBox="1">
            <a:spLocks/>
          </p:cNvSpPr>
          <p:nvPr/>
        </p:nvSpPr>
        <p:spPr>
          <a:xfrm>
            <a:off x="0" y="764704"/>
            <a:ext cx="9144000" cy="398616"/>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vert="horz" lIns="91440" tIns="45720" rIns="91440" bIns="45720" rtlCol="0" anchor="ctr">
            <a:normAutofit fontScale="92500"/>
          </a:bodyPr>
          <a:lstStyle/>
          <a:p>
            <a:pPr marL="0" lvl="1"/>
            <a:r>
              <a:rPr lang="en-US" sz="1600" dirty="0">
                <a:hlinkClick r:id="rId2"/>
              </a:rPr>
              <a:t>https://www.tutorialspoint.com/communication_technologies/communication_technologies_network_devices.htm</a:t>
            </a:r>
            <a:endParaRPr lang="en-US" sz="1600" dirty="0"/>
          </a:p>
        </p:txBody>
      </p:sp>
      <p:sp>
        <p:nvSpPr>
          <p:cNvPr id="5" name="日期版面配置區 4"/>
          <p:cNvSpPr>
            <a:spLocks noGrp="1"/>
          </p:cNvSpPr>
          <p:nvPr>
            <p:ph type="dt" sz="half" idx="10"/>
          </p:nvPr>
        </p:nvSpPr>
        <p:spPr>
          <a:xfrm>
            <a:off x="457200" y="6356350"/>
            <a:ext cx="2133600" cy="404246"/>
          </a:xfrm>
        </p:spPr>
        <p:txBody>
          <a:bodyPr/>
          <a:lstStyle/>
          <a:p>
            <a:fld id="{A4F910E6-8D00-4BAF-8C48-9688E0B449D3}" type="datetime1">
              <a:rPr lang="zh-TW" altLang="en-US" smtClean="0"/>
              <a:pPr/>
              <a:t>2020/3/27</a:t>
            </a:fld>
            <a:endParaRPr lang="zh-TW" altLang="en-US"/>
          </a:p>
        </p:txBody>
      </p:sp>
      <p:sp>
        <p:nvSpPr>
          <p:cNvPr id="6" name="投影片編號版面配置區 5"/>
          <p:cNvSpPr>
            <a:spLocks noGrp="1"/>
          </p:cNvSpPr>
          <p:nvPr>
            <p:ph type="sldNum" sz="quarter" idx="12"/>
          </p:nvPr>
        </p:nvSpPr>
        <p:spPr>
          <a:xfrm>
            <a:off x="6553200" y="6356350"/>
            <a:ext cx="2133600" cy="404246"/>
          </a:xfrm>
        </p:spPr>
        <p:txBody>
          <a:bodyPr/>
          <a:lstStyle/>
          <a:p>
            <a:fld id="{E4D7E63D-91F2-4366-A2C4-1B00C9E2590E}" type="slidenum">
              <a:rPr lang="zh-TW" altLang="en-US" smtClean="0"/>
              <a:pPr/>
              <a:t>3</a:t>
            </a:fld>
            <a:endParaRPr lang="zh-TW" altLang="en-US"/>
          </a:p>
        </p:txBody>
      </p:sp>
      <p:pic>
        <p:nvPicPr>
          <p:cNvPr id="1026" name="Picture 2" descr="Analog-Digital Waveform">
            <a:extLst>
              <a:ext uri="{FF2B5EF4-FFF2-40B4-BE49-F238E27FC236}">
                <a16:creationId xmlns:a16="http://schemas.microsoft.com/office/drawing/2014/main" id="{3DD3208F-473B-4C33-9A78-ADC0A58976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8666" y="3154373"/>
            <a:ext cx="3574013" cy="2292763"/>
          </a:xfrm>
          <a:prstGeom prst="rect">
            <a:avLst/>
          </a:prstGeom>
          <a:noFill/>
          <a:ln>
            <a:solidFill>
              <a:srgbClr val="C00000"/>
            </a:solidFill>
          </a:ln>
          <a:extLst>
            <a:ext uri="{909E8E84-426E-40DD-AFC4-6F175D3DCCD1}">
              <a14:hiddenFill xmlns:a14="http://schemas.microsoft.com/office/drawing/2010/main">
                <a:solidFill>
                  <a:srgbClr val="FFFFFF"/>
                </a:solidFill>
              </a14:hiddenFill>
            </a:ext>
          </a:extLst>
        </p:spPr>
      </p:pic>
      <p:sp>
        <p:nvSpPr>
          <p:cNvPr id="8" name="副標題 2">
            <a:extLst>
              <a:ext uri="{FF2B5EF4-FFF2-40B4-BE49-F238E27FC236}">
                <a16:creationId xmlns:a16="http://schemas.microsoft.com/office/drawing/2014/main" id="{F946D9C9-4820-467A-BAA1-9A3B7E4A8A46}"/>
              </a:ext>
            </a:extLst>
          </p:cNvPr>
          <p:cNvSpPr txBox="1">
            <a:spLocks/>
          </p:cNvSpPr>
          <p:nvPr/>
        </p:nvSpPr>
        <p:spPr>
          <a:xfrm>
            <a:off x="367862" y="3130963"/>
            <a:ext cx="4492170" cy="3225387"/>
          </a:xfrm>
          <a:prstGeom prst="rect">
            <a:avLst/>
          </a:prstGeom>
          <a:ln>
            <a:solidFill>
              <a:srgbClr val="C00000"/>
            </a:solidFill>
          </a:ln>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l">
              <a:buClr>
                <a:srgbClr val="0070C0"/>
              </a:buClr>
              <a:buSzPct val="80000"/>
              <a:buFont typeface="Wingdings" pitchFamily="2" charset="2"/>
              <a:buChar char="u"/>
            </a:pPr>
            <a:r>
              <a:rPr lang="en-US" sz="1800" dirty="0">
                <a:solidFill>
                  <a:schemeClr val="tx1"/>
                </a:solidFill>
              </a:rPr>
              <a:t>The main function of the modem is to convert digital signal into analog and vice versa. </a:t>
            </a:r>
          </a:p>
          <a:p>
            <a:pPr marL="342900" indent="-342900" algn="l">
              <a:buClr>
                <a:srgbClr val="0070C0"/>
              </a:buClr>
              <a:buSzPct val="80000"/>
              <a:buFont typeface="Wingdings" pitchFamily="2" charset="2"/>
              <a:buChar char="u"/>
            </a:pPr>
            <a:r>
              <a:rPr lang="en-US" sz="1800" dirty="0">
                <a:solidFill>
                  <a:schemeClr val="tx1"/>
                </a:solidFill>
              </a:rPr>
              <a:t>Modem is a combination of two devices − </a:t>
            </a:r>
            <a:r>
              <a:rPr lang="en-US" sz="1800" b="1" dirty="0">
                <a:solidFill>
                  <a:schemeClr val="tx1"/>
                </a:solidFill>
              </a:rPr>
              <a:t>modulator </a:t>
            </a:r>
            <a:r>
              <a:rPr lang="en-US" sz="1800" dirty="0">
                <a:solidFill>
                  <a:schemeClr val="tx1"/>
                </a:solidFill>
              </a:rPr>
              <a:t>and </a:t>
            </a:r>
            <a:r>
              <a:rPr lang="en-US" sz="1800" b="1" dirty="0">
                <a:solidFill>
                  <a:schemeClr val="tx1"/>
                </a:solidFill>
              </a:rPr>
              <a:t>demodulator</a:t>
            </a:r>
            <a:r>
              <a:rPr lang="en-US" sz="1800" dirty="0">
                <a:solidFill>
                  <a:schemeClr val="tx1"/>
                </a:solidFill>
              </a:rPr>
              <a:t>.</a:t>
            </a:r>
          </a:p>
          <a:p>
            <a:pPr marL="342900" indent="-342900" algn="l">
              <a:buClr>
                <a:srgbClr val="0070C0"/>
              </a:buClr>
              <a:buSzPct val="80000"/>
              <a:buFont typeface="Wingdings" pitchFamily="2" charset="2"/>
              <a:buChar char="u"/>
            </a:pPr>
            <a:r>
              <a:rPr lang="en-US" sz="1800" dirty="0">
                <a:solidFill>
                  <a:schemeClr val="tx1"/>
                </a:solidFill>
              </a:rPr>
              <a:t>The </a:t>
            </a:r>
            <a:r>
              <a:rPr lang="en-US" sz="1800" b="1" dirty="0">
                <a:solidFill>
                  <a:schemeClr val="tx1"/>
                </a:solidFill>
              </a:rPr>
              <a:t>modulator</a:t>
            </a:r>
            <a:r>
              <a:rPr lang="en-US" sz="1800" dirty="0">
                <a:solidFill>
                  <a:schemeClr val="tx1"/>
                </a:solidFill>
              </a:rPr>
              <a:t> converts digital data into analog data when the data is being sent by the computer.</a:t>
            </a:r>
          </a:p>
          <a:p>
            <a:pPr marL="342900" indent="-342900" algn="l">
              <a:buClr>
                <a:srgbClr val="0070C0"/>
              </a:buClr>
              <a:buSzPct val="80000"/>
              <a:buFont typeface="Wingdings" pitchFamily="2" charset="2"/>
              <a:buChar char="u"/>
            </a:pPr>
            <a:r>
              <a:rPr lang="en-US" sz="1800" dirty="0">
                <a:solidFill>
                  <a:schemeClr val="tx1"/>
                </a:solidFill>
              </a:rPr>
              <a:t>The </a:t>
            </a:r>
            <a:r>
              <a:rPr lang="en-US" sz="1800" b="1" dirty="0">
                <a:solidFill>
                  <a:schemeClr val="tx1"/>
                </a:solidFill>
              </a:rPr>
              <a:t>demodulator</a:t>
            </a:r>
            <a:r>
              <a:rPr lang="en-US" sz="1800" dirty="0">
                <a:solidFill>
                  <a:schemeClr val="tx1"/>
                </a:solidFill>
              </a:rPr>
              <a:t> converts analog data signals into digital data when it is being received by the computer.</a:t>
            </a:r>
          </a:p>
        </p:txBody>
      </p:sp>
    </p:spTree>
    <p:extLst>
      <p:ext uri="{BB962C8B-B14F-4D97-AF65-F5344CB8AC3E}">
        <p14:creationId xmlns:p14="http://schemas.microsoft.com/office/powerpoint/2010/main" val="2951031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1"/>
            <a:ext cx="9144000" cy="764704"/>
          </a:xfr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p:spPr>
        <p:txBody>
          <a:bodyPr/>
          <a:lstStyle/>
          <a:p>
            <a:pPr algn="l"/>
            <a:r>
              <a:rPr lang="en-US" altLang="zh-TW" b="1" dirty="0">
                <a:solidFill>
                  <a:srgbClr val="FFFF00"/>
                </a:solidFill>
              </a:rPr>
              <a:t>7 Network Device</a:t>
            </a:r>
            <a:endParaRPr lang="zh-TW" altLang="en-US" b="1" dirty="0">
              <a:solidFill>
                <a:srgbClr val="FFFF00"/>
              </a:solidFill>
            </a:endParaRPr>
          </a:p>
        </p:txBody>
      </p:sp>
      <p:sp>
        <p:nvSpPr>
          <p:cNvPr id="3" name="副標題 2"/>
          <p:cNvSpPr>
            <a:spLocks noGrp="1"/>
          </p:cNvSpPr>
          <p:nvPr>
            <p:ph type="subTitle" idx="1"/>
          </p:nvPr>
        </p:nvSpPr>
        <p:spPr>
          <a:xfrm>
            <a:off x="367862" y="1412777"/>
            <a:ext cx="8318938" cy="3456383"/>
          </a:xfrm>
          <a:ln>
            <a:solidFill>
              <a:srgbClr val="C00000"/>
            </a:solidFill>
          </a:ln>
        </p:spPr>
        <p:txBody>
          <a:bodyPr>
            <a:noAutofit/>
          </a:bodyPr>
          <a:lstStyle/>
          <a:p>
            <a:pPr marL="342900" indent="-342900" algn="l">
              <a:buClr>
                <a:srgbClr val="0070C0"/>
              </a:buClr>
              <a:buSzPct val="80000"/>
              <a:buFont typeface="Wingdings" pitchFamily="2" charset="2"/>
              <a:buChar char="u"/>
            </a:pPr>
            <a:r>
              <a:rPr lang="en-US" sz="1800" b="1" dirty="0">
                <a:solidFill>
                  <a:schemeClr val="tx1"/>
                </a:solidFill>
              </a:rPr>
              <a:t>Types of Modem</a:t>
            </a:r>
          </a:p>
          <a:p>
            <a:pPr marL="342900" indent="-342900" algn="l">
              <a:buClr>
                <a:srgbClr val="0070C0"/>
              </a:buClr>
              <a:buSzPct val="80000"/>
              <a:buFont typeface="Wingdings" pitchFamily="2" charset="2"/>
              <a:buChar char="u"/>
            </a:pPr>
            <a:r>
              <a:rPr lang="en-US" sz="1800" dirty="0">
                <a:solidFill>
                  <a:schemeClr val="tx1"/>
                </a:solidFill>
              </a:rPr>
              <a:t>Modem can be categorized in several ways like direction in which it can transmit data, type of connection to the transmission line, transmission mode, etc.</a:t>
            </a:r>
          </a:p>
          <a:p>
            <a:pPr marL="342900" indent="-342900" algn="l">
              <a:buClr>
                <a:srgbClr val="0070C0"/>
              </a:buClr>
              <a:buSzPct val="80000"/>
              <a:buFont typeface="Wingdings" pitchFamily="2" charset="2"/>
              <a:buChar char="u"/>
            </a:pPr>
            <a:r>
              <a:rPr lang="en-US" sz="1800" dirty="0">
                <a:solidFill>
                  <a:schemeClr val="tx1"/>
                </a:solidFill>
              </a:rPr>
              <a:t>Depending on direction of data transmission, modem can be of these types −</a:t>
            </a:r>
          </a:p>
          <a:p>
            <a:pPr marL="800100" lvl="1" indent="-342900" algn="l">
              <a:buClr>
                <a:srgbClr val="0070C0"/>
              </a:buClr>
              <a:buSzPct val="80000"/>
              <a:buFont typeface="Wingdings" pitchFamily="2" charset="2"/>
              <a:buChar char="u"/>
            </a:pPr>
            <a:r>
              <a:rPr lang="en-US" sz="1800" b="1" dirty="0">
                <a:solidFill>
                  <a:schemeClr val="tx1"/>
                </a:solidFill>
              </a:rPr>
              <a:t>Simplex</a:t>
            </a:r>
            <a:r>
              <a:rPr lang="en-US" sz="1800" dirty="0">
                <a:solidFill>
                  <a:schemeClr val="tx1"/>
                </a:solidFill>
              </a:rPr>
              <a:t> − A simplex modem can transfer data in only one direction, from digital device to network (modulator) or network to digital device (demodulator).</a:t>
            </a:r>
          </a:p>
          <a:p>
            <a:pPr marL="800100" lvl="1" indent="-342900" algn="l">
              <a:buClr>
                <a:srgbClr val="0070C0"/>
              </a:buClr>
              <a:buSzPct val="80000"/>
              <a:buFont typeface="Wingdings" pitchFamily="2" charset="2"/>
              <a:buChar char="u"/>
            </a:pPr>
            <a:r>
              <a:rPr lang="en-US" sz="1800" b="1" dirty="0">
                <a:solidFill>
                  <a:schemeClr val="tx1"/>
                </a:solidFill>
              </a:rPr>
              <a:t>Half duplex</a:t>
            </a:r>
            <a:r>
              <a:rPr lang="en-US" sz="1800" dirty="0">
                <a:solidFill>
                  <a:schemeClr val="tx1"/>
                </a:solidFill>
              </a:rPr>
              <a:t> − A half-duplex modem has the capacity to transfer data in both the directions but only one at a time.</a:t>
            </a:r>
          </a:p>
          <a:p>
            <a:pPr marL="800100" lvl="1" indent="-342900" algn="l">
              <a:buClr>
                <a:srgbClr val="0070C0"/>
              </a:buClr>
              <a:buSzPct val="80000"/>
              <a:buFont typeface="Wingdings" pitchFamily="2" charset="2"/>
              <a:buChar char="u"/>
            </a:pPr>
            <a:r>
              <a:rPr lang="en-US" sz="1800" b="1" dirty="0">
                <a:solidFill>
                  <a:schemeClr val="tx1"/>
                </a:solidFill>
              </a:rPr>
              <a:t>Full duplex</a:t>
            </a:r>
            <a:r>
              <a:rPr lang="en-US" sz="1800" dirty="0">
                <a:solidFill>
                  <a:schemeClr val="tx1"/>
                </a:solidFill>
              </a:rPr>
              <a:t> − A full duplex modem can transmit data in both the directions simultaneously.</a:t>
            </a:r>
          </a:p>
        </p:txBody>
      </p:sp>
      <p:sp>
        <p:nvSpPr>
          <p:cNvPr id="4" name="標題 1"/>
          <p:cNvSpPr txBox="1">
            <a:spLocks/>
          </p:cNvSpPr>
          <p:nvPr/>
        </p:nvSpPr>
        <p:spPr>
          <a:xfrm>
            <a:off x="0" y="764704"/>
            <a:ext cx="9144000" cy="398616"/>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vert="horz" lIns="91440" tIns="45720" rIns="91440" bIns="45720" rtlCol="0" anchor="ctr">
            <a:normAutofit fontScale="92500"/>
          </a:bodyPr>
          <a:lstStyle/>
          <a:p>
            <a:pPr marL="0" lvl="1"/>
            <a:r>
              <a:rPr lang="en-US" sz="1600" dirty="0">
                <a:hlinkClick r:id="rId2"/>
              </a:rPr>
              <a:t>https://www.tutorialspoint.com/communication_technologies/communication_technologies_network_devices.htm</a:t>
            </a:r>
            <a:endParaRPr lang="en-US" sz="1600" dirty="0"/>
          </a:p>
        </p:txBody>
      </p:sp>
      <p:sp>
        <p:nvSpPr>
          <p:cNvPr id="5" name="日期版面配置區 4"/>
          <p:cNvSpPr>
            <a:spLocks noGrp="1"/>
          </p:cNvSpPr>
          <p:nvPr>
            <p:ph type="dt" sz="half" idx="10"/>
          </p:nvPr>
        </p:nvSpPr>
        <p:spPr>
          <a:xfrm>
            <a:off x="457200" y="6356350"/>
            <a:ext cx="2133600" cy="404246"/>
          </a:xfrm>
        </p:spPr>
        <p:txBody>
          <a:bodyPr/>
          <a:lstStyle/>
          <a:p>
            <a:fld id="{A4F910E6-8D00-4BAF-8C48-9688E0B449D3}" type="datetime1">
              <a:rPr lang="zh-TW" altLang="en-US" smtClean="0"/>
              <a:pPr/>
              <a:t>2020/3/27</a:t>
            </a:fld>
            <a:endParaRPr lang="zh-TW" altLang="en-US"/>
          </a:p>
        </p:txBody>
      </p:sp>
      <p:sp>
        <p:nvSpPr>
          <p:cNvPr id="6" name="投影片編號版面配置區 5"/>
          <p:cNvSpPr>
            <a:spLocks noGrp="1"/>
          </p:cNvSpPr>
          <p:nvPr>
            <p:ph type="sldNum" sz="quarter" idx="12"/>
          </p:nvPr>
        </p:nvSpPr>
        <p:spPr>
          <a:xfrm>
            <a:off x="6553200" y="6356350"/>
            <a:ext cx="2133600" cy="404246"/>
          </a:xfrm>
        </p:spPr>
        <p:txBody>
          <a:bodyPr/>
          <a:lstStyle/>
          <a:p>
            <a:fld id="{E4D7E63D-91F2-4366-A2C4-1B00C9E2590E}" type="slidenum">
              <a:rPr lang="zh-TW" altLang="en-US" smtClean="0"/>
              <a:pPr/>
              <a:t>4</a:t>
            </a:fld>
            <a:endParaRPr lang="zh-TW" altLang="en-US"/>
          </a:p>
        </p:txBody>
      </p:sp>
    </p:spTree>
    <p:extLst>
      <p:ext uri="{BB962C8B-B14F-4D97-AF65-F5344CB8AC3E}">
        <p14:creationId xmlns:p14="http://schemas.microsoft.com/office/powerpoint/2010/main" val="1150222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1"/>
            <a:ext cx="9144000" cy="764704"/>
          </a:xfr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p:spPr>
        <p:txBody>
          <a:bodyPr/>
          <a:lstStyle/>
          <a:p>
            <a:pPr algn="l"/>
            <a:r>
              <a:rPr lang="en-US" altLang="zh-TW" b="1" dirty="0">
                <a:solidFill>
                  <a:srgbClr val="FFFF00"/>
                </a:solidFill>
              </a:rPr>
              <a:t>7 Network Device</a:t>
            </a:r>
            <a:endParaRPr lang="zh-TW" altLang="en-US" b="1" dirty="0">
              <a:solidFill>
                <a:srgbClr val="FFFF00"/>
              </a:solidFill>
            </a:endParaRPr>
          </a:p>
        </p:txBody>
      </p:sp>
      <p:sp>
        <p:nvSpPr>
          <p:cNvPr id="3" name="副標題 2"/>
          <p:cNvSpPr>
            <a:spLocks noGrp="1"/>
          </p:cNvSpPr>
          <p:nvPr>
            <p:ph type="subTitle" idx="1"/>
          </p:nvPr>
        </p:nvSpPr>
        <p:spPr>
          <a:xfrm>
            <a:off x="367862" y="1412777"/>
            <a:ext cx="8318938" cy="2880319"/>
          </a:xfrm>
          <a:ln>
            <a:solidFill>
              <a:srgbClr val="C00000"/>
            </a:solidFill>
          </a:ln>
        </p:spPr>
        <p:txBody>
          <a:bodyPr>
            <a:noAutofit/>
          </a:bodyPr>
          <a:lstStyle/>
          <a:p>
            <a:pPr marL="342900" indent="-342900" algn="l">
              <a:buClr>
                <a:srgbClr val="0070C0"/>
              </a:buClr>
              <a:buSzPct val="80000"/>
              <a:buFont typeface="Wingdings" pitchFamily="2" charset="2"/>
              <a:buChar char="u"/>
            </a:pPr>
            <a:r>
              <a:rPr lang="en-US" sz="1800" b="1" dirty="0">
                <a:solidFill>
                  <a:schemeClr val="tx1"/>
                </a:solidFill>
              </a:rPr>
              <a:t>RJ45 Connector</a:t>
            </a:r>
          </a:p>
          <a:p>
            <a:pPr marL="342900" indent="-342900" algn="l">
              <a:buClr>
                <a:srgbClr val="0070C0"/>
              </a:buClr>
              <a:buSzPct val="80000"/>
              <a:buFont typeface="Wingdings" pitchFamily="2" charset="2"/>
              <a:buChar char="u"/>
            </a:pPr>
            <a:r>
              <a:rPr lang="en-US" sz="1800" dirty="0">
                <a:solidFill>
                  <a:schemeClr val="tx1"/>
                </a:solidFill>
              </a:rPr>
              <a:t>RJ45 is the acronym for </a:t>
            </a:r>
            <a:r>
              <a:rPr lang="en-US" sz="1800" b="1" dirty="0">
                <a:solidFill>
                  <a:schemeClr val="tx1"/>
                </a:solidFill>
              </a:rPr>
              <a:t>Registered Jack 45. </a:t>
            </a:r>
          </a:p>
          <a:p>
            <a:pPr marL="342900" indent="-342900" algn="l">
              <a:buClr>
                <a:srgbClr val="0070C0"/>
              </a:buClr>
              <a:buSzPct val="80000"/>
              <a:buFont typeface="Wingdings" pitchFamily="2" charset="2"/>
              <a:buChar char="u"/>
            </a:pPr>
            <a:r>
              <a:rPr lang="en-US" sz="1800" b="1" dirty="0">
                <a:solidFill>
                  <a:schemeClr val="tx1"/>
                </a:solidFill>
              </a:rPr>
              <a:t>RJ45 connector</a:t>
            </a:r>
            <a:r>
              <a:rPr lang="en-US" sz="1800" dirty="0">
                <a:solidFill>
                  <a:schemeClr val="tx1"/>
                </a:solidFill>
              </a:rPr>
              <a:t> is an 8-pin jack used by devices to physically connect to </a:t>
            </a:r>
            <a:r>
              <a:rPr lang="en-US" sz="1800" b="1" dirty="0">
                <a:solidFill>
                  <a:schemeClr val="tx1"/>
                </a:solidFill>
              </a:rPr>
              <a:t>Ethernet </a:t>
            </a:r>
            <a:r>
              <a:rPr lang="en-US" sz="1800" dirty="0">
                <a:solidFill>
                  <a:schemeClr val="tx1"/>
                </a:solidFill>
              </a:rPr>
              <a:t>based </a:t>
            </a:r>
            <a:r>
              <a:rPr lang="en-US" sz="1800" b="1" dirty="0">
                <a:solidFill>
                  <a:schemeClr val="tx1"/>
                </a:solidFill>
              </a:rPr>
              <a:t>local area networks (LANs)</a:t>
            </a:r>
            <a:r>
              <a:rPr lang="en-US" sz="1800" dirty="0">
                <a:solidFill>
                  <a:schemeClr val="tx1"/>
                </a:solidFill>
              </a:rPr>
              <a:t>. </a:t>
            </a:r>
          </a:p>
          <a:p>
            <a:pPr marL="342900" indent="-342900" algn="l">
              <a:buClr>
                <a:srgbClr val="0070C0"/>
              </a:buClr>
              <a:buSzPct val="80000"/>
              <a:buFont typeface="Wingdings" pitchFamily="2" charset="2"/>
              <a:buChar char="u"/>
            </a:pPr>
            <a:r>
              <a:rPr lang="en-US" sz="1800" b="1" dirty="0">
                <a:solidFill>
                  <a:schemeClr val="tx1"/>
                </a:solidFill>
              </a:rPr>
              <a:t>Ethernet</a:t>
            </a:r>
            <a:r>
              <a:rPr lang="en-US" sz="1800" dirty="0">
                <a:solidFill>
                  <a:schemeClr val="tx1"/>
                </a:solidFill>
              </a:rPr>
              <a:t> is a technology that defines protocols for establishing a LAN.</a:t>
            </a:r>
          </a:p>
          <a:p>
            <a:pPr marL="342900" indent="-342900" algn="l">
              <a:buClr>
                <a:srgbClr val="0070C0"/>
              </a:buClr>
              <a:buSzPct val="80000"/>
              <a:buFont typeface="Wingdings" pitchFamily="2" charset="2"/>
              <a:buChar char="u"/>
            </a:pPr>
            <a:r>
              <a:rPr lang="en-US" sz="1800" dirty="0">
                <a:solidFill>
                  <a:schemeClr val="tx1"/>
                </a:solidFill>
              </a:rPr>
              <a:t>The cable used for Ethernet LANs are twisted pair ones and have </a:t>
            </a:r>
            <a:r>
              <a:rPr lang="en-US" sz="1800" b="1" dirty="0">
                <a:solidFill>
                  <a:schemeClr val="tx1"/>
                </a:solidFill>
              </a:rPr>
              <a:t>RJ45 connector pins</a:t>
            </a:r>
            <a:r>
              <a:rPr lang="en-US" sz="1800" dirty="0">
                <a:solidFill>
                  <a:schemeClr val="tx1"/>
                </a:solidFill>
              </a:rPr>
              <a:t> at both ends.</a:t>
            </a:r>
          </a:p>
          <a:p>
            <a:pPr marL="342900" indent="-342900" algn="l">
              <a:buClr>
                <a:srgbClr val="0070C0"/>
              </a:buClr>
              <a:buSzPct val="80000"/>
              <a:buFont typeface="Wingdings" pitchFamily="2" charset="2"/>
              <a:buChar char="u"/>
            </a:pPr>
            <a:r>
              <a:rPr lang="en-US" sz="1800" dirty="0">
                <a:solidFill>
                  <a:schemeClr val="tx1"/>
                </a:solidFill>
              </a:rPr>
              <a:t>These pins go into the corresponding socket on devices and connect the device to the network.</a:t>
            </a:r>
          </a:p>
        </p:txBody>
      </p:sp>
      <p:sp>
        <p:nvSpPr>
          <p:cNvPr id="4" name="標題 1"/>
          <p:cNvSpPr txBox="1">
            <a:spLocks/>
          </p:cNvSpPr>
          <p:nvPr/>
        </p:nvSpPr>
        <p:spPr>
          <a:xfrm>
            <a:off x="0" y="764704"/>
            <a:ext cx="9144000" cy="398616"/>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vert="horz" lIns="91440" tIns="45720" rIns="91440" bIns="45720" rtlCol="0" anchor="ctr">
            <a:normAutofit fontScale="92500"/>
          </a:bodyPr>
          <a:lstStyle/>
          <a:p>
            <a:pPr marL="0" lvl="1"/>
            <a:r>
              <a:rPr lang="en-US" sz="1600" dirty="0">
                <a:hlinkClick r:id="rId2"/>
              </a:rPr>
              <a:t>https://www.tutorialspoint.com/communication_technologies/communication_technologies_network_devices.htm</a:t>
            </a:r>
            <a:endParaRPr lang="en-US" sz="1600" dirty="0"/>
          </a:p>
        </p:txBody>
      </p:sp>
      <p:sp>
        <p:nvSpPr>
          <p:cNvPr id="5" name="日期版面配置區 4"/>
          <p:cNvSpPr>
            <a:spLocks noGrp="1"/>
          </p:cNvSpPr>
          <p:nvPr>
            <p:ph type="dt" sz="half" idx="10"/>
          </p:nvPr>
        </p:nvSpPr>
        <p:spPr>
          <a:xfrm>
            <a:off x="457200" y="6356350"/>
            <a:ext cx="2133600" cy="404246"/>
          </a:xfrm>
        </p:spPr>
        <p:txBody>
          <a:bodyPr/>
          <a:lstStyle/>
          <a:p>
            <a:fld id="{A4F910E6-8D00-4BAF-8C48-9688E0B449D3}" type="datetime1">
              <a:rPr lang="zh-TW" altLang="en-US" smtClean="0"/>
              <a:pPr/>
              <a:t>2020/3/27</a:t>
            </a:fld>
            <a:endParaRPr lang="zh-TW" altLang="en-US"/>
          </a:p>
        </p:txBody>
      </p:sp>
      <p:sp>
        <p:nvSpPr>
          <p:cNvPr id="6" name="投影片編號版面配置區 5"/>
          <p:cNvSpPr>
            <a:spLocks noGrp="1"/>
          </p:cNvSpPr>
          <p:nvPr>
            <p:ph type="sldNum" sz="quarter" idx="12"/>
          </p:nvPr>
        </p:nvSpPr>
        <p:spPr>
          <a:xfrm>
            <a:off x="6553200" y="6356350"/>
            <a:ext cx="2133600" cy="404246"/>
          </a:xfrm>
        </p:spPr>
        <p:txBody>
          <a:bodyPr/>
          <a:lstStyle/>
          <a:p>
            <a:fld id="{E4D7E63D-91F2-4366-A2C4-1B00C9E2590E}" type="slidenum">
              <a:rPr lang="zh-TW" altLang="en-US" smtClean="0"/>
              <a:pPr/>
              <a:t>5</a:t>
            </a:fld>
            <a:endParaRPr lang="zh-TW" altLang="en-US"/>
          </a:p>
        </p:txBody>
      </p:sp>
      <p:pic>
        <p:nvPicPr>
          <p:cNvPr id="2050" name="Picture 2" descr="RJ45 Connector">
            <a:extLst>
              <a:ext uri="{FF2B5EF4-FFF2-40B4-BE49-F238E27FC236}">
                <a16:creationId xmlns:a16="http://schemas.microsoft.com/office/drawing/2014/main" id="{70F0EACF-A4DB-4E4C-9616-E643B11E43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8677" y="4457948"/>
            <a:ext cx="2857500" cy="1733550"/>
          </a:xfrm>
          <a:prstGeom prst="rect">
            <a:avLst/>
          </a:prstGeom>
          <a:noFill/>
          <a:ln>
            <a:solidFill>
              <a:srgbClr val="C00000"/>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4545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1"/>
            <a:ext cx="9144000" cy="764704"/>
          </a:xfr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p:spPr>
        <p:txBody>
          <a:bodyPr/>
          <a:lstStyle/>
          <a:p>
            <a:pPr algn="l"/>
            <a:r>
              <a:rPr lang="en-US" altLang="zh-TW" b="1" dirty="0">
                <a:solidFill>
                  <a:srgbClr val="FFFF00"/>
                </a:solidFill>
              </a:rPr>
              <a:t>7 Network Device</a:t>
            </a:r>
            <a:endParaRPr lang="zh-TW" altLang="en-US" b="1" dirty="0">
              <a:solidFill>
                <a:srgbClr val="FFFF00"/>
              </a:solidFill>
            </a:endParaRPr>
          </a:p>
        </p:txBody>
      </p:sp>
      <p:sp>
        <p:nvSpPr>
          <p:cNvPr id="3" name="副標題 2"/>
          <p:cNvSpPr>
            <a:spLocks noGrp="1"/>
          </p:cNvSpPr>
          <p:nvPr>
            <p:ph type="subTitle" idx="1"/>
          </p:nvPr>
        </p:nvSpPr>
        <p:spPr>
          <a:xfrm>
            <a:off x="367862" y="1412777"/>
            <a:ext cx="8318938" cy="2448271"/>
          </a:xfrm>
          <a:ln>
            <a:solidFill>
              <a:srgbClr val="C00000"/>
            </a:solidFill>
          </a:ln>
        </p:spPr>
        <p:txBody>
          <a:bodyPr>
            <a:noAutofit/>
          </a:bodyPr>
          <a:lstStyle/>
          <a:p>
            <a:pPr marL="342900" indent="-342900" algn="l">
              <a:buClr>
                <a:srgbClr val="0070C0"/>
              </a:buClr>
              <a:buSzPct val="80000"/>
              <a:buFont typeface="Wingdings" pitchFamily="2" charset="2"/>
              <a:buChar char="u"/>
            </a:pPr>
            <a:r>
              <a:rPr lang="en-US" sz="1800" b="1" dirty="0">
                <a:solidFill>
                  <a:schemeClr val="tx1"/>
                </a:solidFill>
              </a:rPr>
              <a:t>Ethernet Card</a:t>
            </a:r>
          </a:p>
          <a:p>
            <a:pPr marL="342900" indent="-342900" algn="l">
              <a:buClr>
                <a:srgbClr val="0070C0"/>
              </a:buClr>
              <a:buSzPct val="80000"/>
              <a:buFont typeface="Wingdings" pitchFamily="2" charset="2"/>
              <a:buChar char="u"/>
            </a:pPr>
            <a:r>
              <a:rPr lang="en-US" sz="1800" b="1" dirty="0">
                <a:solidFill>
                  <a:schemeClr val="tx1"/>
                </a:solidFill>
              </a:rPr>
              <a:t>Ethernet card</a:t>
            </a:r>
            <a:r>
              <a:rPr lang="en-US" sz="1800" dirty="0">
                <a:solidFill>
                  <a:schemeClr val="tx1"/>
                </a:solidFill>
              </a:rPr>
              <a:t>, also known as </a:t>
            </a:r>
            <a:r>
              <a:rPr lang="en-US" sz="1800" b="1" dirty="0">
                <a:solidFill>
                  <a:schemeClr val="tx1"/>
                </a:solidFill>
              </a:rPr>
              <a:t>network interface card (NIC)</a:t>
            </a:r>
            <a:r>
              <a:rPr lang="en-US" sz="1800" dirty="0">
                <a:solidFill>
                  <a:schemeClr val="tx1"/>
                </a:solidFill>
              </a:rPr>
              <a:t>, is a hardware component used by computers to connect to </a:t>
            </a:r>
            <a:r>
              <a:rPr lang="en-US" sz="1800" b="1" dirty="0">
                <a:solidFill>
                  <a:schemeClr val="tx1"/>
                </a:solidFill>
              </a:rPr>
              <a:t>Ethernet LAN</a:t>
            </a:r>
            <a:r>
              <a:rPr lang="en-US" sz="1800" dirty="0">
                <a:solidFill>
                  <a:schemeClr val="tx1"/>
                </a:solidFill>
              </a:rPr>
              <a:t> and communicate with other devices on the LAN. </a:t>
            </a:r>
          </a:p>
          <a:p>
            <a:pPr marL="342900" indent="-342900" algn="l">
              <a:buClr>
                <a:srgbClr val="0070C0"/>
              </a:buClr>
              <a:buSzPct val="80000"/>
              <a:buFont typeface="Wingdings" pitchFamily="2" charset="2"/>
              <a:buChar char="u"/>
            </a:pPr>
            <a:r>
              <a:rPr lang="en-US" sz="1800" dirty="0">
                <a:solidFill>
                  <a:schemeClr val="tx1"/>
                </a:solidFill>
              </a:rPr>
              <a:t>The earliest </a:t>
            </a:r>
            <a:r>
              <a:rPr lang="en-US" sz="1800" b="1" dirty="0">
                <a:solidFill>
                  <a:schemeClr val="tx1"/>
                </a:solidFill>
              </a:rPr>
              <a:t>Ethernet cards</a:t>
            </a:r>
            <a:r>
              <a:rPr lang="en-US" sz="1800" dirty="0">
                <a:solidFill>
                  <a:schemeClr val="tx1"/>
                </a:solidFill>
              </a:rPr>
              <a:t> were external to the system and needed to be installed manually.</a:t>
            </a:r>
          </a:p>
          <a:p>
            <a:pPr marL="342900" indent="-342900" algn="l">
              <a:buClr>
                <a:srgbClr val="0070C0"/>
              </a:buClr>
              <a:buSzPct val="80000"/>
              <a:buFont typeface="Wingdings" pitchFamily="2" charset="2"/>
              <a:buChar char="u"/>
            </a:pPr>
            <a:r>
              <a:rPr lang="en-US" sz="1800" dirty="0">
                <a:solidFill>
                  <a:schemeClr val="tx1"/>
                </a:solidFill>
              </a:rPr>
              <a:t>In modern computer systems, it is an internal hardware component.</a:t>
            </a:r>
          </a:p>
          <a:p>
            <a:pPr marL="342900" indent="-342900" algn="l">
              <a:buClr>
                <a:srgbClr val="0070C0"/>
              </a:buClr>
              <a:buSzPct val="80000"/>
              <a:buFont typeface="Wingdings" pitchFamily="2" charset="2"/>
              <a:buChar char="u"/>
            </a:pPr>
            <a:r>
              <a:rPr lang="en-US" sz="1800" dirty="0">
                <a:solidFill>
                  <a:schemeClr val="tx1"/>
                </a:solidFill>
              </a:rPr>
              <a:t>The NIC has </a:t>
            </a:r>
            <a:r>
              <a:rPr lang="en-US" sz="1800" b="1" dirty="0">
                <a:solidFill>
                  <a:schemeClr val="tx1"/>
                </a:solidFill>
              </a:rPr>
              <a:t>RJ45 socket</a:t>
            </a:r>
            <a:r>
              <a:rPr lang="en-US" sz="1800" dirty="0">
                <a:solidFill>
                  <a:schemeClr val="tx1"/>
                </a:solidFill>
              </a:rPr>
              <a:t> where network cable is physically plugged in.</a:t>
            </a:r>
          </a:p>
          <a:p>
            <a:pPr algn="l"/>
            <a:br>
              <a:rPr lang="en-US" sz="1800" dirty="0">
                <a:solidFill>
                  <a:schemeClr val="tx1"/>
                </a:solidFill>
              </a:rPr>
            </a:br>
            <a:r>
              <a:rPr lang="en-US" sz="1800" dirty="0">
                <a:solidFill>
                  <a:schemeClr val="tx1"/>
                </a:solidFill>
              </a:rPr>
              <a:t>.</a:t>
            </a:r>
          </a:p>
        </p:txBody>
      </p:sp>
      <p:sp>
        <p:nvSpPr>
          <p:cNvPr id="4" name="標題 1"/>
          <p:cNvSpPr txBox="1">
            <a:spLocks/>
          </p:cNvSpPr>
          <p:nvPr/>
        </p:nvSpPr>
        <p:spPr>
          <a:xfrm>
            <a:off x="0" y="764704"/>
            <a:ext cx="9144000" cy="398616"/>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vert="horz" lIns="91440" tIns="45720" rIns="91440" bIns="45720" rtlCol="0" anchor="ctr">
            <a:normAutofit fontScale="92500"/>
          </a:bodyPr>
          <a:lstStyle/>
          <a:p>
            <a:pPr marL="0" lvl="1"/>
            <a:r>
              <a:rPr lang="en-US" sz="1600" dirty="0">
                <a:hlinkClick r:id="rId2"/>
              </a:rPr>
              <a:t>https://www.tutorialspoint.com/communication_technologies/communication_technologies_network_devices.htm</a:t>
            </a:r>
            <a:endParaRPr lang="en-US" sz="1600" dirty="0"/>
          </a:p>
        </p:txBody>
      </p:sp>
      <p:sp>
        <p:nvSpPr>
          <p:cNvPr id="5" name="日期版面配置區 4"/>
          <p:cNvSpPr>
            <a:spLocks noGrp="1"/>
          </p:cNvSpPr>
          <p:nvPr>
            <p:ph type="dt" sz="half" idx="10"/>
          </p:nvPr>
        </p:nvSpPr>
        <p:spPr>
          <a:xfrm>
            <a:off x="457200" y="6356350"/>
            <a:ext cx="2133600" cy="404246"/>
          </a:xfrm>
        </p:spPr>
        <p:txBody>
          <a:bodyPr/>
          <a:lstStyle/>
          <a:p>
            <a:fld id="{A4F910E6-8D00-4BAF-8C48-9688E0B449D3}" type="datetime1">
              <a:rPr lang="zh-TW" altLang="en-US" smtClean="0"/>
              <a:pPr/>
              <a:t>2020/3/27</a:t>
            </a:fld>
            <a:endParaRPr lang="zh-TW" altLang="en-US"/>
          </a:p>
        </p:txBody>
      </p:sp>
      <p:sp>
        <p:nvSpPr>
          <p:cNvPr id="6" name="投影片編號版面配置區 5"/>
          <p:cNvSpPr>
            <a:spLocks noGrp="1"/>
          </p:cNvSpPr>
          <p:nvPr>
            <p:ph type="sldNum" sz="quarter" idx="12"/>
          </p:nvPr>
        </p:nvSpPr>
        <p:spPr>
          <a:xfrm>
            <a:off x="6553200" y="6356350"/>
            <a:ext cx="2133600" cy="404246"/>
          </a:xfrm>
        </p:spPr>
        <p:txBody>
          <a:bodyPr/>
          <a:lstStyle/>
          <a:p>
            <a:fld id="{E4D7E63D-91F2-4366-A2C4-1B00C9E2590E}" type="slidenum">
              <a:rPr lang="zh-TW" altLang="en-US" smtClean="0"/>
              <a:pPr/>
              <a:t>6</a:t>
            </a:fld>
            <a:endParaRPr lang="zh-TW" altLang="en-US"/>
          </a:p>
        </p:txBody>
      </p:sp>
      <p:pic>
        <p:nvPicPr>
          <p:cNvPr id="5122" name="Picture 2" descr="Ethernet Card">
            <a:extLst>
              <a:ext uri="{FF2B5EF4-FFF2-40B4-BE49-F238E27FC236}">
                <a16:creationId xmlns:a16="http://schemas.microsoft.com/office/drawing/2014/main" id="{FC7C796F-8C98-4B76-BCD8-665B638AB1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9364" y="3983222"/>
            <a:ext cx="3577580" cy="2373128"/>
          </a:xfrm>
          <a:prstGeom prst="rect">
            <a:avLst/>
          </a:prstGeom>
          <a:noFill/>
          <a:ln>
            <a:solidFill>
              <a:srgbClr val="C00000"/>
            </a:solidFill>
          </a:ln>
          <a:extLst>
            <a:ext uri="{909E8E84-426E-40DD-AFC4-6F175D3DCCD1}">
              <a14:hiddenFill xmlns:a14="http://schemas.microsoft.com/office/drawing/2010/main">
                <a:solidFill>
                  <a:srgbClr val="FFFFFF"/>
                </a:solidFill>
              </a14:hiddenFill>
            </a:ext>
          </a:extLst>
        </p:spPr>
      </p:pic>
      <p:sp>
        <p:nvSpPr>
          <p:cNvPr id="9" name="副標題 2">
            <a:extLst>
              <a:ext uri="{FF2B5EF4-FFF2-40B4-BE49-F238E27FC236}">
                <a16:creationId xmlns:a16="http://schemas.microsoft.com/office/drawing/2014/main" id="{6831790C-00A9-4FB3-8D28-E17C23F00EB2}"/>
              </a:ext>
            </a:extLst>
          </p:cNvPr>
          <p:cNvSpPr txBox="1">
            <a:spLocks/>
          </p:cNvSpPr>
          <p:nvPr/>
        </p:nvSpPr>
        <p:spPr>
          <a:xfrm>
            <a:off x="367862" y="3983063"/>
            <a:ext cx="4420162" cy="2448271"/>
          </a:xfrm>
          <a:prstGeom prst="rect">
            <a:avLst/>
          </a:prstGeom>
          <a:ln>
            <a:solidFill>
              <a:srgbClr val="C00000"/>
            </a:solidFill>
          </a:ln>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l">
              <a:buClr>
                <a:srgbClr val="0070C0"/>
              </a:buClr>
              <a:buSzPct val="80000"/>
              <a:buFont typeface="Wingdings" pitchFamily="2" charset="2"/>
              <a:buChar char="u"/>
            </a:pPr>
            <a:r>
              <a:rPr lang="en-US" sz="1800" b="1" dirty="0">
                <a:solidFill>
                  <a:schemeClr val="tx1"/>
                </a:solidFill>
              </a:rPr>
              <a:t>Ethernet card speeds</a:t>
            </a:r>
            <a:r>
              <a:rPr lang="en-US" sz="1800" dirty="0">
                <a:solidFill>
                  <a:schemeClr val="tx1"/>
                </a:solidFill>
              </a:rPr>
              <a:t> may vary depending upon the protocols it supports. </a:t>
            </a:r>
          </a:p>
          <a:p>
            <a:pPr marL="342900" indent="-342900" algn="l">
              <a:buClr>
                <a:srgbClr val="0070C0"/>
              </a:buClr>
              <a:buSzPct val="80000"/>
              <a:buFont typeface="Wingdings" pitchFamily="2" charset="2"/>
              <a:buChar char="u"/>
            </a:pPr>
            <a:r>
              <a:rPr lang="en-US" sz="1800" dirty="0">
                <a:solidFill>
                  <a:schemeClr val="tx1"/>
                </a:solidFill>
              </a:rPr>
              <a:t>Old Ethernet cards had maximum speed of </a:t>
            </a:r>
            <a:r>
              <a:rPr lang="en-US" sz="1800" b="1" dirty="0">
                <a:solidFill>
                  <a:schemeClr val="tx1"/>
                </a:solidFill>
              </a:rPr>
              <a:t>10 Mbps</a:t>
            </a:r>
            <a:r>
              <a:rPr lang="en-US" sz="1800" dirty="0">
                <a:solidFill>
                  <a:schemeClr val="tx1"/>
                </a:solidFill>
              </a:rPr>
              <a:t>.</a:t>
            </a:r>
          </a:p>
          <a:p>
            <a:pPr marL="342900" indent="-342900" algn="l">
              <a:buClr>
                <a:srgbClr val="0070C0"/>
              </a:buClr>
              <a:buSzPct val="80000"/>
              <a:buFont typeface="Wingdings" pitchFamily="2" charset="2"/>
              <a:buChar char="u"/>
            </a:pPr>
            <a:r>
              <a:rPr lang="en-US" sz="1800" dirty="0">
                <a:solidFill>
                  <a:schemeClr val="tx1"/>
                </a:solidFill>
              </a:rPr>
              <a:t>However, modern cards support fast Ethernets up to a speed of </a:t>
            </a:r>
            <a:r>
              <a:rPr lang="en-US" sz="1800" b="1" dirty="0">
                <a:solidFill>
                  <a:schemeClr val="tx1"/>
                </a:solidFill>
              </a:rPr>
              <a:t>100 Mbps</a:t>
            </a:r>
            <a:r>
              <a:rPr lang="en-US" sz="1800" dirty="0">
                <a:solidFill>
                  <a:schemeClr val="tx1"/>
                </a:solidFill>
              </a:rPr>
              <a:t>.</a:t>
            </a:r>
          </a:p>
          <a:p>
            <a:pPr marL="342900" indent="-342900" algn="l">
              <a:buClr>
                <a:srgbClr val="0070C0"/>
              </a:buClr>
              <a:buSzPct val="80000"/>
              <a:buFont typeface="Wingdings" pitchFamily="2" charset="2"/>
              <a:buChar char="u"/>
            </a:pPr>
            <a:r>
              <a:rPr lang="en-US" sz="1800" dirty="0">
                <a:solidFill>
                  <a:schemeClr val="tx1"/>
                </a:solidFill>
              </a:rPr>
              <a:t>Some cards even have capacity of </a:t>
            </a:r>
            <a:r>
              <a:rPr lang="en-US" sz="1800" b="1" dirty="0">
                <a:solidFill>
                  <a:schemeClr val="tx1"/>
                </a:solidFill>
              </a:rPr>
              <a:t>1 Gbps</a:t>
            </a:r>
            <a:r>
              <a:rPr lang="en-US" sz="1800" dirty="0">
                <a:solidFill>
                  <a:schemeClr val="tx1"/>
                </a:solidFill>
              </a:rPr>
              <a:t>.</a:t>
            </a:r>
            <a:br>
              <a:rPr lang="en-US" sz="1800" dirty="0">
                <a:solidFill>
                  <a:schemeClr val="tx1"/>
                </a:solidFill>
              </a:rPr>
            </a:br>
            <a:r>
              <a:rPr lang="en-US" sz="1800" dirty="0">
                <a:solidFill>
                  <a:schemeClr val="tx1"/>
                </a:solidFill>
              </a:rPr>
              <a:t>.</a:t>
            </a:r>
          </a:p>
        </p:txBody>
      </p:sp>
    </p:spTree>
    <p:extLst>
      <p:ext uri="{BB962C8B-B14F-4D97-AF65-F5344CB8AC3E}">
        <p14:creationId xmlns:p14="http://schemas.microsoft.com/office/powerpoint/2010/main" val="745405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1"/>
            <a:ext cx="9144000" cy="764704"/>
          </a:xfr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p:spPr>
        <p:txBody>
          <a:bodyPr/>
          <a:lstStyle/>
          <a:p>
            <a:pPr algn="l"/>
            <a:r>
              <a:rPr lang="en-US" altLang="zh-TW" b="1" dirty="0">
                <a:solidFill>
                  <a:srgbClr val="FFFF00"/>
                </a:solidFill>
              </a:rPr>
              <a:t>7 Network Device</a:t>
            </a:r>
            <a:endParaRPr lang="zh-TW" altLang="en-US" b="1" dirty="0">
              <a:solidFill>
                <a:srgbClr val="FFFF00"/>
              </a:solidFill>
            </a:endParaRPr>
          </a:p>
        </p:txBody>
      </p:sp>
      <p:sp>
        <p:nvSpPr>
          <p:cNvPr id="3" name="副標題 2"/>
          <p:cNvSpPr>
            <a:spLocks noGrp="1"/>
          </p:cNvSpPr>
          <p:nvPr>
            <p:ph type="subTitle" idx="1"/>
          </p:nvPr>
        </p:nvSpPr>
        <p:spPr>
          <a:xfrm>
            <a:off x="367862" y="1412777"/>
            <a:ext cx="8318938" cy="1584175"/>
          </a:xfrm>
          <a:ln>
            <a:solidFill>
              <a:srgbClr val="C00000"/>
            </a:solidFill>
          </a:ln>
        </p:spPr>
        <p:txBody>
          <a:bodyPr>
            <a:noAutofit/>
          </a:bodyPr>
          <a:lstStyle/>
          <a:p>
            <a:pPr marL="342900" indent="-342900" algn="l">
              <a:buClr>
                <a:srgbClr val="0070C0"/>
              </a:buClr>
              <a:buSzPct val="80000"/>
              <a:buFont typeface="Wingdings" pitchFamily="2" charset="2"/>
              <a:buChar char="u"/>
            </a:pPr>
            <a:r>
              <a:rPr lang="en-US" sz="1800" b="1" dirty="0">
                <a:solidFill>
                  <a:schemeClr val="tx1"/>
                </a:solidFill>
              </a:rPr>
              <a:t>Router</a:t>
            </a:r>
          </a:p>
          <a:p>
            <a:pPr marL="342900" indent="-342900" algn="l">
              <a:buClr>
                <a:srgbClr val="0070C0"/>
              </a:buClr>
              <a:buSzPct val="80000"/>
              <a:buFont typeface="Wingdings" pitchFamily="2" charset="2"/>
              <a:buChar char="u"/>
            </a:pPr>
            <a:r>
              <a:rPr lang="en-US" sz="1800" dirty="0">
                <a:solidFill>
                  <a:schemeClr val="tx1"/>
                </a:solidFill>
              </a:rPr>
              <a:t>A </a:t>
            </a:r>
            <a:r>
              <a:rPr lang="en-US" sz="1800" b="1" dirty="0">
                <a:solidFill>
                  <a:schemeClr val="tx1"/>
                </a:solidFill>
              </a:rPr>
              <a:t>router</a:t>
            </a:r>
            <a:r>
              <a:rPr lang="en-US" sz="1800" dirty="0">
                <a:solidFill>
                  <a:schemeClr val="tx1"/>
                </a:solidFill>
              </a:rPr>
              <a:t> is a </a:t>
            </a:r>
            <a:r>
              <a:rPr lang="en-US" sz="1800" b="1" dirty="0">
                <a:solidFill>
                  <a:schemeClr val="tx1"/>
                </a:solidFill>
              </a:rPr>
              <a:t>network layer</a:t>
            </a:r>
            <a:r>
              <a:rPr lang="en-US" sz="1800" dirty="0">
                <a:solidFill>
                  <a:schemeClr val="tx1"/>
                </a:solidFill>
              </a:rPr>
              <a:t> hardware device that transmits data from one LAN to another if both networks support the same set of protocols. </a:t>
            </a:r>
          </a:p>
          <a:p>
            <a:pPr marL="342900" indent="-342900" algn="l">
              <a:buClr>
                <a:srgbClr val="0070C0"/>
              </a:buClr>
              <a:buSzPct val="80000"/>
              <a:buFont typeface="Wingdings" pitchFamily="2" charset="2"/>
              <a:buChar char="u"/>
            </a:pPr>
            <a:r>
              <a:rPr lang="en-US" sz="1800" dirty="0">
                <a:solidFill>
                  <a:schemeClr val="tx1"/>
                </a:solidFill>
              </a:rPr>
              <a:t>So a </a:t>
            </a:r>
            <a:r>
              <a:rPr lang="en-US" sz="1800" b="1" dirty="0">
                <a:solidFill>
                  <a:schemeClr val="tx1"/>
                </a:solidFill>
              </a:rPr>
              <a:t>router</a:t>
            </a:r>
            <a:r>
              <a:rPr lang="en-US" sz="1800" dirty="0">
                <a:solidFill>
                  <a:schemeClr val="tx1"/>
                </a:solidFill>
              </a:rPr>
              <a:t> is typically connected to at least two LANs and the </a:t>
            </a:r>
            <a:r>
              <a:rPr lang="en-US" sz="1800" b="1" dirty="0">
                <a:solidFill>
                  <a:schemeClr val="tx1"/>
                </a:solidFill>
              </a:rPr>
              <a:t>internet service provider</a:t>
            </a:r>
            <a:r>
              <a:rPr lang="en-US" sz="1800" dirty="0">
                <a:solidFill>
                  <a:schemeClr val="tx1"/>
                </a:solidFill>
              </a:rPr>
              <a:t> (</a:t>
            </a:r>
            <a:r>
              <a:rPr lang="en-US" sz="1800" b="1" dirty="0">
                <a:solidFill>
                  <a:schemeClr val="tx1"/>
                </a:solidFill>
              </a:rPr>
              <a:t>ISP</a:t>
            </a:r>
            <a:r>
              <a:rPr lang="en-US" sz="1800" dirty="0">
                <a:solidFill>
                  <a:schemeClr val="tx1"/>
                </a:solidFill>
              </a:rPr>
              <a:t>). </a:t>
            </a:r>
          </a:p>
        </p:txBody>
      </p:sp>
      <p:sp>
        <p:nvSpPr>
          <p:cNvPr id="4" name="標題 1"/>
          <p:cNvSpPr txBox="1">
            <a:spLocks/>
          </p:cNvSpPr>
          <p:nvPr/>
        </p:nvSpPr>
        <p:spPr>
          <a:xfrm>
            <a:off x="0" y="764704"/>
            <a:ext cx="9144000" cy="398616"/>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vert="horz" lIns="91440" tIns="45720" rIns="91440" bIns="45720" rtlCol="0" anchor="ctr">
            <a:normAutofit fontScale="92500"/>
          </a:bodyPr>
          <a:lstStyle/>
          <a:p>
            <a:pPr marL="0" lvl="1"/>
            <a:r>
              <a:rPr lang="en-US" sz="1600" dirty="0">
                <a:hlinkClick r:id="rId2"/>
              </a:rPr>
              <a:t>https://www.tutorialspoint.com/communication_technologies/communication_technologies_network_devices.htm</a:t>
            </a:r>
            <a:endParaRPr lang="en-US" sz="1600" dirty="0"/>
          </a:p>
        </p:txBody>
      </p:sp>
      <p:sp>
        <p:nvSpPr>
          <p:cNvPr id="5" name="日期版面配置區 4"/>
          <p:cNvSpPr>
            <a:spLocks noGrp="1"/>
          </p:cNvSpPr>
          <p:nvPr>
            <p:ph type="dt" sz="half" idx="10"/>
          </p:nvPr>
        </p:nvSpPr>
        <p:spPr>
          <a:xfrm>
            <a:off x="457200" y="6356350"/>
            <a:ext cx="2133600" cy="404246"/>
          </a:xfrm>
        </p:spPr>
        <p:txBody>
          <a:bodyPr/>
          <a:lstStyle/>
          <a:p>
            <a:fld id="{A4F910E6-8D00-4BAF-8C48-9688E0B449D3}" type="datetime1">
              <a:rPr lang="zh-TW" altLang="en-US" smtClean="0"/>
              <a:pPr/>
              <a:t>2020/3/27</a:t>
            </a:fld>
            <a:endParaRPr lang="zh-TW" altLang="en-US"/>
          </a:p>
        </p:txBody>
      </p:sp>
      <p:sp>
        <p:nvSpPr>
          <p:cNvPr id="6" name="投影片編號版面配置區 5"/>
          <p:cNvSpPr>
            <a:spLocks noGrp="1"/>
          </p:cNvSpPr>
          <p:nvPr>
            <p:ph type="sldNum" sz="quarter" idx="12"/>
          </p:nvPr>
        </p:nvSpPr>
        <p:spPr>
          <a:xfrm>
            <a:off x="6553200" y="6356350"/>
            <a:ext cx="2133600" cy="404246"/>
          </a:xfrm>
        </p:spPr>
        <p:txBody>
          <a:bodyPr/>
          <a:lstStyle/>
          <a:p>
            <a:fld id="{E4D7E63D-91F2-4366-A2C4-1B00C9E2590E}" type="slidenum">
              <a:rPr lang="zh-TW" altLang="en-US" smtClean="0"/>
              <a:pPr/>
              <a:t>7</a:t>
            </a:fld>
            <a:endParaRPr lang="zh-TW" altLang="en-US"/>
          </a:p>
        </p:txBody>
      </p:sp>
      <p:pic>
        <p:nvPicPr>
          <p:cNvPr id="6146" name="Picture 2" descr="Router">
            <a:extLst>
              <a:ext uri="{FF2B5EF4-FFF2-40B4-BE49-F238E27FC236}">
                <a16:creationId xmlns:a16="http://schemas.microsoft.com/office/drawing/2014/main" id="{988F3FA9-2652-47B1-8785-5D9AF67424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6096" y="3156768"/>
            <a:ext cx="3250704" cy="3257244"/>
          </a:xfrm>
          <a:prstGeom prst="rect">
            <a:avLst/>
          </a:prstGeom>
          <a:noFill/>
          <a:ln>
            <a:solidFill>
              <a:srgbClr val="C00000"/>
            </a:solidFill>
          </a:ln>
          <a:extLst>
            <a:ext uri="{909E8E84-426E-40DD-AFC4-6F175D3DCCD1}">
              <a14:hiddenFill xmlns:a14="http://schemas.microsoft.com/office/drawing/2010/main">
                <a:solidFill>
                  <a:srgbClr val="FFFFFF"/>
                </a:solidFill>
              </a14:hiddenFill>
            </a:ext>
          </a:extLst>
        </p:spPr>
      </p:pic>
      <p:sp>
        <p:nvSpPr>
          <p:cNvPr id="10" name="副標題 2">
            <a:extLst>
              <a:ext uri="{FF2B5EF4-FFF2-40B4-BE49-F238E27FC236}">
                <a16:creationId xmlns:a16="http://schemas.microsoft.com/office/drawing/2014/main" id="{E7C3804C-5270-4C10-99D0-E713046C96E5}"/>
              </a:ext>
            </a:extLst>
          </p:cNvPr>
          <p:cNvSpPr txBox="1">
            <a:spLocks/>
          </p:cNvSpPr>
          <p:nvPr/>
        </p:nvSpPr>
        <p:spPr>
          <a:xfrm>
            <a:off x="367862" y="3140968"/>
            <a:ext cx="4852209" cy="1803256"/>
          </a:xfrm>
          <a:prstGeom prst="rect">
            <a:avLst/>
          </a:prstGeom>
          <a:ln>
            <a:solidFill>
              <a:srgbClr val="C00000"/>
            </a:solidFill>
          </a:ln>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l">
              <a:buClr>
                <a:srgbClr val="0070C0"/>
              </a:buClr>
              <a:buSzPct val="80000"/>
              <a:buFont typeface="Wingdings" pitchFamily="2" charset="2"/>
              <a:buChar char="u"/>
            </a:pPr>
            <a:r>
              <a:rPr lang="en-US" sz="1800" dirty="0">
                <a:solidFill>
                  <a:schemeClr val="tx1"/>
                </a:solidFill>
              </a:rPr>
              <a:t>It receives its data in the form of </a:t>
            </a:r>
            <a:r>
              <a:rPr lang="en-US" sz="1800" b="1" dirty="0">
                <a:solidFill>
                  <a:schemeClr val="tx1"/>
                </a:solidFill>
              </a:rPr>
              <a:t>packets</a:t>
            </a:r>
            <a:r>
              <a:rPr lang="en-US" sz="1800" dirty="0">
                <a:solidFill>
                  <a:schemeClr val="tx1"/>
                </a:solidFill>
              </a:rPr>
              <a:t>, which are </a:t>
            </a:r>
            <a:r>
              <a:rPr lang="en-US" sz="1800" b="1" dirty="0">
                <a:solidFill>
                  <a:schemeClr val="tx1"/>
                </a:solidFill>
              </a:rPr>
              <a:t>data frames</a:t>
            </a:r>
            <a:r>
              <a:rPr lang="en-US" sz="1800" dirty="0">
                <a:solidFill>
                  <a:schemeClr val="tx1"/>
                </a:solidFill>
              </a:rPr>
              <a:t> with their </a:t>
            </a:r>
            <a:r>
              <a:rPr lang="en-US" sz="1800" b="1" dirty="0">
                <a:solidFill>
                  <a:schemeClr val="tx1"/>
                </a:solidFill>
              </a:rPr>
              <a:t>destination address</a:t>
            </a:r>
            <a:r>
              <a:rPr lang="en-US" sz="1800" dirty="0">
                <a:solidFill>
                  <a:schemeClr val="tx1"/>
                </a:solidFill>
              </a:rPr>
              <a:t> added.</a:t>
            </a:r>
          </a:p>
          <a:p>
            <a:pPr marL="342900" indent="-342900" algn="l">
              <a:buClr>
                <a:srgbClr val="0070C0"/>
              </a:buClr>
              <a:buSzPct val="80000"/>
              <a:buFont typeface="Wingdings" pitchFamily="2" charset="2"/>
              <a:buChar char="u"/>
            </a:pPr>
            <a:r>
              <a:rPr lang="en-US" sz="1800" dirty="0">
                <a:solidFill>
                  <a:schemeClr val="tx1"/>
                </a:solidFill>
              </a:rPr>
              <a:t>Router also strengthens the signals before transmitting them. </a:t>
            </a:r>
          </a:p>
          <a:p>
            <a:pPr marL="342900" indent="-342900" algn="l">
              <a:buClr>
                <a:srgbClr val="0070C0"/>
              </a:buClr>
              <a:buSzPct val="80000"/>
              <a:buFont typeface="Wingdings" pitchFamily="2" charset="2"/>
              <a:buChar char="u"/>
            </a:pPr>
            <a:r>
              <a:rPr lang="en-US" sz="1800" dirty="0">
                <a:solidFill>
                  <a:schemeClr val="tx1"/>
                </a:solidFill>
              </a:rPr>
              <a:t>That is why it is also called </a:t>
            </a:r>
            <a:r>
              <a:rPr lang="en-US" sz="1800" b="1" dirty="0">
                <a:solidFill>
                  <a:schemeClr val="tx1"/>
                </a:solidFill>
              </a:rPr>
              <a:t>repeater</a:t>
            </a:r>
            <a:r>
              <a:rPr lang="en-US" sz="1800" dirty="0">
                <a:solidFill>
                  <a:schemeClr val="tx1"/>
                </a:solidFill>
              </a:rPr>
              <a:t>.</a:t>
            </a:r>
          </a:p>
        </p:txBody>
      </p:sp>
    </p:spTree>
    <p:extLst>
      <p:ext uri="{BB962C8B-B14F-4D97-AF65-F5344CB8AC3E}">
        <p14:creationId xmlns:p14="http://schemas.microsoft.com/office/powerpoint/2010/main" val="29024072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1"/>
            <a:ext cx="9144000" cy="764704"/>
          </a:xfr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p:spPr>
        <p:txBody>
          <a:bodyPr/>
          <a:lstStyle/>
          <a:p>
            <a:pPr algn="l"/>
            <a:r>
              <a:rPr lang="en-US" altLang="zh-TW" b="1" dirty="0">
                <a:solidFill>
                  <a:srgbClr val="FFFF00"/>
                </a:solidFill>
              </a:rPr>
              <a:t>7 Network Device</a:t>
            </a:r>
            <a:endParaRPr lang="zh-TW" altLang="en-US" b="1" dirty="0">
              <a:solidFill>
                <a:srgbClr val="FFFF00"/>
              </a:solidFill>
            </a:endParaRPr>
          </a:p>
        </p:txBody>
      </p:sp>
      <p:sp>
        <p:nvSpPr>
          <p:cNvPr id="3" name="副標題 2"/>
          <p:cNvSpPr>
            <a:spLocks noGrp="1"/>
          </p:cNvSpPr>
          <p:nvPr>
            <p:ph type="subTitle" idx="1"/>
          </p:nvPr>
        </p:nvSpPr>
        <p:spPr>
          <a:xfrm>
            <a:off x="367862" y="1412777"/>
            <a:ext cx="8318938" cy="3096343"/>
          </a:xfrm>
          <a:ln>
            <a:solidFill>
              <a:srgbClr val="C00000"/>
            </a:solidFill>
          </a:ln>
        </p:spPr>
        <p:txBody>
          <a:bodyPr>
            <a:noAutofit/>
          </a:bodyPr>
          <a:lstStyle/>
          <a:p>
            <a:pPr marL="342900" indent="-342900" algn="l">
              <a:buClr>
                <a:srgbClr val="0070C0"/>
              </a:buClr>
              <a:buSzPct val="80000"/>
              <a:buFont typeface="Wingdings" pitchFamily="2" charset="2"/>
              <a:buChar char="u"/>
            </a:pPr>
            <a:r>
              <a:rPr lang="en-US" sz="1800" b="1" dirty="0">
                <a:solidFill>
                  <a:schemeClr val="tx1"/>
                </a:solidFill>
              </a:rPr>
              <a:t>Routing Table</a:t>
            </a:r>
          </a:p>
          <a:p>
            <a:pPr marL="342900" indent="-342900" algn="l">
              <a:buClr>
                <a:srgbClr val="0070C0"/>
              </a:buClr>
              <a:buSzPct val="80000"/>
              <a:buFont typeface="Wingdings" pitchFamily="2" charset="2"/>
              <a:buChar char="u"/>
            </a:pPr>
            <a:r>
              <a:rPr lang="en-US" sz="1800" dirty="0">
                <a:solidFill>
                  <a:schemeClr val="tx1"/>
                </a:solidFill>
              </a:rPr>
              <a:t>A router reads its routing table to decide the best available route the packet can take to reach its destination quickly and accurately.</a:t>
            </a:r>
          </a:p>
          <a:p>
            <a:pPr marL="342900" indent="-342900" algn="l">
              <a:buClr>
                <a:srgbClr val="0070C0"/>
              </a:buClr>
              <a:buSzPct val="80000"/>
              <a:buFont typeface="Wingdings" pitchFamily="2" charset="2"/>
              <a:buChar char="u"/>
            </a:pPr>
            <a:r>
              <a:rPr lang="en-US" sz="1800" dirty="0">
                <a:solidFill>
                  <a:schemeClr val="tx1"/>
                </a:solidFill>
              </a:rPr>
              <a:t>The routing table may be of these two types −</a:t>
            </a:r>
          </a:p>
          <a:p>
            <a:pPr marL="800100" lvl="1" indent="-342900" algn="l">
              <a:buClr>
                <a:srgbClr val="0070C0"/>
              </a:buClr>
              <a:buSzPct val="80000"/>
              <a:buFont typeface="Wingdings" pitchFamily="2" charset="2"/>
              <a:buChar char="u"/>
            </a:pPr>
            <a:r>
              <a:rPr lang="en-US" sz="1800" b="1" dirty="0">
                <a:solidFill>
                  <a:schemeClr val="tx1"/>
                </a:solidFill>
              </a:rPr>
              <a:t>Static</a:t>
            </a:r>
            <a:r>
              <a:rPr lang="en-US" sz="1800" dirty="0">
                <a:solidFill>
                  <a:schemeClr val="tx1"/>
                </a:solidFill>
              </a:rPr>
              <a:t> − In a static routing table the routes are fed manually. So it is suitable only for very small networks that have maximum two to three routers.</a:t>
            </a:r>
          </a:p>
          <a:p>
            <a:pPr marL="800100" lvl="1" indent="-342900" algn="l">
              <a:buClr>
                <a:srgbClr val="0070C0"/>
              </a:buClr>
              <a:buSzPct val="80000"/>
              <a:buFont typeface="Wingdings" pitchFamily="2" charset="2"/>
              <a:buChar char="u"/>
            </a:pPr>
            <a:r>
              <a:rPr lang="en-US" sz="1800" b="1" dirty="0">
                <a:solidFill>
                  <a:schemeClr val="tx1"/>
                </a:solidFill>
              </a:rPr>
              <a:t>Dynamic</a:t>
            </a:r>
            <a:r>
              <a:rPr lang="en-US" sz="1800" dirty="0">
                <a:solidFill>
                  <a:schemeClr val="tx1"/>
                </a:solidFill>
              </a:rPr>
              <a:t> − In a dynamic routing table, the router communicates with other routers through protocols to determine which routes are free. This is suited for larger networks where manual feeding may not be feasible due to large number of routers.</a:t>
            </a:r>
          </a:p>
        </p:txBody>
      </p:sp>
      <p:sp>
        <p:nvSpPr>
          <p:cNvPr id="4" name="標題 1"/>
          <p:cNvSpPr txBox="1">
            <a:spLocks/>
          </p:cNvSpPr>
          <p:nvPr/>
        </p:nvSpPr>
        <p:spPr>
          <a:xfrm>
            <a:off x="0" y="764704"/>
            <a:ext cx="9144000" cy="398616"/>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vert="horz" lIns="91440" tIns="45720" rIns="91440" bIns="45720" rtlCol="0" anchor="ctr">
            <a:normAutofit fontScale="92500"/>
          </a:bodyPr>
          <a:lstStyle/>
          <a:p>
            <a:pPr marL="0" lvl="1"/>
            <a:r>
              <a:rPr lang="en-US" sz="1600" dirty="0">
                <a:hlinkClick r:id="rId2"/>
              </a:rPr>
              <a:t>https://www.tutorialspoint.com/communication_technologies/communication_technologies_network_devices.htm</a:t>
            </a:r>
            <a:endParaRPr lang="en-US" sz="1600" dirty="0"/>
          </a:p>
        </p:txBody>
      </p:sp>
      <p:sp>
        <p:nvSpPr>
          <p:cNvPr id="5" name="日期版面配置區 4"/>
          <p:cNvSpPr>
            <a:spLocks noGrp="1"/>
          </p:cNvSpPr>
          <p:nvPr>
            <p:ph type="dt" sz="half" idx="10"/>
          </p:nvPr>
        </p:nvSpPr>
        <p:spPr>
          <a:xfrm>
            <a:off x="457200" y="6356350"/>
            <a:ext cx="2133600" cy="404246"/>
          </a:xfrm>
        </p:spPr>
        <p:txBody>
          <a:bodyPr/>
          <a:lstStyle/>
          <a:p>
            <a:fld id="{A4F910E6-8D00-4BAF-8C48-9688E0B449D3}" type="datetime1">
              <a:rPr lang="zh-TW" altLang="en-US" smtClean="0"/>
              <a:pPr/>
              <a:t>2020/3/27</a:t>
            </a:fld>
            <a:endParaRPr lang="zh-TW" altLang="en-US"/>
          </a:p>
        </p:txBody>
      </p:sp>
      <p:sp>
        <p:nvSpPr>
          <p:cNvPr id="6" name="投影片編號版面配置區 5"/>
          <p:cNvSpPr>
            <a:spLocks noGrp="1"/>
          </p:cNvSpPr>
          <p:nvPr>
            <p:ph type="sldNum" sz="quarter" idx="12"/>
          </p:nvPr>
        </p:nvSpPr>
        <p:spPr>
          <a:xfrm>
            <a:off x="6553200" y="6356350"/>
            <a:ext cx="2133600" cy="404246"/>
          </a:xfrm>
        </p:spPr>
        <p:txBody>
          <a:bodyPr/>
          <a:lstStyle/>
          <a:p>
            <a:fld id="{E4D7E63D-91F2-4366-A2C4-1B00C9E2590E}" type="slidenum">
              <a:rPr lang="zh-TW" altLang="en-US" smtClean="0"/>
              <a:pPr/>
              <a:t>8</a:t>
            </a:fld>
            <a:endParaRPr lang="zh-TW" altLang="en-US"/>
          </a:p>
        </p:txBody>
      </p:sp>
    </p:spTree>
    <p:extLst>
      <p:ext uri="{BB962C8B-B14F-4D97-AF65-F5344CB8AC3E}">
        <p14:creationId xmlns:p14="http://schemas.microsoft.com/office/powerpoint/2010/main" val="30102464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1"/>
            <a:ext cx="9144000" cy="764704"/>
          </a:xfr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p:spPr>
        <p:txBody>
          <a:bodyPr/>
          <a:lstStyle/>
          <a:p>
            <a:pPr algn="l"/>
            <a:r>
              <a:rPr lang="en-US" altLang="zh-TW" b="1" dirty="0">
                <a:solidFill>
                  <a:srgbClr val="FFFF00"/>
                </a:solidFill>
              </a:rPr>
              <a:t>7 Network Device</a:t>
            </a:r>
            <a:endParaRPr lang="zh-TW" altLang="en-US" b="1" dirty="0">
              <a:solidFill>
                <a:srgbClr val="FFFF00"/>
              </a:solidFill>
            </a:endParaRPr>
          </a:p>
        </p:txBody>
      </p:sp>
      <p:sp>
        <p:nvSpPr>
          <p:cNvPr id="3" name="副標題 2"/>
          <p:cNvSpPr>
            <a:spLocks noGrp="1"/>
          </p:cNvSpPr>
          <p:nvPr>
            <p:ph type="subTitle" idx="1"/>
          </p:nvPr>
        </p:nvSpPr>
        <p:spPr>
          <a:xfrm>
            <a:off x="367862" y="1412778"/>
            <a:ext cx="8318938" cy="1989520"/>
          </a:xfrm>
          <a:ln>
            <a:solidFill>
              <a:srgbClr val="C00000"/>
            </a:solidFill>
          </a:ln>
        </p:spPr>
        <p:txBody>
          <a:bodyPr>
            <a:noAutofit/>
          </a:bodyPr>
          <a:lstStyle/>
          <a:p>
            <a:pPr marL="342900" indent="-342900" algn="l">
              <a:buClr>
                <a:srgbClr val="0070C0"/>
              </a:buClr>
              <a:buSzPct val="80000"/>
              <a:buFont typeface="Wingdings" pitchFamily="2" charset="2"/>
              <a:buChar char="u"/>
            </a:pPr>
            <a:r>
              <a:rPr lang="en-US" sz="1800" b="1" dirty="0">
                <a:solidFill>
                  <a:schemeClr val="tx1"/>
                </a:solidFill>
              </a:rPr>
              <a:t>Switch</a:t>
            </a:r>
          </a:p>
          <a:p>
            <a:pPr marL="342900" indent="-342900" algn="l">
              <a:buClr>
                <a:srgbClr val="0070C0"/>
              </a:buClr>
              <a:buSzPct val="80000"/>
              <a:buFont typeface="Wingdings" pitchFamily="2" charset="2"/>
              <a:buChar char="u"/>
            </a:pPr>
            <a:r>
              <a:rPr lang="en-US" sz="1800" b="1" dirty="0">
                <a:solidFill>
                  <a:schemeClr val="tx1"/>
                </a:solidFill>
              </a:rPr>
              <a:t>Switch</a:t>
            </a:r>
            <a:r>
              <a:rPr lang="en-US" sz="1800" dirty="0">
                <a:solidFill>
                  <a:schemeClr val="tx1"/>
                </a:solidFill>
              </a:rPr>
              <a:t> is a network device that connects other devices to </a:t>
            </a:r>
            <a:r>
              <a:rPr lang="en-US" sz="1800" b="1" dirty="0">
                <a:solidFill>
                  <a:schemeClr val="tx1"/>
                </a:solidFill>
              </a:rPr>
              <a:t>Ethernet</a:t>
            </a:r>
            <a:r>
              <a:rPr lang="en-US" sz="1800" dirty="0">
                <a:solidFill>
                  <a:schemeClr val="tx1"/>
                </a:solidFill>
              </a:rPr>
              <a:t> networks through </a:t>
            </a:r>
            <a:r>
              <a:rPr lang="en-US" sz="1800" b="1" dirty="0">
                <a:solidFill>
                  <a:schemeClr val="tx1"/>
                </a:solidFill>
              </a:rPr>
              <a:t>twisted pair</a:t>
            </a:r>
            <a:r>
              <a:rPr lang="en-US" sz="1800" dirty="0">
                <a:solidFill>
                  <a:schemeClr val="tx1"/>
                </a:solidFill>
              </a:rPr>
              <a:t> cables. </a:t>
            </a:r>
          </a:p>
          <a:p>
            <a:pPr marL="342900" indent="-342900" algn="l">
              <a:buClr>
                <a:srgbClr val="0070C0"/>
              </a:buClr>
              <a:buSzPct val="80000"/>
              <a:buFont typeface="Wingdings" pitchFamily="2" charset="2"/>
              <a:buChar char="u"/>
            </a:pPr>
            <a:r>
              <a:rPr lang="en-US" sz="1800" dirty="0">
                <a:solidFill>
                  <a:schemeClr val="tx1"/>
                </a:solidFill>
              </a:rPr>
              <a:t>It uses </a:t>
            </a:r>
            <a:r>
              <a:rPr lang="en-US" sz="1800" b="1" dirty="0">
                <a:solidFill>
                  <a:schemeClr val="tx1"/>
                </a:solidFill>
              </a:rPr>
              <a:t>packet switching</a:t>
            </a:r>
            <a:r>
              <a:rPr lang="en-US" sz="1800" dirty="0">
                <a:solidFill>
                  <a:schemeClr val="tx1"/>
                </a:solidFill>
              </a:rPr>
              <a:t> technique to </a:t>
            </a:r>
            <a:r>
              <a:rPr lang="en-US" sz="1800" b="1" dirty="0">
                <a:solidFill>
                  <a:schemeClr val="tx1"/>
                </a:solidFill>
              </a:rPr>
              <a:t>receive, store</a:t>
            </a:r>
            <a:r>
              <a:rPr lang="en-US" sz="1800" dirty="0">
                <a:solidFill>
                  <a:schemeClr val="tx1"/>
                </a:solidFill>
              </a:rPr>
              <a:t> and </a:t>
            </a:r>
            <a:r>
              <a:rPr lang="en-US" sz="1800" b="1" dirty="0">
                <a:solidFill>
                  <a:schemeClr val="tx1"/>
                </a:solidFill>
              </a:rPr>
              <a:t>forward data packets</a:t>
            </a:r>
            <a:r>
              <a:rPr lang="en-US" sz="1800" dirty="0">
                <a:solidFill>
                  <a:schemeClr val="tx1"/>
                </a:solidFill>
              </a:rPr>
              <a:t> on the network. </a:t>
            </a:r>
          </a:p>
          <a:p>
            <a:pPr marL="342900" indent="-342900" algn="l">
              <a:buClr>
                <a:srgbClr val="0070C0"/>
              </a:buClr>
              <a:buSzPct val="80000"/>
              <a:buFont typeface="Wingdings" pitchFamily="2" charset="2"/>
              <a:buChar char="u"/>
            </a:pPr>
            <a:r>
              <a:rPr lang="en-US" sz="1800" dirty="0">
                <a:solidFill>
                  <a:schemeClr val="tx1"/>
                </a:solidFill>
              </a:rPr>
              <a:t>The switch maintains a list of network addresses of all the devices connected to it.</a:t>
            </a:r>
          </a:p>
        </p:txBody>
      </p:sp>
      <p:sp>
        <p:nvSpPr>
          <p:cNvPr id="4" name="標題 1"/>
          <p:cNvSpPr txBox="1">
            <a:spLocks/>
          </p:cNvSpPr>
          <p:nvPr/>
        </p:nvSpPr>
        <p:spPr>
          <a:xfrm>
            <a:off x="0" y="764704"/>
            <a:ext cx="9144000" cy="398616"/>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vert="horz" lIns="91440" tIns="45720" rIns="91440" bIns="45720" rtlCol="0" anchor="ctr">
            <a:normAutofit fontScale="92500"/>
          </a:bodyPr>
          <a:lstStyle/>
          <a:p>
            <a:pPr marL="0" lvl="1"/>
            <a:r>
              <a:rPr lang="en-US" sz="1600" dirty="0">
                <a:hlinkClick r:id="rId2"/>
              </a:rPr>
              <a:t>https://www.tutorialspoint.com/communication_technologies/communication_technologies_network_devices.htm</a:t>
            </a:r>
            <a:endParaRPr lang="en-US" sz="1600" dirty="0"/>
          </a:p>
        </p:txBody>
      </p:sp>
      <p:sp>
        <p:nvSpPr>
          <p:cNvPr id="5" name="日期版面配置區 4"/>
          <p:cNvSpPr>
            <a:spLocks noGrp="1"/>
          </p:cNvSpPr>
          <p:nvPr>
            <p:ph type="dt" sz="half" idx="10"/>
          </p:nvPr>
        </p:nvSpPr>
        <p:spPr>
          <a:xfrm>
            <a:off x="457200" y="6356350"/>
            <a:ext cx="2133600" cy="404246"/>
          </a:xfrm>
        </p:spPr>
        <p:txBody>
          <a:bodyPr/>
          <a:lstStyle/>
          <a:p>
            <a:fld id="{A4F910E6-8D00-4BAF-8C48-9688E0B449D3}" type="datetime1">
              <a:rPr lang="zh-TW" altLang="en-US" smtClean="0"/>
              <a:pPr/>
              <a:t>2020/3/27</a:t>
            </a:fld>
            <a:endParaRPr lang="zh-TW" altLang="en-US"/>
          </a:p>
        </p:txBody>
      </p:sp>
      <p:sp>
        <p:nvSpPr>
          <p:cNvPr id="6" name="投影片編號版面配置區 5"/>
          <p:cNvSpPr>
            <a:spLocks noGrp="1"/>
          </p:cNvSpPr>
          <p:nvPr>
            <p:ph type="sldNum" sz="quarter" idx="12"/>
          </p:nvPr>
        </p:nvSpPr>
        <p:spPr>
          <a:xfrm>
            <a:off x="6553200" y="6356350"/>
            <a:ext cx="2133600" cy="404246"/>
          </a:xfrm>
        </p:spPr>
        <p:txBody>
          <a:bodyPr/>
          <a:lstStyle/>
          <a:p>
            <a:fld id="{E4D7E63D-91F2-4366-A2C4-1B00C9E2590E}" type="slidenum">
              <a:rPr lang="zh-TW" altLang="en-US" smtClean="0"/>
              <a:pPr/>
              <a:t>9</a:t>
            </a:fld>
            <a:endParaRPr lang="zh-TW" altLang="en-US"/>
          </a:p>
        </p:txBody>
      </p:sp>
      <p:pic>
        <p:nvPicPr>
          <p:cNvPr id="7170" name="Picture 2" descr="Switches">
            <a:extLst>
              <a:ext uri="{FF2B5EF4-FFF2-40B4-BE49-F238E27FC236}">
                <a16:creationId xmlns:a16="http://schemas.microsoft.com/office/drawing/2014/main" id="{CB27BC75-392B-47FF-847A-52FF75F8F2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9180" y="3468216"/>
            <a:ext cx="3937620" cy="2625080"/>
          </a:xfrm>
          <a:prstGeom prst="rect">
            <a:avLst/>
          </a:prstGeom>
          <a:noFill/>
          <a:ln>
            <a:solidFill>
              <a:srgbClr val="C00000"/>
            </a:solidFill>
          </a:ln>
          <a:extLst>
            <a:ext uri="{909E8E84-426E-40DD-AFC4-6F175D3DCCD1}">
              <a14:hiddenFill xmlns:a14="http://schemas.microsoft.com/office/drawing/2010/main">
                <a:solidFill>
                  <a:srgbClr val="FFFFFF"/>
                </a:solidFill>
              </a14:hiddenFill>
            </a:ext>
          </a:extLst>
        </p:spPr>
      </p:pic>
      <p:sp>
        <p:nvSpPr>
          <p:cNvPr id="8" name="副標題 2">
            <a:extLst>
              <a:ext uri="{FF2B5EF4-FFF2-40B4-BE49-F238E27FC236}">
                <a16:creationId xmlns:a16="http://schemas.microsoft.com/office/drawing/2014/main" id="{E5A54E2A-EE0F-4530-BF1A-A63E03B162F4}"/>
              </a:ext>
            </a:extLst>
          </p:cNvPr>
          <p:cNvSpPr txBox="1">
            <a:spLocks/>
          </p:cNvSpPr>
          <p:nvPr/>
        </p:nvSpPr>
        <p:spPr>
          <a:xfrm>
            <a:off x="449985" y="3475553"/>
            <a:ext cx="4122015" cy="2185695"/>
          </a:xfrm>
          <a:prstGeom prst="rect">
            <a:avLst/>
          </a:prstGeom>
          <a:ln>
            <a:solidFill>
              <a:srgbClr val="C00000"/>
            </a:solidFill>
          </a:ln>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l">
              <a:buClr>
                <a:srgbClr val="0070C0"/>
              </a:buClr>
              <a:buSzPct val="80000"/>
              <a:buFont typeface="Wingdings" pitchFamily="2" charset="2"/>
              <a:buChar char="u"/>
            </a:pPr>
            <a:r>
              <a:rPr lang="en-US" sz="1800" dirty="0">
                <a:solidFill>
                  <a:schemeClr val="tx1"/>
                </a:solidFill>
              </a:rPr>
              <a:t>On receiving a packet, it checks the destination address and transmits the packet to the correct port. </a:t>
            </a:r>
          </a:p>
          <a:p>
            <a:pPr marL="342900" indent="-342900" algn="l">
              <a:buClr>
                <a:srgbClr val="0070C0"/>
              </a:buClr>
              <a:buSzPct val="80000"/>
              <a:buFont typeface="Wingdings" pitchFamily="2" charset="2"/>
              <a:buChar char="u"/>
            </a:pPr>
            <a:r>
              <a:rPr lang="en-US" sz="1800" dirty="0">
                <a:solidFill>
                  <a:schemeClr val="tx1"/>
                </a:solidFill>
              </a:rPr>
              <a:t>Before forwarding, the packets are checked for collision and other network errors. The data is transmitted in full duplex mode</a:t>
            </a:r>
          </a:p>
        </p:txBody>
      </p:sp>
    </p:spTree>
    <p:extLst>
      <p:ext uri="{BB962C8B-B14F-4D97-AF65-F5344CB8AC3E}">
        <p14:creationId xmlns:p14="http://schemas.microsoft.com/office/powerpoint/2010/main" val="3489920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1"/>
            <a:ext cx="9144000" cy="764704"/>
          </a:xfr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p:spPr>
        <p:txBody>
          <a:bodyPr/>
          <a:lstStyle/>
          <a:p>
            <a:pPr algn="l"/>
            <a:r>
              <a:rPr lang="en-US" altLang="zh-TW" b="1" dirty="0">
                <a:solidFill>
                  <a:srgbClr val="FFFF00"/>
                </a:solidFill>
              </a:rPr>
              <a:t>7 Network Device</a:t>
            </a:r>
            <a:endParaRPr lang="zh-TW" altLang="en-US" b="1" dirty="0">
              <a:solidFill>
                <a:srgbClr val="FFFF00"/>
              </a:solidFill>
            </a:endParaRPr>
          </a:p>
        </p:txBody>
      </p:sp>
      <p:sp>
        <p:nvSpPr>
          <p:cNvPr id="3" name="副標題 2"/>
          <p:cNvSpPr>
            <a:spLocks noGrp="1"/>
          </p:cNvSpPr>
          <p:nvPr>
            <p:ph type="subTitle" idx="1"/>
          </p:nvPr>
        </p:nvSpPr>
        <p:spPr>
          <a:xfrm>
            <a:off x="367862" y="1412778"/>
            <a:ext cx="8318938" cy="2160238"/>
          </a:xfrm>
          <a:ln>
            <a:solidFill>
              <a:srgbClr val="C00000"/>
            </a:solidFill>
          </a:ln>
        </p:spPr>
        <p:txBody>
          <a:bodyPr>
            <a:noAutofit/>
          </a:bodyPr>
          <a:lstStyle/>
          <a:p>
            <a:pPr marL="342900" indent="-342900" algn="l">
              <a:buClr>
                <a:srgbClr val="0070C0"/>
              </a:buClr>
              <a:buSzPct val="80000"/>
              <a:buFont typeface="Wingdings" pitchFamily="2" charset="2"/>
              <a:buChar char="u"/>
            </a:pPr>
            <a:r>
              <a:rPr lang="en-US" sz="1800" dirty="0">
                <a:solidFill>
                  <a:schemeClr val="tx1"/>
                </a:solidFill>
              </a:rPr>
              <a:t>Data transmission speed in switches can be double that of other network devices like hubs used for networking. </a:t>
            </a:r>
          </a:p>
          <a:p>
            <a:pPr marL="342900" indent="-342900" algn="l">
              <a:buClr>
                <a:srgbClr val="0070C0"/>
              </a:buClr>
              <a:buSzPct val="80000"/>
              <a:buFont typeface="Wingdings" pitchFamily="2" charset="2"/>
              <a:buChar char="u"/>
            </a:pPr>
            <a:r>
              <a:rPr lang="en-US" sz="1800" dirty="0">
                <a:solidFill>
                  <a:schemeClr val="tx1"/>
                </a:solidFill>
              </a:rPr>
              <a:t>This is because switch shares its maximum speed with all the devices connected to it. </a:t>
            </a:r>
          </a:p>
          <a:p>
            <a:pPr marL="342900" indent="-342900" algn="l">
              <a:buClr>
                <a:srgbClr val="0070C0"/>
              </a:buClr>
              <a:buSzPct val="80000"/>
              <a:buFont typeface="Wingdings" pitchFamily="2" charset="2"/>
              <a:buChar char="u"/>
            </a:pPr>
            <a:r>
              <a:rPr lang="en-US" sz="1800" dirty="0">
                <a:solidFill>
                  <a:schemeClr val="tx1"/>
                </a:solidFill>
              </a:rPr>
              <a:t>This helps in maintaining network speed even during high traffic. </a:t>
            </a:r>
          </a:p>
          <a:p>
            <a:pPr marL="342900" indent="-342900" algn="l">
              <a:buClr>
                <a:srgbClr val="0070C0"/>
              </a:buClr>
              <a:buSzPct val="80000"/>
              <a:buFont typeface="Wingdings" pitchFamily="2" charset="2"/>
              <a:buChar char="u"/>
            </a:pPr>
            <a:r>
              <a:rPr lang="en-US" sz="1800" dirty="0">
                <a:solidFill>
                  <a:schemeClr val="tx1"/>
                </a:solidFill>
              </a:rPr>
              <a:t>In fact, higher data speeds are achieved on networks through use of multiple switches.</a:t>
            </a:r>
          </a:p>
        </p:txBody>
      </p:sp>
      <p:sp>
        <p:nvSpPr>
          <p:cNvPr id="4" name="標題 1"/>
          <p:cNvSpPr txBox="1">
            <a:spLocks/>
          </p:cNvSpPr>
          <p:nvPr/>
        </p:nvSpPr>
        <p:spPr>
          <a:xfrm>
            <a:off x="0" y="764704"/>
            <a:ext cx="9144000" cy="398616"/>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vert="horz" lIns="91440" tIns="45720" rIns="91440" bIns="45720" rtlCol="0" anchor="ctr">
            <a:normAutofit fontScale="92500"/>
          </a:bodyPr>
          <a:lstStyle/>
          <a:p>
            <a:pPr marL="0" lvl="1"/>
            <a:r>
              <a:rPr lang="en-US" sz="1600" dirty="0">
                <a:hlinkClick r:id="rId2"/>
              </a:rPr>
              <a:t>https://www.tutorialspoint.com/communication_technologies/communication_technologies_network_devices.htm</a:t>
            </a:r>
            <a:endParaRPr lang="en-US" sz="1600" dirty="0"/>
          </a:p>
        </p:txBody>
      </p:sp>
      <p:sp>
        <p:nvSpPr>
          <p:cNvPr id="5" name="日期版面配置區 4"/>
          <p:cNvSpPr>
            <a:spLocks noGrp="1"/>
          </p:cNvSpPr>
          <p:nvPr>
            <p:ph type="dt" sz="half" idx="10"/>
          </p:nvPr>
        </p:nvSpPr>
        <p:spPr>
          <a:xfrm>
            <a:off x="457200" y="6356350"/>
            <a:ext cx="2133600" cy="404246"/>
          </a:xfrm>
        </p:spPr>
        <p:txBody>
          <a:bodyPr/>
          <a:lstStyle/>
          <a:p>
            <a:fld id="{A4F910E6-8D00-4BAF-8C48-9688E0B449D3}" type="datetime1">
              <a:rPr lang="zh-TW" altLang="en-US" smtClean="0"/>
              <a:pPr/>
              <a:t>2020/3/27</a:t>
            </a:fld>
            <a:endParaRPr lang="zh-TW" altLang="en-US"/>
          </a:p>
        </p:txBody>
      </p:sp>
      <p:sp>
        <p:nvSpPr>
          <p:cNvPr id="6" name="投影片編號版面配置區 5"/>
          <p:cNvSpPr>
            <a:spLocks noGrp="1"/>
          </p:cNvSpPr>
          <p:nvPr>
            <p:ph type="sldNum" sz="quarter" idx="12"/>
          </p:nvPr>
        </p:nvSpPr>
        <p:spPr>
          <a:xfrm>
            <a:off x="6553200" y="6356350"/>
            <a:ext cx="2133600" cy="404246"/>
          </a:xfrm>
        </p:spPr>
        <p:txBody>
          <a:bodyPr/>
          <a:lstStyle/>
          <a:p>
            <a:fld id="{E4D7E63D-91F2-4366-A2C4-1B00C9E2590E}" type="slidenum">
              <a:rPr lang="zh-TW" altLang="en-US" smtClean="0"/>
              <a:pPr/>
              <a:t>10</a:t>
            </a:fld>
            <a:endParaRPr lang="zh-TW" altLang="en-US"/>
          </a:p>
        </p:txBody>
      </p:sp>
    </p:spTree>
    <p:extLst>
      <p:ext uri="{BB962C8B-B14F-4D97-AF65-F5344CB8AC3E}">
        <p14:creationId xmlns:p14="http://schemas.microsoft.com/office/powerpoint/2010/main" val="550281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1"/>
            <a:ext cx="9144000" cy="764704"/>
          </a:xfr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p:spPr>
        <p:txBody>
          <a:bodyPr/>
          <a:lstStyle/>
          <a:p>
            <a:pPr algn="l"/>
            <a:r>
              <a:rPr lang="en-US" altLang="zh-TW" b="1" dirty="0">
                <a:solidFill>
                  <a:srgbClr val="FFFF00"/>
                </a:solidFill>
              </a:rPr>
              <a:t>7 Network Device</a:t>
            </a:r>
            <a:endParaRPr lang="zh-TW" altLang="en-US" b="1" dirty="0">
              <a:solidFill>
                <a:srgbClr val="FFFF00"/>
              </a:solidFill>
            </a:endParaRPr>
          </a:p>
        </p:txBody>
      </p:sp>
      <p:sp>
        <p:nvSpPr>
          <p:cNvPr id="3" name="副標題 2"/>
          <p:cNvSpPr>
            <a:spLocks noGrp="1"/>
          </p:cNvSpPr>
          <p:nvPr>
            <p:ph type="subTitle" idx="1"/>
          </p:nvPr>
        </p:nvSpPr>
        <p:spPr>
          <a:xfrm>
            <a:off x="367862" y="1412777"/>
            <a:ext cx="8318938" cy="2802499"/>
          </a:xfrm>
          <a:ln>
            <a:solidFill>
              <a:srgbClr val="C00000"/>
            </a:solidFill>
          </a:ln>
        </p:spPr>
        <p:txBody>
          <a:bodyPr>
            <a:noAutofit/>
          </a:bodyPr>
          <a:lstStyle/>
          <a:p>
            <a:pPr marL="342900" indent="-342900" algn="l">
              <a:buClr>
                <a:srgbClr val="0070C0"/>
              </a:buClr>
              <a:buSzPct val="80000"/>
              <a:buFont typeface="Wingdings" pitchFamily="2" charset="2"/>
              <a:buChar char="u"/>
            </a:pPr>
            <a:r>
              <a:rPr lang="en-US" sz="1800" b="1" dirty="0">
                <a:solidFill>
                  <a:schemeClr val="tx1"/>
                </a:solidFill>
              </a:rPr>
              <a:t>Gateway</a:t>
            </a:r>
          </a:p>
          <a:p>
            <a:pPr marL="342900" indent="-342900" algn="l">
              <a:buClr>
                <a:srgbClr val="0070C0"/>
              </a:buClr>
              <a:buSzPct val="80000"/>
              <a:buFont typeface="Wingdings" pitchFamily="2" charset="2"/>
              <a:buChar char="u"/>
            </a:pPr>
            <a:r>
              <a:rPr lang="en-US" sz="1800" b="1" dirty="0">
                <a:solidFill>
                  <a:schemeClr val="tx1"/>
                </a:solidFill>
              </a:rPr>
              <a:t>Gateway</a:t>
            </a:r>
            <a:r>
              <a:rPr lang="en-US" sz="1800" dirty="0">
                <a:solidFill>
                  <a:schemeClr val="tx1"/>
                </a:solidFill>
              </a:rPr>
              <a:t> is a network device used to connect two or more dissimilar networks. </a:t>
            </a:r>
          </a:p>
          <a:p>
            <a:pPr marL="342900" indent="-342900" algn="l">
              <a:buClr>
                <a:srgbClr val="0070C0"/>
              </a:buClr>
              <a:buSzPct val="80000"/>
              <a:buFont typeface="Wingdings" pitchFamily="2" charset="2"/>
              <a:buChar char="u"/>
            </a:pPr>
            <a:r>
              <a:rPr lang="en-US" sz="1800" dirty="0">
                <a:solidFill>
                  <a:schemeClr val="tx1"/>
                </a:solidFill>
              </a:rPr>
              <a:t>In networking parlance, networks that use different protocols are </a:t>
            </a:r>
            <a:r>
              <a:rPr lang="en-US" sz="1800" b="1" dirty="0">
                <a:solidFill>
                  <a:schemeClr val="tx1"/>
                </a:solidFill>
              </a:rPr>
              <a:t>dissimilar networks</a:t>
            </a:r>
            <a:r>
              <a:rPr lang="en-US" sz="1800" dirty="0">
                <a:solidFill>
                  <a:schemeClr val="tx1"/>
                </a:solidFill>
              </a:rPr>
              <a:t>.</a:t>
            </a:r>
          </a:p>
          <a:p>
            <a:pPr marL="342900" indent="-342900" algn="l">
              <a:buClr>
                <a:srgbClr val="0070C0"/>
              </a:buClr>
              <a:buSzPct val="80000"/>
              <a:buFont typeface="Wingdings" pitchFamily="2" charset="2"/>
              <a:buChar char="u"/>
            </a:pPr>
            <a:r>
              <a:rPr lang="en-US" sz="1800" dirty="0">
                <a:solidFill>
                  <a:schemeClr val="tx1"/>
                </a:solidFill>
              </a:rPr>
              <a:t>A gateway usually is a computer with multiple </a:t>
            </a:r>
            <a:r>
              <a:rPr lang="en-US" sz="1800" b="1" dirty="0">
                <a:solidFill>
                  <a:schemeClr val="tx1"/>
                </a:solidFill>
              </a:rPr>
              <a:t>NICs</a:t>
            </a:r>
            <a:r>
              <a:rPr lang="en-US" sz="1800" dirty="0">
                <a:solidFill>
                  <a:schemeClr val="tx1"/>
                </a:solidFill>
              </a:rPr>
              <a:t> connected to different networks. </a:t>
            </a:r>
          </a:p>
          <a:p>
            <a:pPr marL="342900" indent="-342900" algn="l">
              <a:buClr>
                <a:srgbClr val="0070C0"/>
              </a:buClr>
              <a:buSzPct val="80000"/>
              <a:buFont typeface="Wingdings" pitchFamily="2" charset="2"/>
              <a:buChar char="u"/>
            </a:pPr>
            <a:r>
              <a:rPr lang="en-US" sz="1800" dirty="0">
                <a:solidFill>
                  <a:schemeClr val="tx1"/>
                </a:solidFill>
              </a:rPr>
              <a:t>A gateway can also be configured completely using software.</a:t>
            </a:r>
          </a:p>
          <a:p>
            <a:pPr marL="342900" indent="-342900" algn="l">
              <a:buClr>
                <a:srgbClr val="0070C0"/>
              </a:buClr>
              <a:buSzPct val="80000"/>
              <a:buFont typeface="Wingdings" pitchFamily="2" charset="2"/>
              <a:buChar char="u"/>
            </a:pPr>
            <a:r>
              <a:rPr lang="en-US" sz="1800" dirty="0">
                <a:solidFill>
                  <a:schemeClr val="tx1"/>
                </a:solidFill>
              </a:rPr>
              <a:t>As networks connect to a different network through gateways, these gateways are usually hosts or end points of the network.</a:t>
            </a:r>
          </a:p>
          <a:p>
            <a:pPr marL="342900" indent="-342900" algn="l">
              <a:buClr>
                <a:srgbClr val="0070C0"/>
              </a:buClr>
              <a:buSzPct val="80000"/>
              <a:buFont typeface="Wingdings" pitchFamily="2" charset="2"/>
              <a:buChar char="u"/>
            </a:pPr>
            <a:endParaRPr lang="en-US" sz="1800" dirty="0">
              <a:solidFill>
                <a:schemeClr val="tx1"/>
              </a:solidFill>
            </a:endParaRPr>
          </a:p>
        </p:txBody>
      </p:sp>
      <p:sp>
        <p:nvSpPr>
          <p:cNvPr id="4" name="標題 1"/>
          <p:cNvSpPr txBox="1">
            <a:spLocks/>
          </p:cNvSpPr>
          <p:nvPr/>
        </p:nvSpPr>
        <p:spPr>
          <a:xfrm>
            <a:off x="0" y="764704"/>
            <a:ext cx="9144000" cy="398616"/>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vert="horz" lIns="91440" tIns="45720" rIns="91440" bIns="45720" rtlCol="0" anchor="ctr">
            <a:normAutofit fontScale="92500"/>
          </a:bodyPr>
          <a:lstStyle/>
          <a:p>
            <a:pPr marL="0" lvl="1"/>
            <a:r>
              <a:rPr lang="en-US" sz="1600" dirty="0">
                <a:hlinkClick r:id="rId2"/>
              </a:rPr>
              <a:t>https://www.tutorialspoint.com/communication_technologies/communication_technologies_network_devices.htm</a:t>
            </a:r>
            <a:endParaRPr lang="en-US" sz="1600" dirty="0"/>
          </a:p>
        </p:txBody>
      </p:sp>
      <p:sp>
        <p:nvSpPr>
          <p:cNvPr id="5" name="日期版面配置區 4"/>
          <p:cNvSpPr>
            <a:spLocks noGrp="1"/>
          </p:cNvSpPr>
          <p:nvPr>
            <p:ph type="dt" sz="half" idx="10"/>
          </p:nvPr>
        </p:nvSpPr>
        <p:spPr>
          <a:xfrm>
            <a:off x="457200" y="6356350"/>
            <a:ext cx="2133600" cy="404246"/>
          </a:xfrm>
        </p:spPr>
        <p:txBody>
          <a:bodyPr/>
          <a:lstStyle/>
          <a:p>
            <a:fld id="{A4F910E6-8D00-4BAF-8C48-9688E0B449D3}" type="datetime1">
              <a:rPr lang="zh-TW" altLang="en-US" smtClean="0"/>
              <a:pPr/>
              <a:t>2020/3/27</a:t>
            </a:fld>
            <a:endParaRPr lang="zh-TW" altLang="en-US"/>
          </a:p>
        </p:txBody>
      </p:sp>
      <p:sp>
        <p:nvSpPr>
          <p:cNvPr id="6" name="投影片編號版面配置區 5"/>
          <p:cNvSpPr>
            <a:spLocks noGrp="1"/>
          </p:cNvSpPr>
          <p:nvPr>
            <p:ph type="sldNum" sz="quarter" idx="12"/>
          </p:nvPr>
        </p:nvSpPr>
        <p:spPr>
          <a:xfrm>
            <a:off x="6553200" y="6356350"/>
            <a:ext cx="2133600" cy="404246"/>
          </a:xfrm>
        </p:spPr>
        <p:txBody>
          <a:bodyPr/>
          <a:lstStyle/>
          <a:p>
            <a:fld id="{E4D7E63D-91F2-4366-A2C4-1B00C9E2590E}" type="slidenum">
              <a:rPr lang="zh-TW" altLang="en-US" smtClean="0"/>
              <a:pPr/>
              <a:t>11</a:t>
            </a:fld>
            <a:endParaRPr lang="zh-TW" altLang="en-US"/>
          </a:p>
        </p:txBody>
      </p:sp>
      <p:pic>
        <p:nvPicPr>
          <p:cNvPr id="9218" name="Picture 2" descr="Gateway">
            <a:extLst>
              <a:ext uri="{FF2B5EF4-FFF2-40B4-BE49-F238E27FC236}">
                <a16:creationId xmlns:a16="http://schemas.microsoft.com/office/drawing/2014/main" id="{8D7DAC51-B9F6-486D-BA72-1548E0DA5B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3929" y="4334238"/>
            <a:ext cx="3172871" cy="2194569"/>
          </a:xfrm>
          <a:prstGeom prst="rect">
            <a:avLst/>
          </a:prstGeom>
          <a:noFill/>
          <a:ln>
            <a:solidFill>
              <a:srgbClr val="C00000"/>
            </a:solidFill>
          </a:ln>
          <a:extLst>
            <a:ext uri="{909E8E84-426E-40DD-AFC4-6F175D3DCCD1}">
              <a14:hiddenFill xmlns:a14="http://schemas.microsoft.com/office/drawing/2010/main">
                <a:solidFill>
                  <a:srgbClr val="FFFFFF"/>
                </a:solidFill>
              </a14:hiddenFill>
            </a:ext>
          </a:extLst>
        </p:spPr>
      </p:pic>
      <p:sp>
        <p:nvSpPr>
          <p:cNvPr id="8" name="副標題 2">
            <a:extLst>
              <a:ext uri="{FF2B5EF4-FFF2-40B4-BE49-F238E27FC236}">
                <a16:creationId xmlns:a16="http://schemas.microsoft.com/office/drawing/2014/main" id="{161328FF-C56B-4F80-9903-33C5A135FFE3}"/>
              </a:ext>
            </a:extLst>
          </p:cNvPr>
          <p:cNvSpPr txBox="1">
            <a:spLocks/>
          </p:cNvSpPr>
          <p:nvPr/>
        </p:nvSpPr>
        <p:spPr>
          <a:xfrm>
            <a:off x="391016" y="4334239"/>
            <a:ext cx="4901063" cy="1543034"/>
          </a:xfrm>
          <a:prstGeom prst="rect">
            <a:avLst/>
          </a:prstGeom>
          <a:ln>
            <a:solidFill>
              <a:srgbClr val="C00000"/>
            </a:solidFill>
          </a:ln>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l">
              <a:buClr>
                <a:srgbClr val="0070C0"/>
              </a:buClr>
              <a:buSzPct val="80000"/>
              <a:buFont typeface="Wingdings" pitchFamily="2" charset="2"/>
              <a:buChar char="u"/>
            </a:pPr>
            <a:r>
              <a:rPr lang="en-US" sz="1800" b="1" dirty="0">
                <a:solidFill>
                  <a:schemeClr val="tx1"/>
                </a:solidFill>
              </a:rPr>
              <a:t>Gateway</a:t>
            </a:r>
            <a:r>
              <a:rPr lang="en-US" sz="1800" dirty="0">
                <a:solidFill>
                  <a:schemeClr val="tx1"/>
                </a:solidFill>
              </a:rPr>
              <a:t> uses </a:t>
            </a:r>
            <a:r>
              <a:rPr lang="en-US" sz="1800" b="1" dirty="0">
                <a:solidFill>
                  <a:schemeClr val="tx1"/>
                </a:solidFill>
              </a:rPr>
              <a:t>packet switching</a:t>
            </a:r>
            <a:r>
              <a:rPr lang="en-US" sz="1800" dirty="0">
                <a:solidFill>
                  <a:schemeClr val="tx1"/>
                </a:solidFill>
              </a:rPr>
              <a:t> technique to transmit data from one network to another. </a:t>
            </a:r>
          </a:p>
          <a:p>
            <a:pPr marL="342900" indent="-342900" algn="l">
              <a:buClr>
                <a:srgbClr val="0070C0"/>
              </a:buClr>
              <a:buSzPct val="80000"/>
              <a:buFont typeface="Wingdings" pitchFamily="2" charset="2"/>
              <a:buChar char="u"/>
            </a:pPr>
            <a:r>
              <a:rPr lang="en-US" sz="1800" dirty="0">
                <a:solidFill>
                  <a:schemeClr val="tx1"/>
                </a:solidFill>
              </a:rPr>
              <a:t>In this way it is similar to a </a:t>
            </a:r>
            <a:r>
              <a:rPr lang="en-US" sz="1800" b="1" dirty="0">
                <a:solidFill>
                  <a:schemeClr val="tx1"/>
                </a:solidFill>
              </a:rPr>
              <a:t>router</a:t>
            </a:r>
            <a:r>
              <a:rPr lang="en-US" sz="1800" dirty="0">
                <a:solidFill>
                  <a:schemeClr val="tx1"/>
                </a:solidFill>
              </a:rPr>
              <a:t>, the only difference being router can transmit data only over networks that use same protocols.</a:t>
            </a:r>
          </a:p>
        </p:txBody>
      </p:sp>
    </p:spTree>
    <p:extLst>
      <p:ext uri="{BB962C8B-B14F-4D97-AF65-F5344CB8AC3E}">
        <p14:creationId xmlns:p14="http://schemas.microsoft.com/office/powerpoint/2010/main" val="31387463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1"/>
            <a:ext cx="9144000" cy="764704"/>
          </a:xfr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p:spPr>
        <p:txBody>
          <a:bodyPr/>
          <a:lstStyle/>
          <a:p>
            <a:pPr algn="l"/>
            <a:r>
              <a:rPr lang="en-US" altLang="zh-TW" b="1" dirty="0">
                <a:solidFill>
                  <a:srgbClr val="FFFF00"/>
                </a:solidFill>
              </a:rPr>
              <a:t>7 Network Device</a:t>
            </a:r>
            <a:endParaRPr lang="zh-TW" altLang="en-US" b="1" dirty="0">
              <a:solidFill>
                <a:srgbClr val="FFFF00"/>
              </a:solidFill>
            </a:endParaRPr>
          </a:p>
        </p:txBody>
      </p:sp>
      <p:sp>
        <p:nvSpPr>
          <p:cNvPr id="3" name="副標題 2"/>
          <p:cNvSpPr>
            <a:spLocks noGrp="1"/>
          </p:cNvSpPr>
          <p:nvPr>
            <p:ph type="subTitle" idx="1"/>
          </p:nvPr>
        </p:nvSpPr>
        <p:spPr>
          <a:xfrm>
            <a:off x="367862" y="1412777"/>
            <a:ext cx="8318938" cy="2592287"/>
          </a:xfrm>
          <a:ln>
            <a:solidFill>
              <a:srgbClr val="C00000"/>
            </a:solidFill>
          </a:ln>
        </p:spPr>
        <p:txBody>
          <a:bodyPr>
            <a:noAutofit/>
          </a:bodyPr>
          <a:lstStyle/>
          <a:p>
            <a:pPr marL="342900" indent="-342900" algn="l">
              <a:buClr>
                <a:srgbClr val="0070C0"/>
              </a:buClr>
              <a:buSzPct val="80000"/>
              <a:buFont typeface="Wingdings" pitchFamily="2" charset="2"/>
              <a:buChar char="u"/>
            </a:pPr>
            <a:r>
              <a:rPr lang="en-US" sz="1800" b="1" dirty="0">
                <a:solidFill>
                  <a:schemeClr val="tx1"/>
                </a:solidFill>
              </a:rPr>
              <a:t>Wi-Fi Card</a:t>
            </a:r>
          </a:p>
          <a:p>
            <a:pPr marL="342900" indent="-342900" algn="l">
              <a:buClr>
                <a:srgbClr val="0070C0"/>
              </a:buClr>
              <a:buSzPct val="80000"/>
              <a:buFont typeface="Wingdings" pitchFamily="2" charset="2"/>
              <a:buChar char="u"/>
            </a:pPr>
            <a:r>
              <a:rPr lang="en-US" sz="1800" b="1" dirty="0">
                <a:solidFill>
                  <a:schemeClr val="tx1"/>
                </a:solidFill>
              </a:rPr>
              <a:t>Wi-Fi</a:t>
            </a:r>
            <a:r>
              <a:rPr lang="en-US" sz="1800" dirty="0">
                <a:solidFill>
                  <a:schemeClr val="tx1"/>
                </a:solidFill>
              </a:rPr>
              <a:t> is the acronym for </a:t>
            </a:r>
            <a:r>
              <a:rPr lang="en-US" sz="1800" b="1" dirty="0">
                <a:solidFill>
                  <a:schemeClr val="tx1"/>
                </a:solidFill>
              </a:rPr>
              <a:t>wireless fidelity. </a:t>
            </a:r>
          </a:p>
          <a:p>
            <a:pPr marL="342900" indent="-342900" algn="l">
              <a:buClr>
                <a:srgbClr val="0070C0"/>
              </a:buClr>
              <a:buSzPct val="80000"/>
              <a:buFont typeface="Wingdings" pitchFamily="2" charset="2"/>
              <a:buChar char="u"/>
            </a:pPr>
            <a:r>
              <a:rPr lang="en-US" sz="1800" b="1" dirty="0">
                <a:solidFill>
                  <a:schemeClr val="tx1"/>
                </a:solidFill>
              </a:rPr>
              <a:t>Wi-Fi technology</a:t>
            </a:r>
            <a:r>
              <a:rPr lang="en-US" sz="1800" dirty="0">
                <a:solidFill>
                  <a:schemeClr val="tx1"/>
                </a:solidFill>
              </a:rPr>
              <a:t> is used to achieve </a:t>
            </a:r>
            <a:r>
              <a:rPr lang="en-US" sz="1800" b="1" dirty="0">
                <a:solidFill>
                  <a:schemeClr val="tx1"/>
                </a:solidFill>
              </a:rPr>
              <a:t>wireless connection</a:t>
            </a:r>
            <a:r>
              <a:rPr lang="en-US" sz="1800" dirty="0">
                <a:solidFill>
                  <a:schemeClr val="tx1"/>
                </a:solidFill>
              </a:rPr>
              <a:t> to any network. </a:t>
            </a:r>
          </a:p>
          <a:p>
            <a:pPr marL="342900" indent="-342900" algn="l">
              <a:buClr>
                <a:srgbClr val="0070C0"/>
              </a:buClr>
              <a:buSzPct val="80000"/>
              <a:buFont typeface="Wingdings" pitchFamily="2" charset="2"/>
              <a:buChar char="u"/>
            </a:pPr>
            <a:r>
              <a:rPr lang="en-US" sz="1800" b="1" dirty="0">
                <a:solidFill>
                  <a:schemeClr val="tx1"/>
                </a:solidFill>
              </a:rPr>
              <a:t>Wi-Fi card</a:t>
            </a:r>
            <a:r>
              <a:rPr lang="en-US" sz="1800" dirty="0">
                <a:solidFill>
                  <a:schemeClr val="tx1"/>
                </a:solidFill>
              </a:rPr>
              <a:t> is a </a:t>
            </a:r>
            <a:r>
              <a:rPr lang="en-US" sz="1800" b="1" dirty="0">
                <a:solidFill>
                  <a:schemeClr val="tx1"/>
                </a:solidFill>
              </a:rPr>
              <a:t>card</a:t>
            </a:r>
            <a:r>
              <a:rPr lang="en-US" sz="1800" dirty="0">
                <a:solidFill>
                  <a:schemeClr val="tx1"/>
                </a:solidFill>
              </a:rPr>
              <a:t> used to connect any device to the local network wirelessly.</a:t>
            </a:r>
          </a:p>
          <a:p>
            <a:pPr marL="342900" indent="-342900" algn="l">
              <a:buClr>
                <a:srgbClr val="0070C0"/>
              </a:buClr>
              <a:buSzPct val="80000"/>
              <a:buFont typeface="Wingdings" pitchFamily="2" charset="2"/>
              <a:buChar char="u"/>
            </a:pPr>
            <a:r>
              <a:rPr lang="en-US" sz="1800" dirty="0">
                <a:solidFill>
                  <a:schemeClr val="tx1"/>
                </a:solidFill>
              </a:rPr>
              <a:t>The physical area of the network which provides internet access through Wi-Fi is called </a:t>
            </a:r>
            <a:r>
              <a:rPr lang="en-US" sz="1800" b="1" dirty="0">
                <a:solidFill>
                  <a:schemeClr val="tx1"/>
                </a:solidFill>
              </a:rPr>
              <a:t>Wi-Fi hotspot</a:t>
            </a:r>
            <a:r>
              <a:rPr lang="en-US" sz="1800" dirty="0">
                <a:solidFill>
                  <a:schemeClr val="tx1"/>
                </a:solidFill>
              </a:rPr>
              <a:t>.</a:t>
            </a:r>
          </a:p>
          <a:p>
            <a:pPr marL="342900" indent="-342900" algn="l">
              <a:buClr>
                <a:srgbClr val="0070C0"/>
              </a:buClr>
              <a:buSzPct val="80000"/>
              <a:buFont typeface="Wingdings" pitchFamily="2" charset="2"/>
              <a:buChar char="u"/>
            </a:pPr>
            <a:r>
              <a:rPr lang="en-US" sz="1800" dirty="0">
                <a:solidFill>
                  <a:schemeClr val="tx1"/>
                </a:solidFill>
              </a:rPr>
              <a:t>Hotspots can be set up at home, office or any public space. </a:t>
            </a:r>
          </a:p>
          <a:p>
            <a:pPr marL="342900" indent="-342900" algn="l">
              <a:buClr>
                <a:srgbClr val="0070C0"/>
              </a:buClr>
              <a:buSzPct val="80000"/>
              <a:buFont typeface="Wingdings" pitchFamily="2" charset="2"/>
              <a:buChar char="u"/>
            </a:pPr>
            <a:r>
              <a:rPr lang="en-US" sz="1800" dirty="0">
                <a:solidFill>
                  <a:schemeClr val="tx1"/>
                </a:solidFill>
              </a:rPr>
              <a:t>Hotspots themselves are connected to the network through wires.</a:t>
            </a:r>
          </a:p>
          <a:p>
            <a:pPr algn="l"/>
            <a:br>
              <a:rPr lang="en-US" sz="1800" dirty="0">
                <a:solidFill>
                  <a:schemeClr val="tx1"/>
                </a:solidFill>
              </a:rPr>
            </a:br>
            <a:endParaRPr lang="en-US" sz="1800" dirty="0">
              <a:solidFill>
                <a:schemeClr val="tx1"/>
              </a:solidFill>
            </a:endParaRPr>
          </a:p>
        </p:txBody>
      </p:sp>
      <p:sp>
        <p:nvSpPr>
          <p:cNvPr id="4" name="標題 1"/>
          <p:cNvSpPr txBox="1">
            <a:spLocks/>
          </p:cNvSpPr>
          <p:nvPr/>
        </p:nvSpPr>
        <p:spPr>
          <a:xfrm>
            <a:off x="0" y="764704"/>
            <a:ext cx="9144000" cy="398616"/>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vert="horz" lIns="91440" tIns="45720" rIns="91440" bIns="45720" rtlCol="0" anchor="ctr">
            <a:normAutofit fontScale="92500"/>
          </a:bodyPr>
          <a:lstStyle/>
          <a:p>
            <a:pPr marL="0" lvl="1"/>
            <a:r>
              <a:rPr lang="en-US" sz="1600" dirty="0">
                <a:hlinkClick r:id="rId2"/>
              </a:rPr>
              <a:t>https://www.tutorialspoint.com/communication_technologies/communication_technologies_network_devices.htm</a:t>
            </a:r>
            <a:endParaRPr lang="en-US" sz="1600" dirty="0"/>
          </a:p>
        </p:txBody>
      </p:sp>
      <p:sp>
        <p:nvSpPr>
          <p:cNvPr id="5" name="日期版面配置區 4"/>
          <p:cNvSpPr>
            <a:spLocks noGrp="1"/>
          </p:cNvSpPr>
          <p:nvPr>
            <p:ph type="dt" sz="half" idx="10"/>
          </p:nvPr>
        </p:nvSpPr>
        <p:spPr>
          <a:xfrm>
            <a:off x="457200" y="6356350"/>
            <a:ext cx="2133600" cy="404246"/>
          </a:xfrm>
        </p:spPr>
        <p:txBody>
          <a:bodyPr/>
          <a:lstStyle/>
          <a:p>
            <a:fld id="{A4F910E6-8D00-4BAF-8C48-9688E0B449D3}" type="datetime1">
              <a:rPr lang="zh-TW" altLang="en-US" smtClean="0"/>
              <a:pPr/>
              <a:t>2020/3/27</a:t>
            </a:fld>
            <a:endParaRPr lang="zh-TW" altLang="en-US"/>
          </a:p>
        </p:txBody>
      </p:sp>
      <p:sp>
        <p:nvSpPr>
          <p:cNvPr id="6" name="投影片編號版面配置區 5"/>
          <p:cNvSpPr>
            <a:spLocks noGrp="1"/>
          </p:cNvSpPr>
          <p:nvPr>
            <p:ph type="sldNum" sz="quarter" idx="12"/>
          </p:nvPr>
        </p:nvSpPr>
        <p:spPr>
          <a:xfrm>
            <a:off x="6553200" y="6356350"/>
            <a:ext cx="2133600" cy="404246"/>
          </a:xfrm>
        </p:spPr>
        <p:txBody>
          <a:bodyPr/>
          <a:lstStyle/>
          <a:p>
            <a:fld id="{E4D7E63D-91F2-4366-A2C4-1B00C9E2590E}" type="slidenum">
              <a:rPr lang="zh-TW" altLang="en-US" smtClean="0"/>
              <a:pPr/>
              <a:t>12</a:t>
            </a:fld>
            <a:endParaRPr lang="zh-TW" altLang="en-US"/>
          </a:p>
        </p:txBody>
      </p:sp>
      <p:pic>
        <p:nvPicPr>
          <p:cNvPr id="11266" name="Picture 2" descr="Wi-Fi Card">
            <a:extLst>
              <a:ext uri="{FF2B5EF4-FFF2-40B4-BE49-F238E27FC236}">
                <a16:creationId xmlns:a16="http://schemas.microsoft.com/office/drawing/2014/main" id="{12EBD99B-604C-446E-A0DA-A1A951ED31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8916" y="4070871"/>
            <a:ext cx="3387884" cy="2326346"/>
          </a:xfrm>
          <a:prstGeom prst="rect">
            <a:avLst/>
          </a:prstGeom>
          <a:noFill/>
          <a:ln>
            <a:solidFill>
              <a:srgbClr val="C00000"/>
            </a:solidFill>
          </a:ln>
          <a:extLst>
            <a:ext uri="{909E8E84-426E-40DD-AFC4-6F175D3DCCD1}">
              <a14:hiddenFill xmlns:a14="http://schemas.microsoft.com/office/drawing/2010/main">
                <a:solidFill>
                  <a:srgbClr val="FFFFFF"/>
                </a:solidFill>
              </a14:hiddenFill>
            </a:ext>
          </a:extLst>
        </p:spPr>
      </p:pic>
      <p:sp>
        <p:nvSpPr>
          <p:cNvPr id="10" name="副標題 2">
            <a:extLst>
              <a:ext uri="{FF2B5EF4-FFF2-40B4-BE49-F238E27FC236}">
                <a16:creationId xmlns:a16="http://schemas.microsoft.com/office/drawing/2014/main" id="{DEF64F57-7B13-4093-9DFB-AFF9049974C9}"/>
              </a:ext>
            </a:extLst>
          </p:cNvPr>
          <p:cNvSpPr txBox="1">
            <a:spLocks/>
          </p:cNvSpPr>
          <p:nvPr/>
        </p:nvSpPr>
        <p:spPr>
          <a:xfrm>
            <a:off x="367862" y="4058355"/>
            <a:ext cx="4780202" cy="1746909"/>
          </a:xfrm>
          <a:prstGeom prst="rect">
            <a:avLst/>
          </a:prstGeom>
          <a:ln>
            <a:solidFill>
              <a:srgbClr val="C00000"/>
            </a:solidFill>
          </a:ln>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l">
              <a:buClr>
                <a:srgbClr val="0070C0"/>
              </a:buClr>
              <a:buSzPct val="80000"/>
              <a:buFont typeface="Wingdings" pitchFamily="2" charset="2"/>
              <a:buChar char="u"/>
            </a:pPr>
            <a:r>
              <a:rPr lang="en-US" sz="1800" dirty="0">
                <a:solidFill>
                  <a:schemeClr val="tx1"/>
                </a:solidFill>
              </a:rPr>
              <a:t>A </a:t>
            </a:r>
            <a:r>
              <a:rPr lang="en-US" sz="1800" b="1" dirty="0">
                <a:solidFill>
                  <a:schemeClr val="tx1"/>
                </a:solidFill>
              </a:rPr>
              <a:t>Wi-Fi card</a:t>
            </a:r>
            <a:r>
              <a:rPr lang="en-US" sz="1800" dirty="0">
                <a:solidFill>
                  <a:schemeClr val="tx1"/>
                </a:solidFill>
              </a:rPr>
              <a:t> is used to add capabilities like </a:t>
            </a:r>
            <a:r>
              <a:rPr lang="en-US" sz="1800" b="1" dirty="0">
                <a:solidFill>
                  <a:schemeClr val="tx1"/>
                </a:solidFill>
              </a:rPr>
              <a:t>teleconferencing, downloading</a:t>
            </a:r>
            <a:r>
              <a:rPr lang="en-US" sz="1800" dirty="0">
                <a:solidFill>
                  <a:schemeClr val="tx1"/>
                </a:solidFill>
              </a:rPr>
              <a:t> digital camera images, </a:t>
            </a:r>
            <a:r>
              <a:rPr lang="en-US" sz="1800" b="1" dirty="0">
                <a:solidFill>
                  <a:schemeClr val="tx1"/>
                </a:solidFill>
              </a:rPr>
              <a:t>video chat</a:t>
            </a:r>
            <a:r>
              <a:rPr lang="en-US" sz="1800" dirty="0">
                <a:solidFill>
                  <a:schemeClr val="tx1"/>
                </a:solidFill>
              </a:rPr>
              <a:t>, etc. to old devices. </a:t>
            </a:r>
          </a:p>
          <a:p>
            <a:pPr marL="342900" indent="-342900" algn="l">
              <a:buClr>
                <a:srgbClr val="0070C0"/>
              </a:buClr>
              <a:buSzPct val="80000"/>
              <a:buFont typeface="Wingdings" pitchFamily="2" charset="2"/>
              <a:buChar char="u"/>
            </a:pPr>
            <a:r>
              <a:rPr lang="en-US" sz="1800" dirty="0">
                <a:solidFill>
                  <a:schemeClr val="tx1"/>
                </a:solidFill>
              </a:rPr>
              <a:t>Modern devices come with </a:t>
            </a:r>
            <a:r>
              <a:rPr lang="en-US" sz="1800">
                <a:solidFill>
                  <a:schemeClr val="tx1"/>
                </a:solidFill>
              </a:rPr>
              <a:t>their in-built </a:t>
            </a:r>
            <a:r>
              <a:rPr lang="en-US" sz="1800" b="1">
                <a:solidFill>
                  <a:schemeClr val="tx1"/>
                </a:solidFill>
              </a:rPr>
              <a:t>wireless </a:t>
            </a:r>
            <a:r>
              <a:rPr lang="en-US" sz="1800" b="1" dirty="0">
                <a:solidFill>
                  <a:schemeClr val="tx1"/>
                </a:solidFill>
              </a:rPr>
              <a:t>network adapter</a:t>
            </a:r>
            <a:r>
              <a:rPr lang="en-US" sz="1800" dirty="0">
                <a:solidFill>
                  <a:schemeClr val="tx1"/>
                </a:solidFill>
              </a:rPr>
              <a:t>.</a:t>
            </a:r>
          </a:p>
        </p:txBody>
      </p:sp>
    </p:spTree>
    <p:extLst>
      <p:ext uri="{BB962C8B-B14F-4D97-AF65-F5344CB8AC3E}">
        <p14:creationId xmlns:p14="http://schemas.microsoft.com/office/powerpoint/2010/main" val="30280186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2130425"/>
            <a:ext cx="9144000" cy="1470025"/>
          </a:xfr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a:normAutofit/>
          </a:bodyPr>
          <a:lstStyle/>
          <a:p>
            <a:r>
              <a:rPr lang="en-US" altLang="zh-TW" sz="6000" b="1" dirty="0">
                <a:solidFill>
                  <a:srgbClr val="FFFF00"/>
                </a:solidFill>
              </a:rPr>
              <a:t>End of Chapter</a:t>
            </a:r>
            <a:endParaRPr lang="zh-TW" altLang="en-US" sz="6000" b="1" dirty="0">
              <a:solidFill>
                <a:srgbClr val="FFFF00"/>
              </a:solidFill>
            </a:endParaRPr>
          </a:p>
        </p:txBody>
      </p:sp>
      <p:sp>
        <p:nvSpPr>
          <p:cNvPr id="5" name="日期版面配置區 4"/>
          <p:cNvSpPr>
            <a:spLocks noGrp="1"/>
          </p:cNvSpPr>
          <p:nvPr>
            <p:ph type="dt" sz="half" idx="10"/>
          </p:nvPr>
        </p:nvSpPr>
        <p:spPr/>
        <p:txBody>
          <a:bodyPr/>
          <a:lstStyle/>
          <a:p>
            <a:fld id="{4E46BE27-E923-4EC2-B046-3272AE2A3E5C}" type="datetime1">
              <a:rPr lang="zh-TW" altLang="en-US" smtClean="0"/>
              <a:pPr/>
              <a:t>2020/3/27</a:t>
            </a:fld>
            <a:endParaRPr lang="zh-TW" altLang="en-US"/>
          </a:p>
        </p:txBody>
      </p:sp>
      <p:sp>
        <p:nvSpPr>
          <p:cNvPr id="6" name="投影片編號版面配置區 5"/>
          <p:cNvSpPr>
            <a:spLocks noGrp="1"/>
          </p:cNvSpPr>
          <p:nvPr>
            <p:ph type="sldNum" sz="quarter" idx="12"/>
          </p:nvPr>
        </p:nvSpPr>
        <p:spPr/>
        <p:txBody>
          <a:bodyPr/>
          <a:lstStyle/>
          <a:p>
            <a:fld id="{E4D7E63D-91F2-4366-A2C4-1B00C9E2590E}" type="slidenum">
              <a:rPr lang="zh-TW" altLang="en-US" smtClean="0"/>
              <a:pPr/>
              <a:t>13</a:t>
            </a:fld>
            <a:endParaRPr lang="zh-TW" altLang="en-US"/>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912</TotalTime>
  <Words>1394</Words>
  <Application>Microsoft Office PowerPoint</Application>
  <PresentationFormat>On-screen Show (4:3)</PresentationFormat>
  <Paragraphs>123</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Wingdings</vt:lpstr>
      <vt:lpstr>Office 佈景主題</vt:lpstr>
      <vt:lpstr>7 Network Device</vt:lpstr>
      <vt:lpstr>7 Network Device</vt:lpstr>
      <vt:lpstr>7 Network Device</vt:lpstr>
      <vt:lpstr>7 Network Device</vt:lpstr>
      <vt:lpstr>7 Network Device</vt:lpstr>
      <vt:lpstr>7 Network Device</vt:lpstr>
      <vt:lpstr>7 Network Device</vt:lpstr>
      <vt:lpstr>7 Network Device</vt:lpstr>
      <vt:lpstr>7 Network Device</vt:lpstr>
      <vt:lpstr>7 Network Device</vt:lpstr>
      <vt:lpstr>7 Network Device</vt:lpstr>
      <vt:lpstr>7 Network Device</vt:lpstr>
      <vt:lpstr>End of Chapter</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Node JS</dc:title>
  <dc:creator>USER</dc:creator>
  <cp:lastModifiedBy>14088587657</cp:lastModifiedBy>
  <cp:revision>345</cp:revision>
  <dcterms:created xsi:type="dcterms:W3CDTF">2018-09-28T16:40:41Z</dcterms:created>
  <dcterms:modified xsi:type="dcterms:W3CDTF">2020-03-28T02:58:21Z</dcterms:modified>
</cp:coreProperties>
</file>