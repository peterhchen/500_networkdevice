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265" r:id="rId3"/>
    <p:sldId id="264" r:id="rId4"/>
    <p:sldId id="266" r:id="rId5"/>
    <p:sldId id="267" r:id="rId6"/>
    <p:sldId id="268" r:id="rId7"/>
    <p:sldId id="269" r:id="rId8"/>
    <p:sldId id="270" r:id="rId9"/>
    <p:sldId id="271" r:id="rId10"/>
    <p:sldId id="259" r:id="rId11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204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837EDA8-41C8-4B24-A206-13C08A65A6D7}" type="datetimeFigureOut">
              <a:rPr lang="zh-TW" altLang="en-US" smtClean="0"/>
              <a:pPr/>
              <a:t>2020/3/28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1FAA135-E01C-4A42-9760-5A137A0CA41F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FAA135-E01C-4A42-9760-5A137A0CA41F}" type="slidenum">
              <a:rPr lang="zh-TW" altLang="en-US" smtClean="0"/>
              <a:pPr/>
              <a:t>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6889754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FAA135-E01C-4A42-9760-5A137A0CA41F}" type="slidenum">
              <a:rPr lang="zh-TW" altLang="en-US" smtClean="0"/>
              <a:pPr/>
              <a:t>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927516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B85509C-BD4F-47BF-9B1E-FC2E949B3621}" type="datetime1">
              <a:rPr lang="zh-TW" altLang="en-US" smtClean="0"/>
              <a:pPr/>
              <a:t>2020/3/28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4D7E63D-91F2-4366-A2C4-1B00C9E2590E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99440-D9EF-40CC-9B52-F6428D9B2C76}" type="datetime1">
              <a:rPr lang="zh-TW" altLang="en-US" smtClean="0"/>
              <a:pPr/>
              <a:t>2020/3/28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7E63D-91F2-4366-A2C4-1B00C9E2590E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71BF52-5C6C-4959-8E27-CECB68D39FE4}" type="datetime1">
              <a:rPr lang="zh-TW" altLang="en-US" smtClean="0"/>
              <a:pPr/>
              <a:t>2020/3/28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7E63D-91F2-4366-A2C4-1B00C9E2590E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863F05-2DD9-4EB1-A827-12FD992DE9DC}" type="datetime1">
              <a:rPr lang="zh-TW" altLang="en-US" smtClean="0"/>
              <a:pPr/>
              <a:t>2020/3/28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7E63D-91F2-4366-A2C4-1B00C9E2590E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39AF51-4491-4873-A096-75DB6CE47516}" type="datetime1">
              <a:rPr lang="zh-TW" altLang="en-US" smtClean="0"/>
              <a:pPr/>
              <a:t>2020/3/28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7E63D-91F2-4366-A2C4-1B00C9E2590E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4AD9C8-8B9E-40FF-ABE2-858AC2057BBB}" type="datetime1">
              <a:rPr lang="zh-TW" altLang="en-US" smtClean="0"/>
              <a:pPr/>
              <a:t>2020/3/28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7E63D-91F2-4366-A2C4-1B00C9E2590E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784999-BBBE-4BE4-A8D0-877E7D1D66CC}" type="datetime1">
              <a:rPr lang="zh-TW" altLang="en-US" smtClean="0"/>
              <a:pPr/>
              <a:t>2020/3/28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7E63D-91F2-4366-A2C4-1B00C9E2590E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8D17E6-02BD-4944-B9FE-7BFCCBF83D48}" type="datetime1">
              <a:rPr lang="zh-TW" altLang="en-US" smtClean="0"/>
              <a:pPr/>
              <a:t>2020/3/28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7E63D-91F2-4366-A2C4-1B00C9E2590E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13E23D-1FEF-4D78-A3A3-3D6F2BB31954}" type="datetime1">
              <a:rPr lang="zh-TW" altLang="en-US" smtClean="0"/>
              <a:pPr/>
              <a:t>2020/3/28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7E63D-91F2-4366-A2C4-1B00C9E2590E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251B24-F787-4C15-8A0F-7AEC20C70069}" type="datetime1">
              <a:rPr lang="zh-TW" altLang="en-US" smtClean="0"/>
              <a:pPr/>
              <a:t>2020/3/28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7E63D-91F2-4366-A2C4-1B00C9E2590E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0D33C-CE2B-45F1-B8D4-FFD1F131F331}" type="datetime1">
              <a:rPr lang="zh-TW" altLang="en-US" smtClean="0"/>
              <a:pPr/>
              <a:t>2020/3/28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7E63D-91F2-4366-A2C4-1B00C9E2590E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197F35-AD6F-4594-8B50-334492D2E7E8}" type="datetime1">
              <a:rPr lang="zh-TW" altLang="en-US" smtClean="0"/>
              <a:pPr/>
              <a:t>2020/3/28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D7E63D-91F2-4366-A2C4-1B00C9E2590E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hyperlink" Target="https://www.tutorialspoint.com/communication_technologies/communication_technologies_network_security.htm" TargetMode="Externa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tutorialspoint.com/communication_technologies/communication_technologies_network_security.htm" TargetMode="Externa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tutorialspoint.com/communication_technologies/communication_technologies_network_security.htm" TargetMode="Externa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hyperlink" Target="https://www.tutorialspoint.com/communication_technologies/communication_technologies_network_security.htm" TargetMode="Externa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hyperlink" Target="https://www.tutorialspoint.com/communication_technologies/communication_technologies_network_security.htm" TargetMode="Externa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tutorialspoint.com/communication_technologies/communication_technologies_network_security.htm" TargetMode="Externa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utorialspoint.com/communication_technologies/communication_technologies_network_security.htm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utorialspoint.com/communication_technologies/communication_technologies_network_security.htm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0" y="2130425"/>
            <a:ext cx="9144000" cy="1470025"/>
          </a:xfrm>
          <a:solidFill>
            <a:srgbClr val="00B0F0"/>
          </a:solidFill>
        </p:spPr>
        <p:txBody>
          <a:bodyPr>
            <a:normAutofit/>
          </a:bodyPr>
          <a:lstStyle/>
          <a:p>
            <a:r>
              <a:rPr lang="en-US" altLang="zh-TW" sz="4800" b="1" dirty="0">
                <a:solidFill>
                  <a:srgbClr val="FFFF00"/>
                </a:solidFill>
              </a:rPr>
              <a:t>16 Network Security</a:t>
            </a:r>
            <a:endParaRPr lang="zh-TW" altLang="en-US" sz="4800" b="1" dirty="0">
              <a:solidFill>
                <a:srgbClr val="FFFF00"/>
              </a:solidFill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4570616"/>
            <a:ext cx="6400800" cy="694928"/>
          </a:xfrm>
        </p:spPr>
        <p:txBody>
          <a:bodyPr>
            <a:normAutofit/>
          </a:bodyPr>
          <a:lstStyle/>
          <a:p>
            <a:r>
              <a:rPr lang="en-US" altLang="zh-TW" dirty="0"/>
              <a:t>Peter H. Chen</a:t>
            </a:r>
            <a:endParaRPr lang="zh-TW" altLang="en-US" dirty="0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89EDC9-19E3-47AC-9C57-C6A24DEA81AD}" type="datetime1">
              <a:rPr lang="zh-TW" altLang="en-US" smtClean="0"/>
              <a:pPr/>
              <a:t>2020/3/28</a:t>
            </a:fld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7E63D-91F2-4366-A2C4-1B00C9E2590E}" type="slidenum">
              <a:rPr lang="zh-TW" altLang="en-US" smtClean="0"/>
              <a:pPr/>
              <a:t>1</a:t>
            </a:fld>
            <a:endParaRPr lang="zh-TW" alt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3C8BD46-82E2-48A7-803A-12ED04C9ED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2825" y="3717032"/>
            <a:ext cx="1098349" cy="9509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764704"/>
          </a:xfrm>
          <a:gradFill flip="none" rotWithShape="1">
            <a:gsLst>
              <a:gs pos="0">
                <a:srgbClr val="C00000">
                  <a:shade val="30000"/>
                  <a:satMod val="115000"/>
                </a:srgbClr>
              </a:gs>
              <a:gs pos="50000">
                <a:srgbClr val="C00000">
                  <a:shade val="67500"/>
                  <a:satMod val="115000"/>
                </a:srgbClr>
              </a:gs>
              <a:gs pos="100000">
                <a:srgbClr val="C0000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/>
          <a:lstStyle/>
          <a:p>
            <a:pPr algn="l"/>
            <a:r>
              <a:rPr lang="en-US" altLang="zh-TW" b="1" dirty="0">
                <a:solidFill>
                  <a:srgbClr val="FFFF00"/>
                </a:solidFill>
              </a:rPr>
              <a:t>16 Network Security</a:t>
            </a:r>
            <a:endParaRPr lang="zh-TW" altLang="en-US" b="1" dirty="0">
              <a:solidFill>
                <a:srgbClr val="FFFF00"/>
              </a:solidFill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367862" y="1412777"/>
            <a:ext cx="8318938" cy="2808311"/>
          </a:xfrm>
          <a:ln>
            <a:solidFill>
              <a:srgbClr val="C00000"/>
            </a:solidFill>
          </a:ln>
        </p:spPr>
        <p:txBody>
          <a:bodyPr>
            <a:noAutofit/>
          </a:bodyPr>
          <a:lstStyle/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dirty="0">
                <a:solidFill>
                  <a:schemeClr val="tx1"/>
                </a:solidFill>
              </a:rPr>
              <a:t>Computer networks are an integral part of our personal and professional lives because we carry out lots of day-to-day activities through the Internet or local organizational network.</a:t>
            </a:r>
          </a:p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dirty="0">
                <a:solidFill>
                  <a:schemeClr val="tx1"/>
                </a:solidFill>
              </a:rPr>
              <a:t>The downside of this is that huge amount of data, from official documents to personal details, gets shared over the network. </a:t>
            </a:r>
          </a:p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dirty="0">
                <a:solidFill>
                  <a:schemeClr val="tx1"/>
                </a:solidFill>
              </a:rPr>
              <a:t>It becomes necessary to ensure that the data is not accessed by unauthorized people.</a:t>
            </a:r>
          </a:p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dirty="0">
                <a:solidFill>
                  <a:schemeClr val="tx1"/>
                </a:solidFill>
              </a:rPr>
              <a:t>Practices adopted to monitor and prevent unauthorized access and misuse of network resources and data on them is called </a:t>
            </a:r>
            <a:r>
              <a:rPr lang="en-US" sz="1800" b="1" dirty="0">
                <a:solidFill>
                  <a:schemeClr val="tx1"/>
                </a:solidFill>
              </a:rPr>
              <a:t>network security</a:t>
            </a:r>
            <a:r>
              <a:rPr lang="en-US" sz="1800" dirty="0">
                <a:solidFill>
                  <a:schemeClr val="tx1"/>
                </a:solidFill>
              </a:rPr>
              <a:t>.</a:t>
            </a:r>
          </a:p>
        </p:txBody>
      </p:sp>
      <p:sp>
        <p:nvSpPr>
          <p:cNvPr id="4" name="標題 1"/>
          <p:cNvSpPr txBox="1">
            <a:spLocks/>
          </p:cNvSpPr>
          <p:nvPr/>
        </p:nvSpPr>
        <p:spPr>
          <a:xfrm>
            <a:off x="0" y="764704"/>
            <a:ext cx="9144000" cy="398616"/>
          </a:xfrm>
          <a:prstGeom prst="rect">
            <a:avLst/>
          </a:prstGeom>
          <a:gradFill flip="none" rotWithShape="1">
            <a:gsLst>
              <a:gs pos="0">
                <a:srgbClr val="00B0F0">
                  <a:shade val="30000"/>
                  <a:satMod val="115000"/>
                </a:srgbClr>
              </a:gs>
              <a:gs pos="50000">
                <a:srgbClr val="00B0F0">
                  <a:shade val="67500"/>
                  <a:satMod val="115000"/>
                </a:srgbClr>
              </a:gs>
              <a:gs pos="100000">
                <a:srgbClr val="00B0F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 vert="horz" lIns="91440" tIns="45720" rIns="91440" bIns="45720" rtlCol="0" anchor="ctr">
            <a:normAutofit fontScale="85000" lnSpcReduction="10000"/>
          </a:bodyPr>
          <a:lstStyle/>
          <a:p>
            <a:pPr marL="0" lvl="1"/>
            <a:r>
              <a:rPr lang="en-US" sz="1600" dirty="0">
                <a:hlinkClick r:id="rId2"/>
              </a:rPr>
              <a:t>https://www.tutorialspoint.com/communication_technologies/communication_technologies_network_security.htm</a:t>
            </a:r>
            <a:endParaRPr lang="en-US" sz="1600" dirty="0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404246"/>
          </a:xfrm>
        </p:spPr>
        <p:txBody>
          <a:bodyPr/>
          <a:lstStyle/>
          <a:p>
            <a:fld id="{A4F910E6-8D00-4BAF-8C48-9688E0B449D3}" type="datetime1">
              <a:rPr lang="zh-TW" altLang="en-US" smtClean="0"/>
              <a:pPr/>
              <a:t>2020/3/28</a:t>
            </a:fld>
            <a:endParaRPr lang="zh-TW" alt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404246"/>
          </a:xfrm>
        </p:spPr>
        <p:txBody>
          <a:bodyPr/>
          <a:lstStyle/>
          <a:p>
            <a:fld id="{E4D7E63D-91F2-4366-A2C4-1B00C9E2590E}" type="slidenum">
              <a:rPr lang="zh-TW" altLang="en-US" smtClean="0"/>
              <a:pPr/>
              <a:t>2</a:t>
            </a:fld>
            <a:endParaRPr lang="zh-TW" altLang="en-US"/>
          </a:p>
        </p:txBody>
      </p:sp>
      <p:pic>
        <p:nvPicPr>
          <p:cNvPr id="1026" name="Picture 2" descr="Network Security">
            <a:extLst>
              <a:ext uri="{FF2B5EF4-FFF2-40B4-BE49-F238E27FC236}">
                <a16:creationId xmlns:a16="http://schemas.microsoft.com/office/drawing/2014/main" id="{05CDD623-7752-41F1-90A7-F34E02CEDA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71800" y="4376620"/>
            <a:ext cx="3089938" cy="2137206"/>
          </a:xfrm>
          <a:prstGeom prst="rect">
            <a:avLst/>
          </a:prstGeom>
          <a:noFill/>
          <a:ln>
            <a:solidFill>
              <a:srgbClr val="C0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41543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764704"/>
          </a:xfrm>
          <a:gradFill flip="none" rotWithShape="1">
            <a:gsLst>
              <a:gs pos="0">
                <a:srgbClr val="C00000">
                  <a:shade val="30000"/>
                  <a:satMod val="115000"/>
                </a:srgbClr>
              </a:gs>
              <a:gs pos="50000">
                <a:srgbClr val="C00000">
                  <a:shade val="67500"/>
                  <a:satMod val="115000"/>
                </a:srgbClr>
              </a:gs>
              <a:gs pos="100000">
                <a:srgbClr val="C0000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/>
          <a:lstStyle/>
          <a:p>
            <a:pPr algn="l"/>
            <a:r>
              <a:rPr lang="en-US" altLang="zh-TW" b="1" dirty="0">
                <a:solidFill>
                  <a:srgbClr val="FFFF00"/>
                </a:solidFill>
              </a:rPr>
              <a:t>16 Network Security</a:t>
            </a:r>
            <a:endParaRPr lang="zh-TW" altLang="en-US" b="1" dirty="0">
              <a:solidFill>
                <a:srgbClr val="FFFF00"/>
              </a:solidFill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367862" y="1412777"/>
            <a:ext cx="8318938" cy="4544958"/>
          </a:xfrm>
          <a:ln>
            <a:solidFill>
              <a:srgbClr val="C00000"/>
            </a:solidFill>
          </a:ln>
        </p:spPr>
        <p:txBody>
          <a:bodyPr>
            <a:noAutofit/>
          </a:bodyPr>
          <a:lstStyle/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dirty="0">
                <a:solidFill>
                  <a:schemeClr val="tx1"/>
                </a:solidFill>
              </a:rPr>
              <a:t>A network has two components: hardware and software. </a:t>
            </a:r>
          </a:p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dirty="0">
                <a:solidFill>
                  <a:schemeClr val="tx1"/>
                </a:solidFill>
              </a:rPr>
              <a:t>Both these components have their own vulnerability to threats.</a:t>
            </a:r>
          </a:p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b="1" dirty="0">
                <a:solidFill>
                  <a:schemeClr val="tx1"/>
                </a:solidFill>
              </a:rPr>
              <a:t>Threat</a:t>
            </a:r>
            <a:r>
              <a:rPr lang="en-US" sz="1800" dirty="0">
                <a:solidFill>
                  <a:schemeClr val="tx1"/>
                </a:solidFill>
              </a:rPr>
              <a:t> is a possible risk that might exploit a network weakness to breach security and cause harm. </a:t>
            </a:r>
          </a:p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dirty="0">
                <a:solidFill>
                  <a:schemeClr val="tx1"/>
                </a:solidFill>
              </a:rPr>
              <a:t>Examples of hardware threats include −</a:t>
            </a:r>
          </a:p>
          <a:p>
            <a:pPr marL="800100" lvl="1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dirty="0">
                <a:solidFill>
                  <a:schemeClr val="tx1"/>
                </a:solidFill>
              </a:rPr>
              <a:t>Improper installation</a:t>
            </a:r>
          </a:p>
          <a:p>
            <a:pPr marL="800100" lvl="1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dirty="0">
                <a:solidFill>
                  <a:schemeClr val="tx1"/>
                </a:solidFill>
              </a:rPr>
              <a:t>Use of unsecure components</a:t>
            </a:r>
          </a:p>
          <a:p>
            <a:pPr marL="800100" lvl="1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dirty="0">
                <a:solidFill>
                  <a:schemeClr val="tx1"/>
                </a:solidFill>
              </a:rPr>
              <a:t>Electromagnetic interference from external sources</a:t>
            </a:r>
          </a:p>
          <a:p>
            <a:pPr marL="800100" lvl="1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dirty="0">
                <a:solidFill>
                  <a:schemeClr val="tx1"/>
                </a:solidFill>
              </a:rPr>
              <a:t>Extreme weather conditions</a:t>
            </a:r>
          </a:p>
          <a:p>
            <a:pPr marL="800100" lvl="1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dirty="0">
                <a:solidFill>
                  <a:schemeClr val="tx1"/>
                </a:solidFill>
              </a:rPr>
              <a:t>Lack of disaster planning</a:t>
            </a:r>
          </a:p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dirty="0">
                <a:solidFill>
                  <a:schemeClr val="tx1"/>
                </a:solidFill>
              </a:rPr>
              <a:t>Hardware threats form only </a:t>
            </a:r>
            <a:r>
              <a:rPr lang="en-US" sz="1800" b="1" dirty="0">
                <a:solidFill>
                  <a:schemeClr val="tx1"/>
                </a:solidFill>
              </a:rPr>
              <a:t>10% of network security threats </a:t>
            </a:r>
            <a:r>
              <a:rPr lang="en-US" sz="1800" dirty="0">
                <a:solidFill>
                  <a:schemeClr val="tx1"/>
                </a:solidFill>
              </a:rPr>
              <a:t>worldwide because the components need to be accessed physically. </a:t>
            </a:r>
          </a:p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b="1" dirty="0">
                <a:solidFill>
                  <a:schemeClr val="tx1"/>
                </a:solidFill>
              </a:rPr>
              <a:t>90% threats are through software vulnerabilities</a:t>
            </a:r>
            <a:r>
              <a:rPr lang="en-US" sz="1800" dirty="0">
                <a:solidFill>
                  <a:schemeClr val="tx1"/>
                </a:solidFill>
              </a:rPr>
              <a:t>. </a:t>
            </a:r>
          </a:p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dirty="0">
                <a:solidFill>
                  <a:schemeClr val="tx1"/>
                </a:solidFill>
              </a:rPr>
              <a:t>We discuss the major types of software security threats.</a:t>
            </a:r>
          </a:p>
        </p:txBody>
      </p:sp>
      <p:sp>
        <p:nvSpPr>
          <p:cNvPr id="4" name="標題 1"/>
          <p:cNvSpPr txBox="1">
            <a:spLocks/>
          </p:cNvSpPr>
          <p:nvPr/>
        </p:nvSpPr>
        <p:spPr>
          <a:xfrm>
            <a:off x="0" y="764704"/>
            <a:ext cx="9144000" cy="398616"/>
          </a:xfrm>
          <a:prstGeom prst="rect">
            <a:avLst/>
          </a:prstGeom>
          <a:gradFill flip="none" rotWithShape="1">
            <a:gsLst>
              <a:gs pos="0">
                <a:srgbClr val="00B0F0">
                  <a:shade val="30000"/>
                  <a:satMod val="115000"/>
                </a:srgbClr>
              </a:gs>
              <a:gs pos="50000">
                <a:srgbClr val="00B0F0">
                  <a:shade val="67500"/>
                  <a:satMod val="115000"/>
                </a:srgbClr>
              </a:gs>
              <a:gs pos="100000">
                <a:srgbClr val="00B0F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 vert="horz" lIns="91440" tIns="45720" rIns="91440" bIns="45720" rtlCol="0" anchor="ctr">
            <a:normAutofit fontScale="85000" lnSpcReduction="10000"/>
          </a:bodyPr>
          <a:lstStyle/>
          <a:p>
            <a:pPr marL="0" lvl="1"/>
            <a:r>
              <a:rPr lang="en-US" sz="1600" dirty="0">
                <a:hlinkClick r:id="rId2"/>
              </a:rPr>
              <a:t>https://www.tutorialspoint.com/communication_technologies/communication_technologies_network_security.htm</a:t>
            </a:r>
            <a:endParaRPr lang="en-US" sz="1600" dirty="0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404246"/>
          </a:xfrm>
        </p:spPr>
        <p:txBody>
          <a:bodyPr/>
          <a:lstStyle/>
          <a:p>
            <a:fld id="{A4F910E6-8D00-4BAF-8C48-9688E0B449D3}" type="datetime1">
              <a:rPr lang="zh-TW" altLang="en-US" smtClean="0"/>
              <a:pPr/>
              <a:t>2020/3/28</a:t>
            </a:fld>
            <a:endParaRPr lang="zh-TW" alt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404246"/>
          </a:xfrm>
        </p:spPr>
        <p:txBody>
          <a:bodyPr/>
          <a:lstStyle/>
          <a:p>
            <a:fld id="{E4D7E63D-91F2-4366-A2C4-1B00C9E2590E}" type="slidenum">
              <a:rPr lang="zh-TW" altLang="en-US" smtClean="0"/>
              <a:pPr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866640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764704"/>
          </a:xfrm>
          <a:gradFill flip="none" rotWithShape="1">
            <a:gsLst>
              <a:gs pos="0">
                <a:srgbClr val="C00000">
                  <a:shade val="30000"/>
                  <a:satMod val="115000"/>
                </a:srgbClr>
              </a:gs>
              <a:gs pos="50000">
                <a:srgbClr val="C00000">
                  <a:shade val="67500"/>
                  <a:satMod val="115000"/>
                </a:srgbClr>
              </a:gs>
              <a:gs pos="100000">
                <a:srgbClr val="C0000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/>
          <a:lstStyle/>
          <a:p>
            <a:pPr algn="l"/>
            <a:r>
              <a:rPr lang="en-US" altLang="zh-TW" b="1" dirty="0">
                <a:solidFill>
                  <a:srgbClr val="FFFF00"/>
                </a:solidFill>
              </a:rPr>
              <a:t>16 Network Security</a:t>
            </a:r>
            <a:endParaRPr lang="zh-TW" altLang="en-US" b="1" dirty="0">
              <a:solidFill>
                <a:srgbClr val="FFFF00"/>
              </a:solidFill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367862" y="1412777"/>
            <a:ext cx="8318938" cy="3240359"/>
          </a:xfrm>
          <a:ln>
            <a:solidFill>
              <a:srgbClr val="C00000"/>
            </a:solidFill>
          </a:ln>
        </p:spPr>
        <p:txBody>
          <a:bodyPr>
            <a:noAutofit/>
          </a:bodyPr>
          <a:lstStyle/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b="1" dirty="0">
                <a:solidFill>
                  <a:schemeClr val="tx1"/>
                </a:solidFill>
              </a:rPr>
              <a:t>Virus</a:t>
            </a:r>
          </a:p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dirty="0">
                <a:solidFill>
                  <a:schemeClr val="tx1"/>
                </a:solidFill>
              </a:rPr>
              <a:t>A </a:t>
            </a:r>
            <a:r>
              <a:rPr lang="en-US" sz="1800" b="1" dirty="0">
                <a:solidFill>
                  <a:schemeClr val="tx1"/>
                </a:solidFill>
              </a:rPr>
              <a:t>virus</a:t>
            </a:r>
            <a:r>
              <a:rPr lang="en-US" sz="1800" dirty="0">
                <a:solidFill>
                  <a:schemeClr val="tx1"/>
                </a:solidFill>
              </a:rPr>
              <a:t> is a malicious program or </a:t>
            </a:r>
            <a:r>
              <a:rPr lang="en-US" sz="1800" b="1" dirty="0">
                <a:solidFill>
                  <a:schemeClr val="tx1"/>
                </a:solidFill>
              </a:rPr>
              <a:t>malware</a:t>
            </a:r>
            <a:r>
              <a:rPr lang="en-US" sz="1800" dirty="0">
                <a:solidFill>
                  <a:schemeClr val="tx1"/>
                </a:solidFill>
              </a:rPr>
              <a:t> that attaches itself to a host and makes multiple copies of itself (like a real virus!), slowing down, corrupting or destroying the system.</a:t>
            </a:r>
          </a:p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dirty="0">
                <a:solidFill>
                  <a:schemeClr val="tx1"/>
                </a:solidFill>
              </a:rPr>
              <a:t>Some harmful activities that can be undertaken by a virus are −</a:t>
            </a:r>
          </a:p>
          <a:p>
            <a:pPr marL="800100" lvl="1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dirty="0">
                <a:solidFill>
                  <a:schemeClr val="tx1"/>
                </a:solidFill>
              </a:rPr>
              <a:t>Taking up memory space</a:t>
            </a:r>
          </a:p>
          <a:p>
            <a:pPr marL="800100" lvl="1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dirty="0">
                <a:solidFill>
                  <a:schemeClr val="tx1"/>
                </a:solidFill>
              </a:rPr>
              <a:t>Accessing private information like credit card details</a:t>
            </a:r>
          </a:p>
          <a:p>
            <a:pPr marL="800100" lvl="1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dirty="0">
                <a:solidFill>
                  <a:schemeClr val="tx1"/>
                </a:solidFill>
              </a:rPr>
              <a:t>Flashing unwanted messages on user screen</a:t>
            </a:r>
          </a:p>
          <a:p>
            <a:pPr marL="800100" lvl="1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dirty="0">
                <a:solidFill>
                  <a:schemeClr val="tx1"/>
                </a:solidFill>
              </a:rPr>
              <a:t>Corrupting data</a:t>
            </a:r>
          </a:p>
          <a:p>
            <a:pPr marL="800100" lvl="1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dirty="0">
                <a:solidFill>
                  <a:schemeClr val="tx1"/>
                </a:solidFill>
              </a:rPr>
              <a:t>Spamming e-mail contacts</a:t>
            </a:r>
          </a:p>
        </p:txBody>
      </p:sp>
      <p:sp>
        <p:nvSpPr>
          <p:cNvPr id="4" name="標題 1"/>
          <p:cNvSpPr txBox="1">
            <a:spLocks/>
          </p:cNvSpPr>
          <p:nvPr/>
        </p:nvSpPr>
        <p:spPr>
          <a:xfrm>
            <a:off x="0" y="764704"/>
            <a:ext cx="9144000" cy="398616"/>
          </a:xfrm>
          <a:prstGeom prst="rect">
            <a:avLst/>
          </a:prstGeom>
          <a:gradFill flip="none" rotWithShape="1">
            <a:gsLst>
              <a:gs pos="0">
                <a:srgbClr val="00B0F0">
                  <a:shade val="30000"/>
                  <a:satMod val="115000"/>
                </a:srgbClr>
              </a:gs>
              <a:gs pos="50000">
                <a:srgbClr val="00B0F0">
                  <a:shade val="67500"/>
                  <a:satMod val="115000"/>
                </a:srgbClr>
              </a:gs>
              <a:gs pos="100000">
                <a:srgbClr val="00B0F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 vert="horz" lIns="91440" tIns="45720" rIns="91440" bIns="45720" rtlCol="0" anchor="ctr">
            <a:normAutofit fontScale="85000" lnSpcReduction="10000"/>
          </a:bodyPr>
          <a:lstStyle/>
          <a:p>
            <a:pPr marL="0" lvl="1"/>
            <a:r>
              <a:rPr lang="en-US" sz="1600" dirty="0">
                <a:hlinkClick r:id="rId2"/>
              </a:rPr>
              <a:t>https://www.tutorialspoint.com/communication_technologies/communication_technologies_network_security.htm</a:t>
            </a:r>
            <a:endParaRPr lang="en-US" sz="1600" dirty="0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404246"/>
          </a:xfrm>
        </p:spPr>
        <p:txBody>
          <a:bodyPr/>
          <a:lstStyle/>
          <a:p>
            <a:fld id="{A4F910E6-8D00-4BAF-8C48-9688E0B449D3}" type="datetime1">
              <a:rPr lang="zh-TW" altLang="en-US" smtClean="0"/>
              <a:pPr/>
              <a:t>2020/3/28</a:t>
            </a:fld>
            <a:endParaRPr lang="zh-TW" alt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404246"/>
          </a:xfrm>
        </p:spPr>
        <p:txBody>
          <a:bodyPr/>
          <a:lstStyle/>
          <a:p>
            <a:fld id="{E4D7E63D-91F2-4366-A2C4-1B00C9E2590E}" type="slidenum">
              <a:rPr lang="zh-TW" altLang="en-US" smtClean="0"/>
              <a:pPr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975869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764704"/>
          </a:xfrm>
          <a:gradFill flip="none" rotWithShape="1">
            <a:gsLst>
              <a:gs pos="0">
                <a:srgbClr val="C00000">
                  <a:shade val="30000"/>
                  <a:satMod val="115000"/>
                </a:srgbClr>
              </a:gs>
              <a:gs pos="50000">
                <a:srgbClr val="C00000">
                  <a:shade val="67500"/>
                  <a:satMod val="115000"/>
                </a:srgbClr>
              </a:gs>
              <a:gs pos="100000">
                <a:srgbClr val="C0000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/>
          <a:lstStyle/>
          <a:p>
            <a:pPr algn="l"/>
            <a:r>
              <a:rPr lang="en-US" altLang="zh-TW" b="1" dirty="0">
                <a:solidFill>
                  <a:srgbClr val="FFFF00"/>
                </a:solidFill>
              </a:rPr>
              <a:t>16 Network Security</a:t>
            </a:r>
            <a:endParaRPr lang="zh-TW" altLang="en-US" b="1" dirty="0">
              <a:solidFill>
                <a:srgbClr val="FFFF00"/>
              </a:solidFill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367862" y="1412777"/>
            <a:ext cx="8318938" cy="1296143"/>
          </a:xfrm>
          <a:ln>
            <a:solidFill>
              <a:srgbClr val="C00000"/>
            </a:solidFill>
          </a:ln>
        </p:spPr>
        <p:txBody>
          <a:bodyPr>
            <a:noAutofit/>
          </a:bodyPr>
          <a:lstStyle/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b="1" dirty="0">
                <a:solidFill>
                  <a:schemeClr val="tx1"/>
                </a:solidFill>
              </a:rPr>
              <a:t>Virus</a:t>
            </a:r>
          </a:p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dirty="0">
                <a:solidFill>
                  <a:schemeClr val="tx1"/>
                </a:solidFill>
              </a:rPr>
              <a:t>Viruses mostly attack Windows systems. </a:t>
            </a:r>
          </a:p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dirty="0">
                <a:solidFill>
                  <a:schemeClr val="tx1"/>
                </a:solidFill>
              </a:rPr>
              <a:t>Till a few years ago, Mac systems were deemed immune from viruses, however now a handful of viruses for them exist as well.</a:t>
            </a:r>
          </a:p>
        </p:txBody>
      </p:sp>
      <p:sp>
        <p:nvSpPr>
          <p:cNvPr id="4" name="標題 1"/>
          <p:cNvSpPr txBox="1">
            <a:spLocks/>
          </p:cNvSpPr>
          <p:nvPr/>
        </p:nvSpPr>
        <p:spPr>
          <a:xfrm>
            <a:off x="0" y="764704"/>
            <a:ext cx="9144000" cy="398616"/>
          </a:xfrm>
          <a:prstGeom prst="rect">
            <a:avLst/>
          </a:prstGeom>
          <a:gradFill flip="none" rotWithShape="1">
            <a:gsLst>
              <a:gs pos="0">
                <a:srgbClr val="00B0F0">
                  <a:shade val="30000"/>
                  <a:satMod val="115000"/>
                </a:srgbClr>
              </a:gs>
              <a:gs pos="50000">
                <a:srgbClr val="00B0F0">
                  <a:shade val="67500"/>
                  <a:satMod val="115000"/>
                </a:srgbClr>
              </a:gs>
              <a:gs pos="100000">
                <a:srgbClr val="00B0F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 vert="horz" lIns="91440" tIns="45720" rIns="91440" bIns="45720" rtlCol="0" anchor="ctr">
            <a:normAutofit fontScale="85000" lnSpcReduction="10000"/>
          </a:bodyPr>
          <a:lstStyle/>
          <a:p>
            <a:pPr marL="0" lvl="1"/>
            <a:r>
              <a:rPr lang="en-US" sz="1600" dirty="0">
                <a:hlinkClick r:id="rId2"/>
              </a:rPr>
              <a:t>https://www.tutorialspoint.com/communication_technologies/communication_technologies_network_security.htm</a:t>
            </a:r>
            <a:endParaRPr lang="en-US" sz="1600" dirty="0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404246"/>
          </a:xfrm>
        </p:spPr>
        <p:txBody>
          <a:bodyPr/>
          <a:lstStyle/>
          <a:p>
            <a:fld id="{A4F910E6-8D00-4BAF-8C48-9688E0B449D3}" type="datetime1">
              <a:rPr lang="zh-TW" altLang="en-US" smtClean="0"/>
              <a:pPr/>
              <a:t>2020/3/28</a:t>
            </a:fld>
            <a:endParaRPr lang="zh-TW" alt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404246"/>
          </a:xfrm>
        </p:spPr>
        <p:txBody>
          <a:bodyPr/>
          <a:lstStyle/>
          <a:p>
            <a:fld id="{E4D7E63D-91F2-4366-A2C4-1B00C9E2590E}" type="slidenum">
              <a:rPr lang="zh-TW" altLang="en-US" smtClean="0"/>
              <a:pPr/>
              <a:t>5</a:t>
            </a:fld>
            <a:endParaRPr lang="zh-TW" altLang="en-US"/>
          </a:p>
        </p:txBody>
      </p:sp>
      <p:pic>
        <p:nvPicPr>
          <p:cNvPr id="2050" name="Picture 2" descr="Virus">
            <a:extLst>
              <a:ext uri="{FF2B5EF4-FFF2-40B4-BE49-F238E27FC236}">
                <a16:creationId xmlns:a16="http://schemas.microsoft.com/office/drawing/2014/main" id="{F5194B51-E838-4B96-A904-63B2355BF3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87708" y="2815900"/>
            <a:ext cx="4130983" cy="2666362"/>
          </a:xfrm>
          <a:prstGeom prst="rect">
            <a:avLst/>
          </a:prstGeom>
          <a:noFill/>
          <a:ln>
            <a:solidFill>
              <a:srgbClr val="C0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副標題 2">
            <a:extLst>
              <a:ext uri="{FF2B5EF4-FFF2-40B4-BE49-F238E27FC236}">
                <a16:creationId xmlns:a16="http://schemas.microsoft.com/office/drawing/2014/main" id="{73B178C9-7F30-47F4-8E62-4BD18EDA071C}"/>
              </a:ext>
            </a:extLst>
          </p:cNvPr>
          <p:cNvSpPr txBox="1">
            <a:spLocks/>
          </p:cNvSpPr>
          <p:nvPr/>
        </p:nvSpPr>
        <p:spPr>
          <a:xfrm>
            <a:off x="367862" y="2900163"/>
            <a:ext cx="3988114" cy="2497836"/>
          </a:xfrm>
          <a:prstGeom prst="rect">
            <a:avLst/>
          </a:prstGeom>
          <a:ln>
            <a:solidFill>
              <a:srgbClr val="C00000"/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dirty="0">
                <a:solidFill>
                  <a:schemeClr val="tx1"/>
                </a:solidFill>
              </a:rPr>
              <a:t>Viruses spread through e-mails and need a host program to function.</a:t>
            </a:r>
          </a:p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dirty="0">
                <a:solidFill>
                  <a:schemeClr val="tx1"/>
                </a:solidFill>
              </a:rPr>
              <a:t>Whenever a new program runs on the infected system, the virus attaches itself to that program. </a:t>
            </a:r>
          </a:p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dirty="0">
                <a:solidFill>
                  <a:schemeClr val="tx1"/>
                </a:solidFill>
              </a:rPr>
              <a:t>If you are an expert who tinkers with the OS files, they can get infected too.</a:t>
            </a:r>
          </a:p>
        </p:txBody>
      </p:sp>
    </p:spTree>
    <p:extLst>
      <p:ext uri="{BB962C8B-B14F-4D97-AF65-F5344CB8AC3E}">
        <p14:creationId xmlns:p14="http://schemas.microsoft.com/office/powerpoint/2010/main" val="4187186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764704"/>
          </a:xfrm>
          <a:gradFill flip="none" rotWithShape="1">
            <a:gsLst>
              <a:gs pos="0">
                <a:srgbClr val="C00000">
                  <a:shade val="30000"/>
                  <a:satMod val="115000"/>
                </a:srgbClr>
              </a:gs>
              <a:gs pos="50000">
                <a:srgbClr val="C00000">
                  <a:shade val="67500"/>
                  <a:satMod val="115000"/>
                </a:srgbClr>
              </a:gs>
              <a:gs pos="100000">
                <a:srgbClr val="C0000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/>
          <a:lstStyle/>
          <a:p>
            <a:pPr algn="l"/>
            <a:r>
              <a:rPr lang="en-US" altLang="zh-TW" b="1" dirty="0">
                <a:solidFill>
                  <a:srgbClr val="FFFF00"/>
                </a:solidFill>
              </a:rPr>
              <a:t>16 Network Security</a:t>
            </a:r>
            <a:endParaRPr lang="zh-TW" altLang="en-US" b="1" dirty="0">
              <a:solidFill>
                <a:srgbClr val="FFFF00"/>
              </a:solidFill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367862" y="1412777"/>
            <a:ext cx="8318938" cy="2232247"/>
          </a:xfrm>
          <a:ln>
            <a:solidFill>
              <a:srgbClr val="C00000"/>
            </a:solidFill>
          </a:ln>
        </p:spPr>
        <p:txBody>
          <a:bodyPr>
            <a:noAutofit/>
          </a:bodyPr>
          <a:lstStyle/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b="1" dirty="0">
                <a:solidFill>
                  <a:schemeClr val="tx1"/>
                </a:solidFill>
              </a:rPr>
              <a:t>Trojan Horse</a:t>
            </a:r>
          </a:p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b="1" dirty="0">
                <a:solidFill>
                  <a:schemeClr val="tx1"/>
                </a:solidFill>
              </a:rPr>
              <a:t>Trojan horse</a:t>
            </a:r>
            <a:r>
              <a:rPr lang="en-US" sz="1800" dirty="0">
                <a:solidFill>
                  <a:schemeClr val="tx1"/>
                </a:solidFill>
              </a:rPr>
              <a:t> is a malware that hides itself within another program like games or documents and harms the system. </a:t>
            </a:r>
          </a:p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dirty="0">
                <a:solidFill>
                  <a:schemeClr val="tx1"/>
                </a:solidFill>
              </a:rPr>
              <a:t>As it is masked within another program that appears harmless, the user is not aware of the threat. </a:t>
            </a:r>
          </a:p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dirty="0">
                <a:solidFill>
                  <a:schemeClr val="tx1"/>
                </a:solidFill>
              </a:rPr>
              <a:t>It functions in a way similar to </a:t>
            </a:r>
            <a:r>
              <a:rPr lang="en-US" sz="1800" b="1" dirty="0">
                <a:solidFill>
                  <a:schemeClr val="tx1"/>
                </a:solidFill>
              </a:rPr>
              <a:t>viruses</a:t>
            </a:r>
            <a:r>
              <a:rPr lang="en-US" sz="1800" dirty="0">
                <a:solidFill>
                  <a:schemeClr val="tx1"/>
                </a:solidFill>
              </a:rPr>
              <a:t> in that it needs a host program to attach itself and harms systems in the same ways.</a:t>
            </a:r>
          </a:p>
        </p:txBody>
      </p:sp>
      <p:sp>
        <p:nvSpPr>
          <p:cNvPr id="4" name="標題 1"/>
          <p:cNvSpPr txBox="1">
            <a:spLocks/>
          </p:cNvSpPr>
          <p:nvPr/>
        </p:nvSpPr>
        <p:spPr>
          <a:xfrm>
            <a:off x="0" y="764704"/>
            <a:ext cx="9144000" cy="398616"/>
          </a:xfrm>
          <a:prstGeom prst="rect">
            <a:avLst/>
          </a:prstGeom>
          <a:gradFill flip="none" rotWithShape="1">
            <a:gsLst>
              <a:gs pos="0">
                <a:srgbClr val="00B0F0">
                  <a:shade val="30000"/>
                  <a:satMod val="115000"/>
                </a:srgbClr>
              </a:gs>
              <a:gs pos="50000">
                <a:srgbClr val="00B0F0">
                  <a:shade val="67500"/>
                  <a:satMod val="115000"/>
                </a:srgbClr>
              </a:gs>
              <a:gs pos="100000">
                <a:srgbClr val="00B0F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 vert="horz" lIns="91440" tIns="45720" rIns="91440" bIns="45720" rtlCol="0" anchor="ctr">
            <a:normAutofit fontScale="85000" lnSpcReduction="10000"/>
          </a:bodyPr>
          <a:lstStyle/>
          <a:p>
            <a:pPr marL="0" lvl="1"/>
            <a:r>
              <a:rPr lang="en-US" sz="1600" dirty="0">
                <a:hlinkClick r:id="rId2"/>
              </a:rPr>
              <a:t>https://www.tutorialspoint.com/communication_technologies/communication_technologies_network_security.htm</a:t>
            </a:r>
            <a:endParaRPr lang="en-US" sz="1600" dirty="0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404246"/>
          </a:xfrm>
        </p:spPr>
        <p:txBody>
          <a:bodyPr/>
          <a:lstStyle/>
          <a:p>
            <a:fld id="{A4F910E6-8D00-4BAF-8C48-9688E0B449D3}" type="datetime1">
              <a:rPr lang="zh-TW" altLang="en-US" smtClean="0"/>
              <a:pPr/>
              <a:t>2020/3/28</a:t>
            </a:fld>
            <a:endParaRPr lang="zh-TW" alt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404246"/>
          </a:xfrm>
        </p:spPr>
        <p:txBody>
          <a:bodyPr/>
          <a:lstStyle/>
          <a:p>
            <a:fld id="{E4D7E63D-91F2-4366-A2C4-1B00C9E2590E}" type="slidenum">
              <a:rPr lang="zh-TW" altLang="en-US" smtClean="0"/>
              <a:pPr/>
              <a:t>6</a:t>
            </a:fld>
            <a:endParaRPr lang="zh-TW" altLang="en-US"/>
          </a:p>
        </p:txBody>
      </p:sp>
      <p:pic>
        <p:nvPicPr>
          <p:cNvPr id="3074" name="Picture 2" descr="Trojan Horse">
            <a:extLst>
              <a:ext uri="{FF2B5EF4-FFF2-40B4-BE49-F238E27FC236}">
                <a16:creationId xmlns:a16="http://schemas.microsoft.com/office/drawing/2014/main" id="{8554A782-5E90-4030-8CAD-AEDCF02461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7172" y="3683265"/>
            <a:ext cx="4009628" cy="2673085"/>
          </a:xfrm>
          <a:prstGeom prst="rect">
            <a:avLst/>
          </a:prstGeom>
          <a:noFill/>
          <a:ln>
            <a:solidFill>
              <a:srgbClr val="C0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副標題 2">
            <a:extLst>
              <a:ext uri="{FF2B5EF4-FFF2-40B4-BE49-F238E27FC236}">
                <a16:creationId xmlns:a16="http://schemas.microsoft.com/office/drawing/2014/main" id="{C3D3C9CD-29C5-4F26-954C-BA0AC7A41311}"/>
              </a:ext>
            </a:extLst>
          </p:cNvPr>
          <p:cNvSpPr txBox="1">
            <a:spLocks/>
          </p:cNvSpPr>
          <p:nvPr/>
        </p:nvSpPr>
        <p:spPr>
          <a:xfrm>
            <a:off x="307360" y="3884563"/>
            <a:ext cx="4264640" cy="1344637"/>
          </a:xfrm>
          <a:prstGeom prst="rect">
            <a:avLst/>
          </a:prstGeom>
          <a:ln>
            <a:solidFill>
              <a:srgbClr val="C00000"/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dirty="0">
                <a:solidFill>
                  <a:schemeClr val="tx1"/>
                </a:solidFill>
              </a:rPr>
              <a:t>Trojan horses spread through emails and exchange of data through hard drives or pen drives. </a:t>
            </a:r>
          </a:p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dirty="0">
                <a:solidFill>
                  <a:schemeClr val="tx1"/>
                </a:solidFill>
              </a:rPr>
              <a:t>Even worms could spread Trojan horses.</a:t>
            </a:r>
          </a:p>
        </p:txBody>
      </p:sp>
    </p:spTree>
    <p:extLst>
      <p:ext uri="{BB962C8B-B14F-4D97-AF65-F5344CB8AC3E}">
        <p14:creationId xmlns:p14="http://schemas.microsoft.com/office/powerpoint/2010/main" val="21031531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764704"/>
          </a:xfrm>
          <a:gradFill flip="none" rotWithShape="1">
            <a:gsLst>
              <a:gs pos="0">
                <a:srgbClr val="C00000">
                  <a:shade val="30000"/>
                  <a:satMod val="115000"/>
                </a:srgbClr>
              </a:gs>
              <a:gs pos="50000">
                <a:srgbClr val="C00000">
                  <a:shade val="67500"/>
                  <a:satMod val="115000"/>
                </a:srgbClr>
              </a:gs>
              <a:gs pos="100000">
                <a:srgbClr val="C0000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/>
          <a:lstStyle/>
          <a:p>
            <a:pPr algn="l"/>
            <a:r>
              <a:rPr lang="en-US" altLang="zh-TW" b="1" dirty="0">
                <a:solidFill>
                  <a:srgbClr val="FFFF00"/>
                </a:solidFill>
              </a:rPr>
              <a:t>16 Network Security</a:t>
            </a:r>
            <a:endParaRPr lang="zh-TW" altLang="en-US" b="1" dirty="0">
              <a:solidFill>
                <a:srgbClr val="FFFF00"/>
              </a:solidFill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367862" y="1412777"/>
            <a:ext cx="8318938" cy="3024335"/>
          </a:xfrm>
          <a:ln>
            <a:solidFill>
              <a:srgbClr val="C00000"/>
            </a:solidFill>
          </a:ln>
        </p:spPr>
        <p:txBody>
          <a:bodyPr>
            <a:noAutofit/>
          </a:bodyPr>
          <a:lstStyle/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b="1" dirty="0">
                <a:solidFill>
                  <a:schemeClr val="tx1"/>
                </a:solidFill>
              </a:rPr>
              <a:t>Worms</a:t>
            </a:r>
          </a:p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b="1" dirty="0">
                <a:solidFill>
                  <a:schemeClr val="tx1"/>
                </a:solidFill>
              </a:rPr>
              <a:t>Worms</a:t>
            </a:r>
            <a:r>
              <a:rPr lang="en-US" sz="1800" dirty="0">
                <a:solidFill>
                  <a:schemeClr val="tx1"/>
                </a:solidFill>
              </a:rPr>
              <a:t> are autonomous (self-existent) programs sent by the attacker to infect a system by replicating itself.</a:t>
            </a:r>
          </a:p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dirty="0">
                <a:solidFill>
                  <a:schemeClr val="tx1"/>
                </a:solidFill>
              </a:rPr>
              <a:t>They usually infect multitasking systems that are connected to a network. </a:t>
            </a:r>
          </a:p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dirty="0">
                <a:solidFill>
                  <a:schemeClr val="tx1"/>
                </a:solidFill>
              </a:rPr>
              <a:t>Some of the harmful activities undertaken by worms include:</a:t>
            </a:r>
          </a:p>
          <a:p>
            <a:pPr marL="800100" lvl="1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dirty="0">
                <a:solidFill>
                  <a:schemeClr val="tx1"/>
                </a:solidFill>
              </a:rPr>
              <a:t>Accessing and relaying back passwords stored on the system</a:t>
            </a:r>
          </a:p>
          <a:p>
            <a:pPr marL="800100" lvl="1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dirty="0">
                <a:solidFill>
                  <a:schemeClr val="tx1"/>
                </a:solidFill>
              </a:rPr>
              <a:t>Interrupt OS functioning</a:t>
            </a:r>
          </a:p>
          <a:p>
            <a:pPr marL="800100" lvl="1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dirty="0">
                <a:solidFill>
                  <a:schemeClr val="tx1"/>
                </a:solidFill>
              </a:rPr>
              <a:t>Disrupt services provided by the system</a:t>
            </a:r>
          </a:p>
          <a:p>
            <a:pPr marL="800100" lvl="1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dirty="0">
                <a:solidFill>
                  <a:schemeClr val="tx1"/>
                </a:solidFill>
              </a:rPr>
              <a:t>Install viruses or Trojan horses</a:t>
            </a:r>
          </a:p>
        </p:txBody>
      </p:sp>
      <p:sp>
        <p:nvSpPr>
          <p:cNvPr id="4" name="標題 1"/>
          <p:cNvSpPr txBox="1">
            <a:spLocks/>
          </p:cNvSpPr>
          <p:nvPr/>
        </p:nvSpPr>
        <p:spPr>
          <a:xfrm>
            <a:off x="0" y="764704"/>
            <a:ext cx="9144000" cy="398616"/>
          </a:xfrm>
          <a:prstGeom prst="rect">
            <a:avLst/>
          </a:prstGeom>
          <a:gradFill flip="none" rotWithShape="1">
            <a:gsLst>
              <a:gs pos="0">
                <a:srgbClr val="00B0F0">
                  <a:shade val="30000"/>
                  <a:satMod val="115000"/>
                </a:srgbClr>
              </a:gs>
              <a:gs pos="50000">
                <a:srgbClr val="00B0F0">
                  <a:shade val="67500"/>
                  <a:satMod val="115000"/>
                </a:srgbClr>
              </a:gs>
              <a:gs pos="100000">
                <a:srgbClr val="00B0F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 vert="horz" lIns="91440" tIns="45720" rIns="91440" bIns="45720" rtlCol="0" anchor="ctr">
            <a:normAutofit fontScale="85000" lnSpcReduction="10000"/>
          </a:bodyPr>
          <a:lstStyle/>
          <a:p>
            <a:pPr marL="0" lvl="1"/>
            <a:r>
              <a:rPr lang="en-US" sz="1600" dirty="0">
                <a:hlinkClick r:id="rId2"/>
              </a:rPr>
              <a:t>https://www.tutorialspoint.com/communication_technologies/communication_technologies_network_security.htm</a:t>
            </a:r>
            <a:endParaRPr lang="en-US" sz="1600" dirty="0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404246"/>
          </a:xfrm>
        </p:spPr>
        <p:txBody>
          <a:bodyPr/>
          <a:lstStyle/>
          <a:p>
            <a:fld id="{A4F910E6-8D00-4BAF-8C48-9688E0B449D3}" type="datetime1">
              <a:rPr lang="zh-TW" altLang="en-US" smtClean="0"/>
              <a:pPr/>
              <a:t>2020/3/28</a:t>
            </a:fld>
            <a:endParaRPr lang="zh-TW" alt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404246"/>
          </a:xfrm>
        </p:spPr>
        <p:txBody>
          <a:bodyPr/>
          <a:lstStyle/>
          <a:p>
            <a:fld id="{E4D7E63D-91F2-4366-A2C4-1B00C9E2590E}" type="slidenum">
              <a:rPr lang="zh-TW" altLang="en-US" smtClean="0"/>
              <a:pPr/>
              <a:t>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283972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764704"/>
          </a:xfrm>
          <a:gradFill flip="none" rotWithShape="1">
            <a:gsLst>
              <a:gs pos="0">
                <a:srgbClr val="C00000">
                  <a:shade val="30000"/>
                  <a:satMod val="115000"/>
                </a:srgbClr>
              </a:gs>
              <a:gs pos="50000">
                <a:srgbClr val="C00000">
                  <a:shade val="67500"/>
                  <a:satMod val="115000"/>
                </a:srgbClr>
              </a:gs>
              <a:gs pos="100000">
                <a:srgbClr val="C0000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/>
          <a:lstStyle/>
          <a:p>
            <a:pPr algn="l"/>
            <a:r>
              <a:rPr lang="en-US" altLang="zh-TW" b="1" dirty="0">
                <a:solidFill>
                  <a:srgbClr val="FFFF00"/>
                </a:solidFill>
              </a:rPr>
              <a:t>16 Network Security</a:t>
            </a:r>
            <a:endParaRPr lang="zh-TW" altLang="en-US" b="1" dirty="0">
              <a:solidFill>
                <a:srgbClr val="FFFF00"/>
              </a:solidFill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367862" y="1412777"/>
            <a:ext cx="8318938" cy="2218343"/>
          </a:xfrm>
          <a:ln>
            <a:solidFill>
              <a:srgbClr val="C00000"/>
            </a:solidFill>
          </a:ln>
        </p:spPr>
        <p:txBody>
          <a:bodyPr>
            <a:noAutofit/>
          </a:bodyPr>
          <a:lstStyle/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b="1" dirty="0">
                <a:solidFill>
                  <a:schemeClr val="tx1"/>
                </a:solidFill>
              </a:rPr>
              <a:t>Spams</a:t>
            </a:r>
          </a:p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dirty="0">
                <a:solidFill>
                  <a:schemeClr val="tx1"/>
                </a:solidFill>
              </a:rPr>
              <a:t>Electronic junk mail, unsolicited mail or junk newsroom postings are called spam. </a:t>
            </a:r>
          </a:p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dirty="0">
                <a:solidFill>
                  <a:schemeClr val="tx1"/>
                </a:solidFill>
              </a:rPr>
              <a:t>Sending multiple unsolicited mails simultaneously is called </a:t>
            </a:r>
            <a:r>
              <a:rPr lang="en-US" sz="1800" b="1" dirty="0">
                <a:solidFill>
                  <a:schemeClr val="tx1"/>
                </a:solidFill>
              </a:rPr>
              <a:t>spamming</a:t>
            </a:r>
            <a:r>
              <a:rPr lang="en-US" sz="1800" dirty="0">
                <a:solidFill>
                  <a:schemeClr val="tx1"/>
                </a:solidFill>
              </a:rPr>
              <a:t>. </a:t>
            </a:r>
          </a:p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dirty="0">
                <a:solidFill>
                  <a:schemeClr val="tx1"/>
                </a:solidFill>
              </a:rPr>
              <a:t>Spamming is usually done as part of marketing tactics to announce a product or share political or social views with a wide base of people.</a:t>
            </a:r>
          </a:p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dirty="0">
                <a:solidFill>
                  <a:schemeClr val="tx1"/>
                </a:solidFill>
              </a:rPr>
              <a:t>The first spam mail was sent by Gary </a:t>
            </a:r>
            <a:r>
              <a:rPr lang="en-US" sz="1800" dirty="0" err="1">
                <a:solidFill>
                  <a:schemeClr val="tx1"/>
                </a:solidFill>
              </a:rPr>
              <a:t>Thuerk</a:t>
            </a:r>
            <a:r>
              <a:rPr lang="en-US" sz="1800" dirty="0">
                <a:solidFill>
                  <a:schemeClr val="tx1"/>
                </a:solidFill>
              </a:rPr>
              <a:t> on ARPANET in 1978 to announce launch of new model of Digital Equipment Corporation computers. </a:t>
            </a:r>
          </a:p>
        </p:txBody>
      </p:sp>
      <p:sp>
        <p:nvSpPr>
          <p:cNvPr id="4" name="標題 1"/>
          <p:cNvSpPr txBox="1">
            <a:spLocks/>
          </p:cNvSpPr>
          <p:nvPr/>
        </p:nvSpPr>
        <p:spPr>
          <a:xfrm>
            <a:off x="0" y="764704"/>
            <a:ext cx="9144000" cy="398616"/>
          </a:xfrm>
          <a:prstGeom prst="rect">
            <a:avLst/>
          </a:prstGeom>
          <a:gradFill flip="none" rotWithShape="1">
            <a:gsLst>
              <a:gs pos="0">
                <a:srgbClr val="00B0F0">
                  <a:shade val="30000"/>
                  <a:satMod val="115000"/>
                </a:srgbClr>
              </a:gs>
              <a:gs pos="50000">
                <a:srgbClr val="00B0F0">
                  <a:shade val="67500"/>
                  <a:satMod val="115000"/>
                </a:srgbClr>
              </a:gs>
              <a:gs pos="100000">
                <a:srgbClr val="00B0F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 vert="horz" lIns="91440" tIns="45720" rIns="91440" bIns="45720" rtlCol="0" anchor="ctr">
            <a:normAutofit fontScale="85000" lnSpcReduction="10000"/>
          </a:bodyPr>
          <a:lstStyle/>
          <a:p>
            <a:pPr marL="0" lvl="1"/>
            <a:r>
              <a:rPr lang="en-US" sz="1600" dirty="0">
                <a:hlinkClick r:id="rId3"/>
              </a:rPr>
              <a:t>https://www.tutorialspoint.com/communication_technologies/communication_technologies_network_security.htm</a:t>
            </a:r>
            <a:endParaRPr lang="en-US" sz="1600" dirty="0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404246"/>
          </a:xfrm>
        </p:spPr>
        <p:txBody>
          <a:bodyPr/>
          <a:lstStyle/>
          <a:p>
            <a:fld id="{A4F910E6-8D00-4BAF-8C48-9688E0B449D3}" type="datetime1">
              <a:rPr lang="zh-TW" altLang="en-US" smtClean="0"/>
              <a:pPr/>
              <a:t>2020/3/28</a:t>
            </a:fld>
            <a:endParaRPr lang="zh-TW" alt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404246"/>
          </a:xfrm>
        </p:spPr>
        <p:txBody>
          <a:bodyPr/>
          <a:lstStyle/>
          <a:p>
            <a:fld id="{E4D7E63D-91F2-4366-A2C4-1B00C9E2590E}" type="slidenum">
              <a:rPr lang="zh-TW" altLang="en-US" smtClean="0"/>
              <a:pPr/>
              <a:t>8</a:t>
            </a:fld>
            <a:endParaRPr lang="zh-TW" altLang="en-US"/>
          </a:p>
        </p:txBody>
      </p:sp>
      <p:pic>
        <p:nvPicPr>
          <p:cNvPr id="4098" name="Picture 2" descr=" Spams">
            <a:extLst>
              <a:ext uri="{FF2B5EF4-FFF2-40B4-BE49-F238E27FC236}">
                <a16:creationId xmlns:a16="http://schemas.microsoft.com/office/drawing/2014/main" id="{42C5EB5A-A73A-4A63-91F1-481E22C889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50999" y="3780278"/>
            <a:ext cx="4240386" cy="27209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副標題 2">
            <a:extLst>
              <a:ext uri="{FF2B5EF4-FFF2-40B4-BE49-F238E27FC236}">
                <a16:creationId xmlns:a16="http://schemas.microsoft.com/office/drawing/2014/main" id="{BFB2F468-4E2C-47C2-A291-A4AFD7443B91}"/>
              </a:ext>
            </a:extLst>
          </p:cNvPr>
          <p:cNvSpPr txBox="1">
            <a:spLocks/>
          </p:cNvSpPr>
          <p:nvPr/>
        </p:nvSpPr>
        <p:spPr>
          <a:xfrm>
            <a:off x="367862" y="3764093"/>
            <a:ext cx="4016216" cy="1177076"/>
          </a:xfrm>
          <a:prstGeom prst="rect">
            <a:avLst/>
          </a:prstGeom>
          <a:ln>
            <a:solidFill>
              <a:srgbClr val="C00000"/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dirty="0">
                <a:solidFill>
                  <a:schemeClr val="tx1"/>
                </a:solidFill>
              </a:rPr>
              <a:t>It was sent to 393 recipients and together with lots of hue and cry it generated sales for the company as well.</a:t>
            </a:r>
          </a:p>
        </p:txBody>
      </p:sp>
    </p:spTree>
    <p:extLst>
      <p:ext uri="{BB962C8B-B14F-4D97-AF65-F5344CB8AC3E}">
        <p14:creationId xmlns:p14="http://schemas.microsoft.com/office/powerpoint/2010/main" val="27562260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764704"/>
          </a:xfrm>
          <a:gradFill flip="none" rotWithShape="1">
            <a:gsLst>
              <a:gs pos="0">
                <a:srgbClr val="C00000">
                  <a:shade val="30000"/>
                  <a:satMod val="115000"/>
                </a:srgbClr>
              </a:gs>
              <a:gs pos="50000">
                <a:srgbClr val="C00000">
                  <a:shade val="67500"/>
                  <a:satMod val="115000"/>
                </a:srgbClr>
              </a:gs>
              <a:gs pos="100000">
                <a:srgbClr val="C0000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/>
          <a:lstStyle/>
          <a:p>
            <a:pPr algn="l"/>
            <a:r>
              <a:rPr lang="en-US" altLang="zh-TW" b="1" dirty="0">
                <a:solidFill>
                  <a:srgbClr val="FFFF00"/>
                </a:solidFill>
              </a:rPr>
              <a:t>16 Network Security</a:t>
            </a:r>
            <a:endParaRPr lang="zh-TW" altLang="en-US" b="1" dirty="0">
              <a:solidFill>
                <a:srgbClr val="FFFF00"/>
              </a:solidFill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367862" y="1412777"/>
            <a:ext cx="8318938" cy="1224135"/>
          </a:xfrm>
          <a:ln>
            <a:solidFill>
              <a:srgbClr val="C00000"/>
            </a:solidFill>
          </a:ln>
        </p:spPr>
        <p:txBody>
          <a:bodyPr>
            <a:noAutofit/>
          </a:bodyPr>
          <a:lstStyle/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b="1" dirty="0">
                <a:solidFill>
                  <a:schemeClr val="tx1"/>
                </a:solidFill>
              </a:rPr>
              <a:t>Spams</a:t>
            </a:r>
          </a:p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dirty="0">
                <a:solidFill>
                  <a:schemeClr val="tx1"/>
                </a:solidFill>
              </a:rPr>
              <a:t>Almost all mail servers give you the option of stopping spams by marking a received mail as junk. You should take care to share your email ID only with trusted people or websites, who will not sell them to spammers. </a:t>
            </a:r>
          </a:p>
        </p:txBody>
      </p:sp>
      <p:sp>
        <p:nvSpPr>
          <p:cNvPr id="4" name="標題 1"/>
          <p:cNvSpPr txBox="1">
            <a:spLocks/>
          </p:cNvSpPr>
          <p:nvPr/>
        </p:nvSpPr>
        <p:spPr>
          <a:xfrm>
            <a:off x="0" y="764704"/>
            <a:ext cx="9144000" cy="398616"/>
          </a:xfrm>
          <a:prstGeom prst="rect">
            <a:avLst/>
          </a:prstGeom>
          <a:gradFill flip="none" rotWithShape="1">
            <a:gsLst>
              <a:gs pos="0">
                <a:srgbClr val="00B0F0">
                  <a:shade val="30000"/>
                  <a:satMod val="115000"/>
                </a:srgbClr>
              </a:gs>
              <a:gs pos="50000">
                <a:srgbClr val="00B0F0">
                  <a:shade val="67500"/>
                  <a:satMod val="115000"/>
                </a:srgbClr>
              </a:gs>
              <a:gs pos="100000">
                <a:srgbClr val="00B0F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 vert="horz" lIns="91440" tIns="45720" rIns="91440" bIns="45720" rtlCol="0" anchor="ctr">
            <a:normAutofit fontScale="85000" lnSpcReduction="10000"/>
          </a:bodyPr>
          <a:lstStyle/>
          <a:p>
            <a:pPr marL="0" lvl="1"/>
            <a:r>
              <a:rPr lang="en-US" sz="1600" dirty="0">
                <a:hlinkClick r:id="rId3"/>
              </a:rPr>
              <a:t>https://www.tutorialspoint.com/communication_technologies/communication_technologies_network_security.htm</a:t>
            </a:r>
            <a:endParaRPr lang="en-US" sz="1600" dirty="0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404246"/>
          </a:xfrm>
        </p:spPr>
        <p:txBody>
          <a:bodyPr/>
          <a:lstStyle/>
          <a:p>
            <a:fld id="{A4F910E6-8D00-4BAF-8C48-9688E0B449D3}" type="datetime1">
              <a:rPr lang="zh-TW" altLang="en-US" smtClean="0"/>
              <a:pPr/>
              <a:t>2020/3/28</a:t>
            </a:fld>
            <a:endParaRPr lang="zh-TW" alt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404246"/>
          </a:xfrm>
        </p:spPr>
        <p:txBody>
          <a:bodyPr/>
          <a:lstStyle/>
          <a:p>
            <a:fld id="{E4D7E63D-91F2-4366-A2C4-1B00C9E2590E}" type="slidenum">
              <a:rPr lang="zh-TW" altLang="en-US" smtClean="0"/>
              <a:pPr/>
              <a:t>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31861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0" y="2130425"/>
            <a:ext cx="9144000" cy="1470025"/>
          </a:xfrm>
          <a:gradFill flip="none" rotWithShape="1">
            <a:gsLst>
              <a:gs pos="0">
                <a:srgbClr val="00B0F0">
                  <a:shade val="30000"/>
                  <a:satMod val="115000"/>
                </a:srgbClr>
              </a:gs>
              <a:gs pos="50000">
                <a:srgbClr val="00B0F0">
                  <a:shade val="67500"/>
                  <a:satMod val="115000"/>
                </a:srgbClr>
              </a:gs>
              <a:gs pos="100000">
                <a:srgbClr val="00B0F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>
            <a:normAutofit/>
          </a:bodyPr>
          <a:lstStyle/>
          <a:p>
            <a:r>
              <a:rPr lang="en-US" altLang="zh-TW" sz="6000" b="1" dirty="0">
                <a:solidFill>
                  <a:srgbClr val="FFFF00"/>
                </a:solidFill>
              </a:rPr>
              <a:t>End of Chapter</a:t>
            </a:r>
            <a:endParaRPr lang="zh-TW" altLang="en-US" sz="6000" b="1" dirty="0">
              <a:solidFill>
                <a:srgbClr val="FFFF00"/>
              </a:solidFill>
            </a:endParaRP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46BE27-E923-4EC2-B046-3272AE2A3E5C}" type="datetime1">
              <a:rPr lang="zh-TW" altLang="en-US" smtClean="0"/>
              <a:pPr/>
              <a:t>2020/3/28</a:t>
            </a:fld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7E63D-91F2-4366-A2C4-1B00C9E2590E}" type="slidenum">
              <a:rPr lang="zh-TW" altLang="en-US" smtClean="0"/>
              <a:pPr/>
              <a:t>10</a:t>
            </a:fld>
            <a:endParaRPr lang="zh-TW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1199</TotalTime>
  <Words>862</Words>
  <Application>Microsoft Office PowerPoint</Application>
  <PresentationFormat>On-screen Show (4:3)</PresentationFormat>
  <Paragraphs>93</Paragraphs>
  <Slides>10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Wingdings</vt:lpstr>
      <vt:lpstr>Office 佈景主題</vt:lpstr>
      <vt:lpstr>16 Network Security</vt:lpstr>
      <vt:lpstr>16 Network Security</vt:lpstr>
      <vt:lpstr>16 Network Security</vt:lpstr>
      <vt:lpstr>16 Network Security</vt:lpstr>
      <vt:lpstr>16 Network Security</vt:lpstr>
      <vt:lpstr>16 Network Security</vt:lpstr>
      <vt:lpstr>16 Network Security</vt:lpstr>
      <vt:lpstr>16 Network Security</vt:lpstr>
      <vt:lpstr>16 Network Security</vt:lpstr>
      <vt:lpstr>End of Chapter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Node JS</dc:title>
  <dc:creator>USER</dc:creator>
  <cp:lastModifiedBy>14088587657</cp:lastModifiedBy>
  <cp:revision>444</cp:revision>
  <dcterms:created xsi:type="dcterms:W3CDTF">2018-09-28T16:40:41Z</dcterms:created>
  <dcterms:modified xsi:type="dcterms:W3CDTF">2020-03-28T22:29:20Z</dcterms:modified>
</cp:coreProperties>
</file>