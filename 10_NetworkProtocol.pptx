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3" r:id="rId3"/>
    <p:sldId id="264" r:id="rId4"/>
    <p:sldId id="265" r:id="rId5"/>
    <p:sldId id="266" r:id="rId6"/>
    <p:sldId id="267" r:id="rId7"/>
    <p:sldId id="268" r:id="rId8"/>
    <p:sldId id="269" r:id="rId9"/>
    <p:sldId id="270" r:id="rId10"/>
    <p:sldId id="271" r:id="rId11"/>
    <p:sldId id="272" r:id="rId12"/>
    <p:sldId id="259" r:id="rId1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20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37EDA8-41C8-4B24-A206-13C08A65A6D7}" type="datetimeFigureOut">
              <a:rPr lang="zh-TW" altLang="en-US" smtClean="0"/>
              <a:pPr/>
              <a:t>2020/3/28</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FAA135-E01C-4A42-9760-5A137A0CA41F}"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lvl1pPr>
              <a:defRPr>
                <a:solidFill>
                  <a:schemeClr val="tx1"/>
                </a:solidFill>
              </a:defRPr>
            </a:lvl1pPr>
          </a:lstStyle>
          <a:p>
            <a:fld id="{8B85509C-BD4F-47BF-9B1E-FC2E949B3621}"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lvl1pPr>
              <a:defRPr>
                <a:solidFill>
                  <a:schemeClr val="tx1"/>
                </a:solidFill>
              </a:defRPr>
            </a:lvl1pPr>
          </a:lstStyle>
          <a:p>
            <a:fld id="{E4D7E63D-91F2-4366-A2C4-1B00C9E2590E}"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0B99440-D9EF-40CC-9B52-F6428D9B2C76}"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0871BF52-5C6C-4959-8E27-CECB68D39FE4}"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DF863F05-2DD9-4EB1-A827-12FD992DE9DC}" type="datetime1">
              <a:rPr lang="zh-TW" altLang="en-US" smtClean="0"/>
              <a:pPr/>
              <a:t>2020/3/28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6339AF51-4491-4873-A096-75DB6CE47516}" type="datetime1">
              <a:rPr lang="zh-TW" altLang="en-US" smtClean="0"/>
              <a:pPr/>
              <a:t>2020/3/28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EE4AD9C8-8B9E-40FF-ABE2-858AC2057BBB}" type="datetime1">
              <a:rPr lang="zh-TW" altLang="en-US" smtClean="0"/>
              <a:pPr/>
              <a:t>2020/3/28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4784999-BBBE-4BE4-A8D0-877E7D1D66CC}" type="datetime1">
              <a:rPr lang="zh-TW" altLang="en-US" smtClean="0"/>
              <a:pPr/>
              <a:t>2020/3/28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E88D17E6-02BD-4944-B9FE-7BFCCBF83D48}" type="datetime1">
              <a:rPr lang="zh-TW" altLang="en-US" smtClean="0"/>
              <a:pPr/>
              <a:t>2020/3/28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3C13E23D-1FEF-4D78-A3A3-3D6F2BB31954}" type="datetime1">
              <a:rPr lang="zh-TW" altLang="en-US" smtClean="0"/>
              <a:pPr/>
              <a:t>2020/3/28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2251B24-F787-4C15-8A0F-7AEC20C70069}"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CA0D33C-CE2B-45F1-B8D4-FFD1F131F331}"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197F35-AD6F-4594-8B50-334492D2E7E8}" type="datetime1">
              <a:rPr lang="zh-TW" altLang="en-US" smtClean="0"/>
              <a:pPr/>
              <a:t>2020/3/28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D7E63D-91F2-4366-A2C4-1B00C9E2590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network_protocols.ht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network_protocols.ht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network_protocols.htm"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tutorialspoint.com/communication_technologies/communication_technologies_network_protocols.ht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network_protocols.htm"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network_protocols.htm"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tutorialspoint.com/communication_technologies/communication_technologies_network_protocols.htm"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www.tutorialspoint.com/communication_technologies/communication_technologies_network_protocols.htm"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www.tutorialspoint.com/communication_technologies/communication_technologies_network_protocols.htm"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network_protocols.htm"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2130425"/>
            <a:ext cx="9144000" cy="1470025"/>
          </a:xfrm>
          <a:solidFill>
            <a:srgbClr val="00B0F0"/>
          </a:solidFill>
        </p:spPr>
        <p:txBody>
          <a:bodyPr>
            <a:normAutofit/>
          </a:bodyPr>
          <a:lstStyle/>
          <a:p>
            <a:r>
              <a:rPr lang="en-US" altLang="zh-TW" sz="4800" b="1" dirty="0">
                <a:solidFill>
                  <a:srgbClr val="FFFF00"/>
                </a:solidFill>
              </a:rPr>
              <a:t>10 Network Protocol</a:t>
            </a:r>
            <a:endParaRPr lang="zh-TW" altLang="en-US" sz="4800" b="1" dirty="0">
              <a:solidFill>
                <a:srgbClr val="FFFF00"/>
              </a:solidFill>
            </a:endParaRPr>
          </a:p>
        </p:txBody>
      </p:sp>
      <p:sp>
        <p:nvSpPr>
          <p:cNvPr id="3" name="副標題 2"/>
          <p:cNvSpPr>
            <a:spLocks noGrp="1"/>
          </p:cNvSpPr>
          <p:nvPr>
            <p:ph type="subTitle" idx="1"/>
          </p:nvPr>
        </p:nvSpPr>
        <p:spPr>
          <a:xfrm>
            <a:off x="1371600" y="4570616"/>
            <a:ext cx="6400800" cy="694928"/>
          </a:xfrm>
        </p:spPr>
        <p:txBody>
          <a:bodyPr>
            <a:normAutofit/>
          </a:bodyPr>
          <a:lstStyle/>
          <a:p>
            <a:r>
              <a:rPr lang="en-US" altLang="zh-TW" dirty="0"/>
              <a:t>Peter H. Chen</a:t>
            </a:r>
            <a:endParaRPr lang="zh-TW" altLang="en-US" dirty="0"/>
          </a:p>
        </p:txBody>
      </p:sp>
      <p:sp>
        <p:nvSpPr>
          <p:cNvPr id="5" name="日期版面配置區 4"/>
          <p:cNvSpPr>
            <a:spLocks noGrp="1"/>
          </p:cNvSpPr>
          <p:nvPr>
            <p:ph type="dt" sz="half" idx="10"/>
          </p:nvPr>
        </p:nvSpPr>
        <p:spPr/>
        <p:txBody>
          <a:bodyPr/>
          <a:lstStyle/>
          <a:p>
            <a:fld id="{C389EDC9-19E3-47AC-9C57-C6A24DEA81AD}" type="datetime1">
              <a:rPr lang="zh-TW" altLang="en-US" smtClean="0"/>
              <a:pPr/>
              <a:t>2020/3/28</a:t>
            </a:fld>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1</a:t>
            </a:fld>
            <a:endParaRPr lang="zh-TW" altLang="en-US"/>
          </a:p>
        </p:txBody>
      </p:sp>
      <p:pic>
        <p:nvPicPr>
          <p:cNvPr id="4" name="Picture 3">
            <a:extLst>
              <a:ext uri="{FF2B5EF4-FFF2-40B4-BE49-F238E27FC236}">
                <a16:creationId xmlns:a16="http://schemas.microsoft.com/office/drawing/2014/main" id="{E3C8BD46-82E2-48A7-803A-12ED04C9EDCE}"/>
              </a:ext>
            </a:extLst>
          </p:cNvPr>
          <p:cNvPicPr>
            <a:picLocks noChangeAspect="1"/>
          </p:cNvPicPr>
          <p:nvPr/>
        </p:nvPicPr>
        <p:blipFill>
          <a:blip r:embed="rId2"/>
          <a:stretch>
            <a:fillRect/>
          </a:stretch>
        </p:blipFill>
        <p:spPr>
          <a:xfrm>
            <a:off x="4022825" y="3717032"/>
            <a:ext cx="1098349" cy="950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10 Network Protocol</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1800199"/>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Network Protocols</a:t>
            </a:r>
            <a:r>
              <a:rPr lang="en-US" sz="1800" dirty="0">
                <a:solidFill>
                  <a:schemeClr val="tx1"/>
                </a:solidFill>
              </a:rPr>
              <a:t> are a set of rules governing exchange of information in an easy, reliable and secure way. </a:t>
            </a:r>
          </a:p>
          <a:p>
            <a:pPr marL="342900" indent="-342900" algn="l">
              <a:buClr>
                <a:srgbClr val="0070C0"/>
              </a:buClr>
              <a:buSzPct val="80000"/>
              <a:buFont typeface="Wingdings" pitchFamily="2" charset="2"/>
              <a:buChar char="u"/>
            </a:pPr>
            <a:r>
              <a:rPr lang="en-US" sz="1800" dirty="0">
                <a:solidFill>
                  <a:schemeClr val="tx1"/>
                </a:solidFill>
              </a:rPr>
              <a:t>The most common protocols used to transmit and receive data over a network, we need to understand how a network is logically organized or designed. </a:t>
            </a:r>
          </a:p>
          <a:p>
            <a:pPr marL="342900" indent="-342900" algn="l">
              <a:buClr>
                <a:srgbClr val="0070C0"/>
              </a:buClr>
              <a:buSzPct val="80000"/>
              <a:buFont typeface="Wingdings" pitchFamily="2" charset="2"/>
              <a:buChar char="u"/>
            </a:pPr>
            <a:r>
              <a:rPr lang="en-US" sz="1800" dirty="0">
                <a:solidFill>
                  <a:schemeClr val="tx1"/>
                </a:solidFill>
              </a:rPr>
              <a:t>The most popular model used to establish open communication between two systems is the </a:t>
            </a:r>
            <a:r>
              <a:rPr lang="en-US" sz="1800" b="1" dirty="0">
                <a:solidFill>
                  <a:schemeClr val="tx1"/>
                </a:solidFill>
              </a:rPr>
              <a:t>Open Systems Interface (OSI) model</a:t>
            </a:r>
            <a:r>
              <a:rPr lang="en-US" sz="1800" dirty="0">
                <a:solidFill>
                  <a:schemeClr val="tx1"/>
                </a:solidFill>
              </a:rPr>
              <a:t> proposed by ISO.</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https://www.tutorialspoint.com/communication_technologies/communication_technologies_network_protocols.htm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10 Network Protocol</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4680519"/>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OSI Model</a:t>
            </a:r>
          </a:p>
          <a:p>
            <a:pPr marL="342900" indent="-342900" algn="l">
              <a:buClr>
                <a:srgbClr val="0070C0"/>
              </a:buClr>
              <a:buSzPct val="80000"/>
              <a:buFont typeface="Wingdings" pitchFamily="2" charset="2"/>
              <a:buChar char="u"/>
            </a:pPr>
            <a:r>
              <a:rPr lang="en-US" sz="1800" dirty="0">
                <a:solidFill>
                  <a:schemeClr val="tx1"/>
                </a:solidFill>
              </a:rPr>
              <a:t>OSI model is not a </a:t>
            </a:r>
            <a:r>
              <a:rPr lang="en-US" sz="1800" b="1" dirty="0">
                <a:solidFill>
                  <a:schemeClr val="tx1"/>
                </a:solidFill>
              </a:rPr>
              <a:t>network architecture</a:t>
            </a:r>
            <a:r>
              <a:rPr lang="en-US" sz="1800" dirty="0">
                <a:solidFill>
                  <a:schemeClr val="tx1"/>
                </a:solidFill>
              </a:rPr>
              <a:t> because it does not specify the exact services and protocols for each layer. </a:t>
            </a:r>
          </a:p>
          <a:p>
            <a:pPr marL="342900" indent="-342900" algn="l">
              <a:buClr>
                <a:srgbClr val="0070C0"/>
              </a:buClr>
              <a:buSzPct val="80000"/>
              <a:buFont typeface="Wingdings" pitchFamily="2" charset="2"/>
              <a:buChar char="u"/>
            </a:pPr>
            <a:r>
              <a:rPr lang="en-US" sz="1800" dirty="0">
                <a:solidFill>
                  <a:schemeClr val="tx1"/>
                </a:solidFill>
              </a:rPr>
              <a:t>It simply tells what each layer should do by defining its input and output data. </a:t>
            </a:r>
          </a:p>
          <a:p>
            <a:pPr marL="342900" indent="-342900" algn="l">
              <a:buClr>
                <a:srgbClr val="0070C0"/>
              </a:buClr>
              <a:buSzPct val="80000"/>
              <a:buFont typeface="Wingdings" pitchFamily="2" charset="2"/>
              <a:buChar char="u"/>
            </a:pPr>
            <a:r>
              <a:rPr lang="en-US" sz="1800" dirty="0">
                <a:solidFill>
                  <a:schemeClr val="tx1"/>
                </a:solidFill>
              </a:rPr>
              <a:t>It is up to network architects to implement the layers according to their needs and resources available.</a:t>
            </a:r>
          </a:p>
          <a:p>
            <a:pPr marL="342900" indent="-342900" algn="l">
              <a:buClr>
                <a:srgbClr val="0070C0"/>
              </a:buClr>
              <a:buSzPct val="80000"/>
              <a:buFont typeface="Wingdings" pitchFamily="2" charset="2"/>
              <a:buChar char="u"/>
            </a:pPr>
            <a:r>
              <a:rPr lang="en-US" sz="1800" dirty="0">
                <a:solidFill>
                  <a:schemeClr val="tx1"/>
                </a:solidFill>
              </a:rPr>
              <a:t>These are the seven layers of the OSI model −</a:t>
            </a:r>
          </a:p>
          <a:p>
            <a:pPr marL="342900" indent="-342900" algn="l">
              <a:buClr>
                <a:srgbClr val="0070C0"/>
              </a:buClr>
              <a:buSzPct val="80000"/>
              <a:buFont typeface="Wingdings" pitchFamily="2" charset="2"/>
              <a:buChar char="u"/>
            </a:pPr>
            <a:r>
              <a:rPr lang="en-US" sz="1800" b="1" dirty="0">
                <a:solidFill>
                  <a:schemeClr val="tx1"/>
                </a:solidFill>
              </a:rPr>
              <a:t>Physical layer</a:t>
            </a:r>
            <a:r>
              <a:rPr lang="en-US" sz="1800" dirty="0">
                <a:solidFill>
                  <a:schemeClr val="tx1"/>
                </a:solidFill>
              </a:rPr>
              <a:t> − It is the first layer that physically connects the two systems that need to communicate. It transmits data in bits and manages simplex or duplex transmission by modem. It also manages Network Interface Card’s hardware interface to the network, like cabling, cable terminators, topography, voltage levels, etc.</a:t>
            </a:r>
          </a:p>
          <a:p>
            <a:pPr marL="342900" indent="-342900" algn="l">
              <a:buClr>
                <a:srgbClr val="0070C0"/>
              </a:buClr>
              <a:buSzPct val="80000"/>
              <a:buFont typeface="Wingdings" pitchFamily="2" charset="2"/>
              <a:buChar char="u"/>
            </a:pPr>
            <a:r>
              <a:rPr lang="en-US" sz="1800" b="1" dirty="0">
                <a:solidFill>
                  <a:schemeClr val="tx1"/>
                </a:solidFill>
              </a:rPr>
              <a:t>Data link layer</a:t>
            </a:r>
            <a:r>
              <a:rPr lang="en-US" sz="1800" dirty="0">
                <a:solidFill>
                  <a:schemeClr val="tx1"/>
                </a:solidFill>
              </a:rPr>
              <a:t> − It is the firmware layer of Network Interface Card. It assembles datagrams into frames and adds start and stop flags to each frame. It also resolves problems caused by damaged, lost or duplicate frames.</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https://www.tutorialspoint.com/communication_technologies/communication_technologies_network_protocols.htm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3</a:t>
            </a:fld>
            <a:endParaRPr lang="zh-TW" altLang="en-US"/>
          </a:p>
        </p:txBody>
      </p:sp>
    </p:spTree>
    <p:extLst>
      <p:ext uri="{BB962C8B-B14F-4D97-AF65-F5344CB8AC3E}">
        <p14:creationId xmlns:p14="http://schemas.microsoft.com/office/powerpoint/2010/main" val="564010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10 Network Protocol</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4943573"/>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OSI Model</a:t>
            </a:r>
          </a:p>
          <a:p>
            <a:pPr marL="342900" indent="-342900" algn="l">
              <a:buClr>
                <a:srgbClr val="0070C0"/>
              </a:buClr>
              <a:buSzPct val="80000"/>
              <a:buFont typeface="Wingdings" pitchFamily="2" charset="2"/>
              <a:buChar char="u"/>
            </a:pPr>
            <a:r>
              <a:rPr lang="en-US" sz="1800" b="1" dirty="0">
                <a:solidFill>
                  <a:schemeClr val="tx1"/>
                </a:solidFill>
              </a:rPr>
              <a:t>Network layer</a:t>
            </a:r>
            <a:r>
              <a:rPr lang="en-US" sz="1800" dirty="0">
                <a:solidFill>
                  <a:schemeClr val="tx1"/>
                </a:solidFill>
              </a:rPr>
              <a:t> − It is concerned with routing, switching and controlling flow of information between the workstations. It also breaks down transport layer datagrams into smaller datagrams.</a:t>
            </a:r>
          </a:p>
          <a:p>
            <a:pPr marL="342900" indent="-342900" algn="l">
              <a:buClr>
                <a:srgbClr val="0070C0"/>
              </a:buClr>
              <a:buSzPct val="80000"/>
              <a:buFont typeface="Wingdings" pitchFamily="2" charset="2"/>
              <a:buChar char="u"/>
            </a:pPr>
            <a:r>
              <a:rPr lang="en-US" sz="1800" b="1" dirty="0">
                <a:solidFill>
                  <a:schemeClr val="tx1"/>
                </a:solidFill>
              </a:rPr>
              <a:t>Transport layer</a:t>
            </a:r>
            <a:r>
              <a:rPr lang="en-US" sz="1800" dirty="0">
                <a:solidFill>
                  <a:schemeClr val="tx1"/>
                </a:solidFill>
              </a:rPr>
              <a:t> − Till the session layer, file is in its own form. Transport layer breaks it down into data frames, provides error checking at network segment level and prevents a fast host from overrunning a slower one. Transport layer isolates the upper layers from network hardware.</a:t>
            </a:r>
          </a:p>
          <a:p>
            <a:pPr marL="342900" indent="-342900" algn="l">
              <a:buClr>
                <a:srgbClr val="0070C0"/>
              </a:buClr>
              <a:buSzPct val="80000"/>
              <a:buFont typeface="Wingdings" pitchFamily="2" charset="2"/>
              <a:buChar char="u"/>
            </a:pPr>
            <a:r>
              <a:rPr lang="en-US" sz="1800" b="1" dirty="0">
                <a:solidFill>
                  <a:schemeClr val="tx1"/>
                </a:solidFill>
              </a:rPr>
              <a:t>Session layer</a:t>
            </a:r>
            <a:r>
              <a:rPr lang="en-US" sz="1800" dirty="0">
                <a:solidFill>
                  <a:schemeClr val="tx1"/>
                </a:solidFill>
              </a:rPr>
              <a:t> − This layer is responsible for establishing a session between two workstations that want to exchange data.</a:t>
            </a:r>
          </a:p>
          <a:p>
            <a:pPr marL="342900" indent="-342900" algn="l">
              <a:buClr>
                <a:srgbClr val="0070C0"/>
              </a:buClr>
              <a:buSzPct val="80000"/>
              <a:buFont typeface="Wingdings" pitchFamily="2" charset="2"/>
              <a:buChar char="u"/>
            </a:pPr>
            <a:r>
              <a:rPr lang="en-US" sz="1800" b="1" dirty="0">
                <a:solidFill>
                  <a:schemeClr val="tx1"/>
                </a:solidFill>
              </a:rPr>
              <a:t>Presentation layer</a:t>
            </a:r>
            <a:r>
              <a:rPr lang="en-US" sz="1800" dirty="0">
                <a:solidFill>
                  <a:schemeClr val="tx1"/>
                </a:solidFill>
              </a:rPr>
              <a:t> − This layer is concerned with correct representation of data, i.e. syntax and semantics of information. It controls file level security and is also responsible for converting data to network standards.</a:t>
            </a:r>
          </a:p>
          <a:p>
            <a:pPr marL="342900" indent="-342900" algn="l">
              <a:buClr>
                <a:srgbClr val="0070C0"/>
              </a:buClr>
              <a:buSzPct val="80000"/>
              <a:buFont typeface="Wingdings" pitchFamily="2" charset="2"/>
              <a:buChar char="u"/>
            </a:pPr>
            <a:r>
              <a:rPr lang="en-US" sz="1800" b="1" dirty="0">
                <a:solidFill>
                  <a:schemeClr val="tx1"/>
                </a:solidFill>
              </a:rPr>
              <a:t>Application layer</a:t>
            </a:r>
            <a:r>
              <a:rPr lang="en-US" sz="1800" dirty="0">
                <a:solidFill>
                  <a:schemeClr val="tx1"/>
                </a:solidFill>
              </a:rPr>
              <a:t> − It is the topmost layer of the network that is responsible for sending application requests by the user to the lower levels. Typical applications include file transfer, E-mail, remote logon, data entry, etc.</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https://www.tutorialspoint.com/communication_technologies/communication_technologies_network_protocols.htm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4</a:t>
            </a:fld>
            <a:endParaRPr lang="zh-TW" altLang="en-US"/>
          </a:p>
        </p:txBody>
      </p:sp>
    </p:spTree>
    <p:extLst>
      <p:ext uri="{BB962C8B-B14F-4D97-AF65-F5344CB8AC3E}">
        <p14:creationId xmlns:p14="http://schemas.microsoft.com/office/powerpoint/2010/main" val="1091315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10 Network Protocol</a:t>
            </a:r>
            <a:endParaRPr lang="zh-TW" altLang="en-US" b="1" dirty="0">
              <a:solidFill>
                <a:srgbClr val="FFFF00"/>
              </a:solidFill>
            </a:endParaRPr>
          </a:p>
        </p:txBody>
      </p:sp>
      <p:sp>
        <p:nvSpPr>
          <p:cNvPr id="3" name="副標題 2"/>
          <p:cNvSpPr>
            <a:spLocks noGrp="1"/>
          </p:cNvSpPr>
          <p:nvPr>
            <p:ph type="subTitle" idx="1"/>
          </p:nvPr>
        </p:nvSpPr>
        <p:spPr>
          <a:xfrm>
            <a:off x="367862" y="1412778"/>
            <a:ext cx="8318938" cy="398616"/>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OSI Model</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https://www.tutorialspoint.com/communication_technologies/communication_technologies_network_protocols.htm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5</a:t>
            </a:fld>
            <a:endParaRPr lang="zh-TW" altLang="en-US"/>
          </a:p>
        </p:txBody>
      </p:sp>
      <p:pic>
        <p:nvPicPr>
          <p:cNvPr id="1026" name="Picture 2" descr="OSI Model">
            <a:extLst>
              <a:ext uri="{FF2B5EF4-FFF2-40B4-BE49-F238E27FC236}">
                <a16:creationId xmlns:a16="http://schemas.microsoft.com/office/drawing/2014/main" id="{068CC951-DDBB-4340-9FF6-8D59E82ADC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4893" y="1883246"/>
            <a:ext cx="4019550" cy="4210050"/>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
        <p:nvSpPr>
          <p:cNvPr id="8" name="副標題 2">
            <a:extLst>
              <a:ext uri="{FF2B5EF4-FFF2-40B4-BE49-F238E27FC236}">
                <a16:creationId xmlns:a16="http://schemas.microsoft.com/office/drawing/2014/main" id="{48FBC9ED-4C24-4ECE-9000-390397E47293}"/>
              </a:ext>
            </a:extLst>
          </p:cNvPr>
          <p:cNvSpPr txBox="1">
            <a:spLocks/>
          </p:cNvSpPr>
          <p:nvPr/>
        </p:nvSpPr>
        <p:spPr>
          <a:xfrm>
            <a:off x="419379" y="1883246"/>
            <a:ext cx="4100299" cy="3273946"/>
          </a:xfrm>
          <a:prstGeom prst="rect">
            <a:avLst/>
          </a:prstGeom>
          <a:ln>
            <a:solidFill>
              <a:srgbClr val="C00000"/>
            </a:solidFill>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buClr>
                <a:srgbClr val="0070C0"/>
              </a:buClr>
              <a:buSzPct val="80000"/>
              <a:buFont typeface="Wingdings" pitchFamily="2" charset="2"/>
              <a:buChar char="u"/>
            </a:pPr>
            <a:r>
              <a:rPr lang="en-US" sz="1800" dirty="0">
                <a:solidFill>
                  <a:schemeClr val="tx1"/>
                </a:solidFill>
              </a:rPr>
              <a:t>It is not necessary for every network to have all the layers. </a:t>
            </a:r>
          </a:p>
          <a:p>
            <a:pPr marL="342900" indent="-342900" algn="l">
              <a:buClr>
                <a:srgbClr val="0070C0"/>
              </a:buClr>
              <a:buSzPct val="80000"/>
              <a:buFont typeface="Wingdings" pitchFamily="2" charset="2"/>
              <a:buChar char="u"/>
            </a:pPr>
            <a:r>
              <a:rPr lang="en-US" sz="1800" dirty="0">
                <a:solidFill>
                  <a:schemeClr val="tx1"/>
                </a:solidFill>
              </a:rPr>
              <a:t>For example, network layer is not there in broadcast networks.</a:t>
            </a:r>
          </a:p>
          <a:p>
            <a:pPr marL="342900" indent="-342900" algn="l">
              <a:buClr>
                <a:srgbClr val="0070C0"/>
              </a:buClr>
              <a:buSzPct val="80000"/>
              <a:buFont typeface="Wingdings" pitchFamily="2" charset="2"/>
              <a:buChar char="u"/>
            </a:pPr>
            <a:r>
              <a:rPr lang="en-US" sz="1800" dirty="0">
                <a:solidFill>
                  <a:schemeClr val="tx1"/>
                </a:solidFill>
              </a:rPr>
              <a:t>When a system wants to share data with another workstation or send a request over the network, it is received by the application layer. </a:t>
            </a:r>
          </a:p>
          <a:p>
            <a:pPr marL="342900" indent="-342900" algn="l">
              <a:buClr>
                <a:srgbClr val="0070C0"/>
              </a:buClr>
              <a:buSzPct val="80000"/>
              <a:buFont typeface="Wingdings" pitchFamily="2" charset="2"/>
              <a:buChar char="u"/>
            </a:pPr>
            <a:r>
              <a:rPr lang="en-US" sz="1800" dirty="0">
                <a:solidFill>
                  <a:schemeClr val="tx1"/>
                </a:solidFill>
              </a:rPr>
              <a:t>Data then proceeds to lower layers after processing till it reaches the physical layer.</a:t>
            </a:r>
          </a:p>
        </p:txBody>
      </p:sp>
    </p:spTree>
    <p:extLst>
      <p:ext uri="{BB962C8B-B14F-4D97-AF65-F5344CB8AC3E}">
        <p14:creationId xmlns:p14="http://schemas.microsoft.com/office/powerpoint/2010/main" val="158367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10 Network Protocol</a:t>
            </a:r>
            <a:endParaRPr lang="zh-TW" altLang="en-US" b="1" dirty="0">
              <a:solidFill>
                <a:srgbClr val="FFFF00"/>
              </a:solidFill>
            </a:endParaRPr>
          </a:p>
        </p:txBody>
      </p:sp>
      <p:sp>
        <p:nvSpPr>
          <p:cNvPr id="3" name="副標題 2"/>
          <p:cNvSpPr>
            <a:spLocks noGrp="1"/>
          </p:cNvSpPr>
          <p:nvPr>
            <p:ph type="subTitle" idx="1"/>
          </p:nvPr>
        </p:nvSpPr>
        <p:spPr>
          <a:xfrm>
            <a:off x="367862" y="1412778"/>
            <a:ext cx="8318938" cy="3816422"/>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OSI Model</a:t>
            </a:r>
          </a:p>
          <a:p>
            <a:pPr marL="342900" indent="-342900" algn="l">
              <a:buClr>
                <a:srgbClr val="0070C0"/>
              </a:buClr>
              <a:buSzPct val="80000"/>
              <a:buFont typeface="Wingdings" pitchFamily="2" charset="2"/>
              <a:buChar char="u"/>
            </a:pPr>
            <a:r>
              <a:rPr lang="en-US" sz="1800" dirty="0">
                <a:solidFill>
                  <a:schemeClr val="tx1"/>
                </a:solidFill>
              </a:rPr>
              <a:t>At the physical layer, the data is actually transferred and received by the physical layer of the destination workstation. </a:t>
            </a:r>
          </a:p>
          <a:p>
            <a:pPr marL="342900" indent="-342900" algn="l">
              <a:buClr>
                <a:srgbClr val="0070C0"/>
              </a:buClr>
              <a:buSzPct val="80000"/>
              <a:buFont typeface="Wingdings" pitchFamily="2" charset="2"/>
              <a:buChar char="u"/>
            </a:pPr>
            <a:r>
              <a:rPr lang="en-US" sz="1800" dirty="0">
                <a:solidFill>
                  <a:schemeClr val="tx1"/>
                </a:solidFill>
              </a:rPr>
              <a:t>There, the data proceeds to upper layers after processing till it reaches application layer.</a:t>
            </a:r>
          </a:p>
          <a:p>
            <a:pPr marL="342900" indent="-342900" algn="l">
              <a:buClr>
                <a:srgbClr val="0070C0"/>
              </a:buClr>
              <a:buSzPct val="80000"/>
              <a:buFont typeface="Wingdings" pitchFamily="2" charset="2"/>
              <a:buChar char="u"/>
            </a:pPr>
            <a:r>
              <a:rPr lang="en-US" sz="1800" dirty="0">
                <a:solidFill>
                  <a:schemeClr val="tx1"/>
                </a:solidFill>
              </a:rPr>
              <a:t>At the application layer, data or request is shared with the workstation. </a:t>
            </a:r>
          </a:p>
          <a:p>
            <a:pPr marL="342900" indent="-342900" algn="l">
              <a:buClr>
                <a:srgbClr val="0070C0"/>
              </a:buClr>
              <a:buSzPct val="80000"/>
              <a:buFont typeface="Wingdings" pitchFamily="2" charset="2"/>
              <a:buChar char="u"/>
            </a:pPr>
            <a:r>
              <a:rPr lang="en-US" sz="1800" dirty="0">
                <a:solidFill>
                  <a:schemeClr val="tx1"/>
                </a:solidFill>
              </a:rPr>
              <a:t>So each layer has opposite functions for source and destination workstations. </a:t>
            </a:r>
          </a:p>
          <a:p>
            <a:pPr marL="342900" indent="-342900" algn="l">
              <a:buClr>
                <a:srgbClr val="0070C0"/>
              </a:buClr>
              <a:buSzPct val="80000"/>
              <a:buFont typeface="Wingdings" pitchFamily="2" charset="2"/>
              <a:buChar char="u"/>
            </a:pPr>
            <a:r>
              <a:rPr lang="en-US" sz="1800" dirty="0">
                <a:solidFill>
                  <a:schemeClr val="tx1"/>
                </a:solidFill>
              </a:rPr>
              <a:t>For example, data link layer of the source workstation adds start and stop flags to the frames but the same layer of the destination workstation will remove the start and stop flags from the frames.</a:t>
            </a:r>
          </a:p>
          <a:p>
            <a:pPr marL="342900" indent="-342900" algn="l">
              <a:buClr>
                <a:srgbClr val="0070C0"/>
              </a:buClr>
              <a:buSzPct val="80000"/>
              <a:buFont typeface="Wingdings" pitchFamily="2" charset="2"/>
              <a:buChar char="u"/>
            </a:pPr>
            <a:r>
              <a:rPr lang="en-US" sz="1800" dirty="0">
                <a:solidFill>
                  <a:schemeClr val="tx1"/>
                </a:solidFill>
              </a:rPr>
              <a:t>Let us now see some of the protocols used by different layers to accomplish user requests.</a:t>
            </a:r>
          </a:p>
          <a:p>
            <a:pPr marL="342900" indent="-342900" algn="l">
              <a:buClr>
                <a:srgbClr val="0070C0"/>
              </a:buClr>
              <a:buSzPct val="80000"/>
              <a:buFont typeface="Wingdings" pitchFamily="2" charset="2"/>
              <a:buChar char="u"/>
            </a:pPr>
            <a:endParaRPr lang="en-US" sz="1800" b="1" dirty="0">
              <a:solidFill>
                <a:schemeClr val="tx1"/>
              </a:solidFill>
            </a:endParaRP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https://www.tutorialspoint.com/communication_technologies/communication_technologies_network_protocols.htm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6</a:t>
            </a:fld>
            <a:endParaRPr lang="zh-TW" altLang="en-US"/>
          </a:p>
        </p:txBody>
      </p:sp>
    </p:spTree>
    <p:extLst>
      <p:ext uri="{BB962C8B-B14F-4D97-AF65-F5344CB8AC3E}">
        <p14:creationId xmlns:p14="http://schemas.microsoft.com/office/powerpoint/2010/main" val="3139798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10 Network Protocol</a:t>
            </a:r>
            <a:endParaRPr lang="zh-TW" altLang="en-US" b="1" dirty="0">
              <a:solidFill>
                <a:srgbClr val="FFFF00"/>
              </a:solidFill>
            </a:endParaRPr>
          </a:p>
        </p:txBody>
      </p:sp>
      <p:sp>
        <p:nvSpPr>
          <p:cNvPr id="3" name="副標題 2"/>
          <p:cNvSpPr>
            <a:spLocks noGrp="1"/>
          </p:cNvSpPr>
          <p:nvPr>
            <p:ph type="subTitle" idx="1"/>
          </p:nvPr>
        </p:nvSpPr>
        <p:spPr>
          <a:xfrm>
            <a:off x="367862" y="1412778"/>
            <a:ext cx="8318938" cy="2016222"/>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TCP/IP</a:t>
            </a:r>
          </a:p>
          <a:p>
            <a:pPr marL="342900" indent="-342900" algn="l">
              <a:buClr>
                <a:srgbClr val="0070C0"/>
              </a:buClr>
              <a:buSzPct val="80000"/>
              <a:buFont typeface="Wingdings" pitchFamily="2" charset="2"/>
              <a:buChar char="u"/>
            </a:pPr>
            <a:r>
              <a:rPr lang="en-US" sz="1800" dirty="0">
                <a:solidFill>
                  <a:schemeClr val="tx1"/>
                </a:solidFill>
              </a:rPr>
              <a:t>TCP/IP stands for </a:t>
            </a:r>
            <a:r>
              <a:rPr lang="en-US" sz="1800" b="1" dirty="0">
                <a:solidFill>
                  <a:schemeClr val="tx1"/>
                </a:solidFill>
              </a:rPr>
              <a:t>Transmission Control Protocol/Internet Protocol</a:t>
            </a:r>
            <a:r>
              <a:rPr lang="en-US" sz="1800" dirty="0">
                <a:solidFill>
                  <a:schemeClr val="tx1"/>
                </a:solidFill>
              </a:rPr>
              <a:t>. </a:t>
            </a:r>
          </a:p>
          <a:p>
            <a:pPr marL="342900" indent="-342900" algn="l">
              <a:buClr>
                <a:srgbClr val="0070C0"/>
              </a:buClr>
              <a:buSzPct val="80000"/>
              <a:buFont typeface="Wingdings" pitchFamily="2" charset="2"/>
              <a:buChar char="u"/>
            </a:pPr>
            <a:r>
              <a:rPr lang="en-US" sz="1800" dirty="0">
                <a:solidFill>
                  <a:schemeClr val="tx1"/>
                </a:solidFill>
              </a:rPr>
              <a:t>TCP/IP is a set of layered protocols used for communication over the Internet. </a:t>
            </a:r>
          </a:p>
          <a:p>
            <a:pPr marL="342900" indent="-342900" algn="l">
              <a:buClr>
                <a:srgbClr val="0070C0"/>
              </a:buClr>
              <a:buSzPct val="80000"/>
              <a:buFont typeface="Wingdings" pitchFamily="2" charset="2"/>
              <a:buChar char="u"/>
            </a:pPr>
            <a:r>
              <a:rPr lang="en-US" sz="1800" dirty="0">
                <a:solidFill>
                  <a:schemeClr val="tx1"/>
                </a:solidFill>
              </a:rPr>
              <a:t>The communication model of this suite is client-server model. </a:t>
            </a:r>
          </a:p>
          <a:p>
            <a:pPr marL="342900" indent="-342900" algn="l">
              <a:buClr>
                <a:srgbClr val="0070C0"/>
              </a:buClr>
              <a:buSzPct val="80000"/>
              <a:buFont typeface="Wingdings" pitchFamily="2" charset="2"/>
              <a:buChar char="u"/>
            </a:pPr>
            <a:r>
              <a:rPr lang="en-US" sz="1800" dirty="0">
                <a:solidFill>
                  <a:schemeClr val="tx1"/>
                </a:solidFill>
              </a:rPr>
              <a:t>A computer that sends a request is the client and a computer to which the request is sent is the server.</a:t>
            </a:r>
          </a:p>
          <a:p>
            <a:pPr marL="342900" indent="-342900" algn="l">
              <a:buClr>
                <a:srgbClr val="0070C0"/>
              </a:buClr>
              <a:buSzPct val="80000"/>
              <a:buFont typeface="Wingdings" pitchFamily="2" charset="2"/>
              <a:buChar char="u"/>
            </a:pPr>
            <a:endParaRPr lang="en-US" sz="1800" b="1" dirty="0">
              <a:solidFill>
                <a:schemeClr val="tx1"/>
              </a:solidFill>
            </a:endParaRP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https://www.tutorialspoint.com/communication_technologies/communication_technologies_network_protocols.htm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7</a:t>
            </a:fld>
            <a:endParaRPr lang="zh-TW" altLang="en-US"/>
          </a:p>
        </p:txBody>
      </p:sp>
    </p:spTree>
    <p:extLst>
      <p:ext uri="{BB962C8B-B14F-4D97-AF65-F5344CB8AC3E}">
        <p14:creationId xmlns:p14="http://schemas.microsoft.com/office/powerpoint/2010/main" val="117291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10 Network Protocol</a:t>
            </a:r>
            <a:endParaRPr lang="zh-TW" altLang="en-US" b="1" dirty="0">
              <a:solidFill>
                <a:srgbClr val="FFFF00"/>
              </a:solidFill>
            </a:endParaRPr>
          </a:p>
        </p:txBody>
      </p:sp>
      <p:sp>
        <p:nvSpPr>
          <p:cNvPr id="3" name="副標題 2"/>
          <p:cNvSpPr>
            <a:spLocks noGrp="1"/>
          </p:cNvSpPr>
          <p:nvPr>
            <p:ph type="subTitle" idx="1"/>
          </p:nvPr>
        </p:nvSpPr>
        <p:spPr>
          <a:xfrm>
            <a:off x="367862" y="1412778"/>
            <a:ext cx="8318938" cy="320096"/>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TCP/IP has four layers</a:t>
            </a:r>
            <a:endParaRPr lang="en-US" sz="1800" dirty="0">
              <a:solidFill>
                <a:schemeClr val="tx1"/>
              </a:solidFill>
            </a:endParaRP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https://www.tutorialspoint.com/communication_technologies/communication_technologies_network_protocols.htm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8</a:t>
            </a:fld>
            <a:endParaRPr lang="zh-TW" altLang="en-US"/>
          </a:p>
        </p:txBody>
      </p:sp>
      <p:pic>
        <p:nvPicPr>
          <p:cNvPr id="8" name="Picture 2" descr="TCP/IP">
            <a:extLst>
              <a:ext uri="{FF2B5EF4-FFF2-40B4-BE49-F238E27FC236}">
                <a16:creationId xmlns:a16="http://schemas.microsoft.com/office/drawing/2014/main" id="{4ED9797B-E16C-4AFC-B02D-3CE0A08283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1197" y="1919657"/>
            <a:ext cx="2542952" cy="4328429"/>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
        <p:nvSpPr>
          <p:cNvPr id="9" name="副標題 2">
            <a:extLst>
              <a:ext uri="{FF2B5EF4-FFF2-40B4-BE49-F238E27FC236}">
                <a16:creationId xmlns:a16="http://schemas.microsoft.com/office/drawing/2014/main" id="{7420003B-F09D-4726-A032-11EE7D3929C0}"/>
              </a:ext>
            </a:extLst>
          </p:cNvPr>
          <p:cNvSpPr txBox="1">
            <a:spLocks/>
          </p:cNvSpPr>
          <p:nvPr/>
        </p:nvSpPr>
        <p:spPr>
          <a:xfrm>
            <a:off x="367861" y="1841138"/>
            <a:ext cx="5699307" cy="4612198"/>
          </a:xfrm>
          <a:prstGeom prst="rect">
            <a:avLst/>
          </a:prstGeom>
          <a:ln>
            <a:solidFill>
              <a:srgbClr val="C00000"/>
            </a:solidFill>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buClr>
                <a:srgbClr val="0070C0"/>
              </a:buClr>
              <a:buSzPct val="80000"/>
              <a:buFont typeface="Wingdings" pitchFamily="2" charset="2"/>
              <a:buChar char="u"/>
            </a:pPr>
            <a:r>
              <a:rPr lang="en-US" sz="1800" b="1" dirty="0">
                <a:solidFill>
                  <a:schemeClr val="tx1"/>
                </a:solidFill>
              </a:rPr>
              <a:t>Application layer</a:t>
            </a:r>
            <a:r>
              <a:rPr lang="en-US" sz="1800" dirty="0">
                <a:solidFill>
                  <a:schemeClr val="tx1"/>
                </a:solidFill>
              </a:rPr>
              <a:t> − Application layer protocols like HTTP and FTP are used.</a:t>
            </a:r>
          </a:p>
          <a:p>
            <a:pPr marL="342900" indent="-342900" algn="l">
              <a:buClr>
                <a:srgbClr val="0070C0"/>
              </a:buClr>
              <a:buSzPct val="80000"/>
              <a:buFont typeface="Wingdings" pitchFamily="2" charset="2"/>
              <a:buChar char="u"/>
            </a:pPr>
            <a:r>
              <a:rPr lang="en-US" sz="1800" b="1" dirty="0">
                <a:solidFill>
                  <a:schemeClr val="tx1"/>
                </a:solidFill>
              </a:rPr>
              <a:t>Transport layer</a:t>
            </a:r>
            <a:r>
              <a:rPr lang="en-US" sz="1800" dirty="0">
                <a:solidFill>
                  <a:schemeClr val="tx1"/>
                </a:solidFill>
              </a:rPr>
              <a:t> − Data is transmitted in form of datagrams using the Transmission Control Protocol (TCP). TCP is responsible for breaking up data at the client side and then reassembling it on the server side.</a:t>
            </a:r>
          </a:p>
          <a:p>
            <a:pPr marL="342900" indent="-342900" algn="l">
              <a:buClr>
                <a:srgbClr val="0070C0"/>
              </a:buClr>
              <a:buSzPct val="80000"/>
              <a:buFont typeface="Wingdings" pitchFamily="2" charset="2"/>
              <a:buChar char="u"/>
            </a:pPr>
            <a:r>
              <a:rPr lang="en-US" sz="1800" b="1" dirty="0">
                <a:solidFill>
                  <a:schemeClr val="tx1"/>
                </a:solidFill>
              </a:rPr>
              <a:t>Network layer</a:t>
            </a:r>
            <a:r>
              <a:rPr lang="en-US" sz="1800" dirty="0">
                <a:solidFill>
                  <a:schemeClr val="tx1"/>
                </a:solidFill>
              </a:rPr>
              <a:t> − Network layer connection is established using Internet Protocol (IP) at the network layer. Every machine connected to the Internet is assigned an address called IP address by the protocol to easily identify source and destination machines.</a:t>
            </a:r>
          </a:p>
          <a:p>
            <a:pPr marL="342900" indent="-342900" algn="l">
              <a:buClr>
                <a:srgbClr val="0070C0"/>
              </a:buClr>
              <a:buSzPct val="80000"/>
              <a:buFont typeface="Wingdings" pitchFamily="2" charset="2"/>
              <a:buChar char="u"/>
            </a:pPr>
            <a:r>
              <a:rPr lang="en-US" sz="1800" b="1" dirty="0">
                <a:solidFill>
                  <a:schemeClr val="tx1"/>
                </a:solidFill>
              </a:rPr>
              <a:t>Data link layer</a:t>
            </a:r>
            <a:r>
              <a:rPr lang="en-US" sz="1800" dirty="0">
                <a:solidFill>
                  <a:schemeClr val="tx1"/>
                </a:solidFill>
              </a:rPr>
              <a:t> − Actual data transmission in bits occurs at the data link layer using the destination address provided by network layer.</a:t>
            </a:r>
          </a:p>
          <a:p>
            <a:pPr marL="342900" indent="-342900" algn="l">
              <a:buClr>
                <a:srgbClr val="0070C0"/>
              </a:buClr>
              <a:buSzPct val="80000"/>
              <a:buFont typeface="Wingdings" pitchFamily="2" charset="2"/>
              <a:buChar char="u"/>
            </a:pPr>
            <a:r>
              <a:rPr lang="en-US" sz="1800" dirty="0">
                <a:solidFill>
                  <a:schemeClr val="tx1"/>
                </a:solidFill>
              </a:rPr>
              <a:t>TCP/IP is widely used in many communication networks other than the Internet.</a:t>
            </a:r>
          </a:p>
          <a:p>
            <a:pPr marL="342900" indent="-342900" algn="l">
              <a:buClr>
                <a:srgbClr val="0070C0"/>
              </a:buClr>
              <a:buSzPct val="80000"/>
              <a:buFont typeface="Wingdings" pitchFamily="2" charset="2"/>
              <a:buChar char="u"/>
            </a:pPr>
            <a:endParaRPr lang="en-US" sz="1800" b="1" dirty="0">
              <a:solidFill>
                <a:schemeClr val="tx1"/>
              </a:solidFill>
            </a:endParaRPr>
          </a:p>
        </p:txBody>
      </p:sp>
    </p:spTree>
    <p:extLst>
      <p:ext uri="{BB962C8B-B14F-4D97-AF65-F5344CB8AC3E}">
        <p14:creationId xmlns:p14="http://schemas.microsoft.com/office/powerpoint/2010/main" val="485798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10 Network Protocol</a:t>
            </a:r>
            <a:endParaRPr lang="zh-TW" altLang="en-US" b="1" dirty="0">
              <a:solidFill>
                <a:srgbClr val="FFFF00"/>
              </a:solidFill>
            </a:endParaRPr>
          </a:p>
        </p:txBody>
      </p:sp>
      <p:sp>
        <p:nvSpPr>
          <p:cNvPr id="3" name="副標題 2"/>
          <p:cNvSpPr>
            <a:spLocks noGrp="1"/>
          </p:cNvSpPr>
          <p:nvPr>
            <p:ph type="subTitle" idx="1"/>
          </p:nvPr>
        </p:nvSpPr>
        <p:spPr>
          <a:xfrm>
            <a:off x="367862" y="1412778"/>
            <a:ext cx="8318938" cy="1656182"/>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FTP</a:t>
            </a:r>
          </a:p>
          <a:p>
            <a:pPr marL="342900" indent="-342900" algn="l">
              <a:buClr>
                <a:srgbClr val="0070C0"/>
              </a:buClr>
              <a:buSzPct val="80000"/>
              <a:buFont typeface="Wingdings" pitchFamily="2" charset="2"/>
              <a:buChar char="u"/>
            </a:pPr>
            <a:r>
              <a:rPr lang="en-US" sz="1800" dirty="0">
                <a:solidFill>
                  <a:schemeClr val="tx1"/>
                </a:solidFill>
              </a:rPr>
              <a:t>In the beginning, the need for network came up primarily to facilitate sharing of files between researchers. </a:t>
            </a:r>
          </a:p>
          <a:p>
            <a:pPr marL="342900" indent="-342900" algn="l">
              <a:buClr>
                <a:srgbClr val="0070C0"/>
              </a:buClr>
              <a:buSzPct val="80000"/>
              <a:buFont typeface="Wingdings" pitchFamily="2" charset="2"/>
              <a:buChar char="u"/>
            </a:pPr>
            <a:r>
              <a:rPr lang="en-US" sz="1800" dirty="0">
                <a:solidFill>
                  <a:schemeClr val="tx1"/>
                </a:solidFill>
              </a:rPr>
              <a:t>Today, file transfer remains one of the most used facilities.</a:t>
            </a:r>
          </a:p>
          <a:p>
            <a:pPr marL="342900" indent="-342900" algn="l">
              <a:buClr>
                <a:srgbClr val="0070C0"/>
              </a:buClr>
              <a:buSzPct val="80000"/>
              <a:buFont typeface="Wingdings" pitchFamily="2" charset="2"/>
              <a:buChar char="u"/>
            </a:pPr>
            <a:r>
              <a:rPr lang="en-US" sz="1800" dirty="0">
                <a:solidFill>
                  <a:schemeClr val="tx1"/>
                </a:solidFill>
              </a:rPr>
              <a:t>The protocol that handles these requests is </a:t>
            </a:r>
            <a:r>
              <a:rPr lang="en-US" sz="1800" b="1" dirty="0">
                <a:solidFill>
                  <a:schemeClr val="tx1"/>
                </a:solidFill>
              </a:rPr>
              <a:t>File Transfer Protocol</a:t>
            </a:r>
            <a:r>
              <a:rPr lang="en-US" sz="1800" dirty="0">
                <a:solidFill>
                  <a:schemeClr val="tx1"/>
                </a:solidFill>
              </a:rPr>
              <a:t> or </a:t>
            </a:r>
            <a:r>
              <a:rPr lang="en-US" sz="1800" b="1" dirty="0">
                <a:solidFill>
                  <a:schemeClr val="tx1"/>
                </a:solidFill>
              </a:rPr>
              <a:t>FTP</a:t>
            </a:r>
            <a:endParaRPr lang="en-US" sz="1800" dirty="0">
              <a:solidFill>
                <a:schemeClr val="tx1"/>
              </a:solidFill>
            </a:endParaRPr>
          </a:p>
          <a:p>
            <a:pPr marL="342900" indent="-342900" algn="l">
              <a:buClr>
                <a:srgbClr val="0070C0"/>
              </a:buClr>
              <a:buSzPct val="80000"/>
              <a:buFont typeface="Wingdings" pitchFamily="2" charset="2"/>
              <a:buChar char="u"/>
            </a:pPr>
            <a:endParaRPr lang="en-US" sz="1800" dirty="0">
              <a:solidFill>
                <a:schemeClr val="tx1"/>
              </a:solidFill>
            </a:endParaRP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https://www.tutorialspoint.com/communication_technologies/communication_technologies_network_protocols.htm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9</a:t>
            </a:fld>
            <a:endParaRPr lang="zh-TW" altLang="en-US"/>
          </a:p>
        </p:txBody>
      </p:sp>
      <p:pic>
        <p:nvPicPr>
          <p:cNvPr id="4098" name="Picture 2" descr="FTP">
            <a:extLst>
              <a:ext uri="{FF2B5EF4-FFF2-40B4-BE49-F238E27FC236}">
                <a16:creationId xmlns:a16="http://schemas.microsoft.com/office/drawing/2014/main" id="{79B9F830-956C-4A3A-88B6-82F10EE8BE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340" y="3171815"/>
            <a:ext cx="4402460" cy="3090527"/>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
        <p:nvSpPr>
          <p:cNvPr id="10" name="副標題 2">
            <a:extLst>
              <a:ext uri="{FF2B5EF4-FFF2-40B4-BE49-F238E27FC236}">
                <a16:creationId xmlns:a16="http://schemas.microsoft.com/office/drawing/2014/main" id="{BF1A465E-5E58-4E51-8521-11EFF797E279}"/>
              </a:ext>
            </a:extLst>
          </p:cNvPr>
          <p:cNvSpPr txBox="1">
            <a:spLocks/>
          </p:cNvSpPr>
          <p:nvPr/>
        </p:nvSpPr>
        <p:spPr>
          <a:xfrm>
            <a:off x="367862" y="3167391"/>
            <a:ext cx="3799429" cy="2781889"/>
          </a:xfrm>
          <a:prstGeom prst="rect">
            <a:avLst/>
          </a:prstGeom>
          <a:ln>
            <a:solidFill>
              <a:srgbClr val="C00000"/>
            </a:solidFill>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buClr>
                <a:srgbClr val="0070C0"/>
              </a:buClr>
              <a:buSzPct val="80000"/>
              <a:buFont typeface="Wingdings" pitchFamily="2" charset="2"/>
              <a:buChar char="u"/>
            </a:pPr>
            <a:r>
              <a:rPr lang="en-US" sz="1800" dirty="0">
                <a:solidFill>
                  <a:schemeClr val="tx1"/>
                </a:solidFill>
              </a:rPr>
              <a:t>Using FTP to transfer files is helpful in these ways −</a:t>
            </a:r>
          </a:p>
          <a:p>
            <a:pPr marL="342900" indent="-342900" algn="l">
              <a:buClr>
                <a:srgbClr val="0070C0"/>
              </a:buClr>
              <a:buSzPct val="80000"/>
              <a:buFont typeface="Wingdings" pitchFamily="2" charset="2"/>
              <a:buChar char="u"/>
            </a:pPr>
            <a:r>
              <a:rPr lang="en-US" sz="1800" dirty="0">
                <a:solidFill>
                  <a:schemeClr val="tx1"/>
                </a:solidFill>
              </a:rPr>
              <a:t>Easily transfers files between two different networks</a:t>
            </a:r>
          </a:p>
          <a:p>
            <a:pPr marL="342900" indent="-342900" algn="l">
              <a:buClr>
                <a:srgbClr val="0070C0"/>
              </a:buClr>
              <a:buSzPct val="80000"/>
              <a:buFont typeface="Wingdings" pitchFamily="2" charset="2"/>
              <a:buChar char="u"/>
            </a:pPr>
            <a:r>
              <a:rPr lang="en-US" sz="1800" dirty="0">
                <a:solidFill>
                  <a:schemeClr val="tx1"/>
                </a:solidFill>
              </a:rPr>
              <a:t>Can resume file transfer sessions even if connection is dropped, if protocol is configure appropriately</a:t>
            </a:r>
          </a:p>
          <a:p>
            <a:pPr marL="342900" indent="-342900" algn="l">
              <a:buClr>
                <a:srgbClr val="0070C0"/>
              </a:buClr>
              <a:buSzPct val="80000"/>
              <a:buFont typeface="Wingdings" pitchFamily="2" charset="2"/>
              <a:buChar char="u"/>
            </a:pPr>
            <a:r>
              <a:rPr lang="en-US" sz="1800" dirty="0">
                <a:solidFill>
                  <a:schemeClr val="tx1"/>
                </a:solidFill>
              </a:rPr>
              <a:t>Enables collaboration between geographically separated teams</a:t>
            </a:r>
          </a:p>
          <a:p>
            <a:pPr marL="342900" indent="-342900" algn="l">
              <a:buClr>
                <a:srgbClr val="0070C0"/>
              </a:buClr>
              <a:buSzPct val="80000"/>
              <a:buFont typeface="Wingdings" pitchFamily="2" charset="2"/>
              <a:buChar char="u"/>
            </a:pPr>
            <a:endParaRPr lang="en-US" sz="1800" dirty="0">
              <a:solidFill>
                <a:schemeClr val="tx1"/>
              </a:solidFill>
            </a:endParaRPr>
          </a:p>
        </p:txBody>
      </p:sp>
    </p:spTree>
    <p:extLst>
      <p:ext uri="{BB962C8B-B14F-4D97-AF65-F5344CB8AC3E}">
        <p14:creationId xmlns:p14="http://schemas.microsoft.com/office/powerpoint/2010/main" val="3052103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10 Network Protocol</a:t>
            </a:r>
            <a:endParaRPr lang="zh-TW" altLang="en-US" b="1" dirty="0">
              <a:solidFill>
                <a:srgbClr val="FFFF00"/>
              </a:solidFill>
            </a:endParaRPr>
          </a:p>
        </p:txBody>
      </p:sp>
      <p:sp>
        <p:nvSpPr>
          <p:cNvPr id="3" name="副標題 2"/>
          <p:cNvSpPr>
            <a:spLocks noGrp="1"/>
          </p:cNvSpPr>
          <p:nvPr>
            <p:ph type="subTitle" idx="1"/>
          </p:nvPr>
        </p:nvSpPr>
        <p:spPr>
          <a:xfrm>
            <a:off x="367862" y="1412778"/>
            <a:ext cx="8318938" cy="1080118"/>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PPP</a:t>
            </a:r>
          </a:p>
          <a:p>
            <a:pPr marL="342900" indent="-342900" algn="l">
              <a:buClr>
                <a:srgbClr val="0070C0"/>
              </a:buClr>
              <a:buSzPct val="80000"/>
              <a:buFont typeface="Wingdings" pitchFamily="2" charset="2"/>
              <a:buChar char="u"/>
            </a:pPr>
            <a:r>
              <a:rPr lang="en-US" sz="1800" dirty="0">
                <a:solidFill>
                  <a:schemeClr val="tx1"/>
                </a:solidFill>
              </a:rPr>
              <a:t>Point to Point Protocol or PPP is a data link layer protocol that enables transmission of TCP/IP traffic over serial connection, like telephone line.</a:t>
            </a:r>
          </a:p>
          <a:p>
            <a:pPr marL="342900" indent="-342900" algn="l">
              <a:buClr>
                <a:srgbClr val="0070C0"/>
              </a:buClr>
              <a:buSzPct val="80000"/>
              <a:buFont typeface="Wingdings" pitchFamily="2" charset="2"/>
              <a:buChar char="u"/>
            </a:pPr>
            <a:endParaRPr lang="en-US" sz="1800" dirty="0">
              <a:solidFill>
                <a:schemeClr val="tx1"/>
              </a:solidFill>
            </a:endParaRP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https://www.tutorialspoint.com/communication_technologies/communication_technologies_network_protocols.htm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10</a:t>
            </a:fld>
            <a:endParaRPr lang="zh-TW" altLang="en-US"/>
          </a:p>
        </p:txBody>
      </p:sp>
      <p:pic>
        <p:nvPicPr>
          <p:cNvPr id="6146" name="Picture 2" descr="Point to Point Protocol">
            <a:extLst>
              <a:ext uri="{FF2B5EF4-FFF2-40B4-BE49-F238E27FC236}">
                <a16:creationId xmlns:a16="http://schemas.microsoft.com/office/drawing/2014/main" id="{19802159-0D5F-4360-983A-C55E4173AC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742354"/>
            <a:ext cx="3810000" cy="2933700"/>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09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10 Network Protocol</a:t>
            </a:r>
            <a:endParaRPr lang="zh-TW" altLang="en-US" b="1" dirty="0">
              <a:solidFill>
                <a:srgbClr val="FFFF00"/>
              </a:solidFill>
            </a:endParaRPr>
          </a:p>
        </p:txBody>
      </p:sp>
      <p:sp>
        <p:nvSpPr>
          <p:cNvPr id="3" name="副標題 2"/>
          <p:cNvSpPr>
            <a:spLocks noGrp="1"/>
          </p:cNvSpPr>
          <p:nvPr>
            <p:ph type="subTitle" idx="1"/>
          </p:nvPr>
        </p:nvSpPr>
        <p:spPr>
          <a:xfrm>
            <a:off x="367862" y="1412778"/>
            <a:ext cx="8318938" cy="2952326"/>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PPP</a:t>
            </a:r>
          </a:p>
          <a:p>
            <a:pPr marL="342900" indent="-342900" algn="l">
              <a:buClr>
                <a:srgbClr val="0070C0"/>
              </a:buClr>
              <a:buSzPct val="80000"/>
              <a:buFont typeface="Wingdings" pitchFamily="2" charset="2"/>
              <a:buChar char="u"/>
            </a:pPr>
            <a:r>
              <a:rPr lang="en-US" sz="1800" dirty="0">
                <a:solidFill>
                  <a:schemeClr val="tx1"/>
                </a:solidFill>
              </a:rPr>
              <a:t>To do this, PPP defines these three things −</a:t>
            </a:r>
          </a:p>
          <a:p>
            <a:pPr marL="800100" lvl="1" indent="-342900" algn="l">
              <a:buClr>
                <a:srgbClr val="0070C0"/>
              </a:buClr>
              <a:buSzPct val="80000"/>
              <a:buFont typeface="Wingdings" pitchFamily="2" charset="2"/>
              <a:buChar char="u"/>
            </a:pPr>
            <a:r>
              <a:rPr lang="en-US" sz="1800" dirty="0">
                <a:solidFill>
                  <a:schemeClr val="tx1"/>
                </a:solidFill>
              </a:rPr>
              <a:t>A framing method to clearly define end of one frame and start of another, incorporating errors detection as well.</a:t>
            </a:r>
          </a:p>
          <a:p>
            <a:pPr marL="800100" lvl="1" indent="-342900" algn="l">
              <a:buClr>
                <a:srgbClr val="0070C0"/>
              </a:buClr>
              <a:buSzPct val="80000"/>
              <a:buFont typeface="Wingdings" pitchFamily="2" charset="2"/>
              <a:buChar char="u"/>
            </a:pPr>
            <a:r>
              <a:rPr lang="en-US" sz="1800" dirty="0">
                <a:solidFill>
                  <a:schemeClr val="tx1"/>
                </a:solidFill>
              </a:rPr>
              <a:t>Link control protocol (LCP) for bringing communication lines up, authenticating and bringing them down when no longer needed.</a:t>
            </a:r>
          </a:p>
          <a:p>
            <a:pPr marL="800100" lvl="1" indent="-342900" algn="l">
              <a:buClr>
                <a:srgbClr val="0070C0"/>
              </a:buClr>
              <a:buSzPct val="80000"/>
              <a:buFont typeface="Wingdings" pitchFamily="2" charset="2"/>
              <a:buChar char="u"/>
            </a:pPr>
            <a:r>
              <a:rPr lang="en-US" sz="1800" dirty="0">
                <a:solidFill>
                  <a:schemeClr val="tx1"/>
                </a:solidFill>
              </a:rPr>
              <a:t>Network control protocol (NCP) for each network layer protocol supported by other networks.</a:t>
            </a:r>
          </a:p>
          <a:p>
            <a:pPr marL="800100" lvl="1" indent="-342900" algn="l">
              <a:buClr>
                <a:srgbClr val="0070C0"/>
              </a:buClr>
              <a:buSzPct val="80000"/>
              <a:buFont typeface="Wingdings" pitchFamily="2" charset="2"/>
              <a:buChar char="u"/>
            </a:pPr>
            <a:r>
              <a:rPr lang="en-US" sz="1800" dirty="0">
                <a:solidFill>
                  <a:schemeClr val="tx1"/>
                </a:solidFill>
              </a:rPr>
              <a:t>Using PPP, home users can avail Internet connection over telephone lines.</a:t>
            </a:r>
          </a:p>
          <a:p>
            <a:pPr marL="342900" indent="-342900" algn="l">
              <a:buClr>
                <a:srgbClr val="0070C0"/>
              </a:buClr>
              <a:buSzPct val="80000"/>
              <a:buFont typeface="Wingdings" pitchFamily="2" charset="2"/>
              <a:buChar char="u"/>
            </a:pPr>
            <a:endParaRPr lang="en-US" sz="1800" dirty="0">
              <a:solidFill>
                <a:schemeClr val="tx1"/>
              </a:solidFill>
            </a:endParaRP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https://www.tutorialspoint.com/communication_technologies/communication_technologies_network_protocols.htm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11</a:t>
            </a:fld>
            <a:endParaRPr lang="zh-TW" altLang="en-US"/>
          </a:p>
        </p:txBody>
      </p:sp>
    </p:spTree>
    <p:extLst>
      <p:ext uri="{BB962C8B-B14F-4D97-AF65-F5344CB8AC3E}">
        <p14:creationId xmlns:p14="http://schemas.microsoft.com/office/powerpoint/2010/main" val="1009049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2130425"/>
            <a:ext cx="9144000" cy="1470025"/>
          </a:xfr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a:normAutofit/>
          </a:bodyPr>
          <a:lstStyle/>
          <a:p>
            <a:r>
              <a:rPr lang="en-US" altLang="zh-TW" sz="6000" b="1" dirty="0">
                <a:solidFill>
                  <a:srgbClr val="FFFF00"/>
                </a:solidFill>
              </a:rPr>
              <a:t>End of Chapter</a:t>
            </a:r>
            <a:endParaRPr lang="zh-TW" altLang="en-US" sz="6000" b="1" dirty="0">
              <a:solidFill>
                <a:srgbClr val="FFFF00"/>
              </a:solidFill>
            </a:endParaRPr>
          </a:p>
        </p:txBody>
      </p:sp>
      <p:sp>
        <p:nvSpPr>
          <p:cNvPr id="5" name="日期版面配置區 4"/>
          <p:cNvSpPr>
            <a:spLocks noGrp="1"/>
          </p:cNvSpPr>
          <p:nvPr>
            <p:ph type="dt" sz="half" idx="10"/>
          </p:nvPr>
        </p:nvSpPr>
        <p:spPr/>
        <p:txBody>
          <a:bodyPr/>
          <a:lstStyle/>
          <a:p>
            <a:fld id="{4E46BE27-E923-4EC2-B046-3272AE2A3E5C}" type="datetime1">
              <a:rPr lang="zh-TW" altLang="en-US" smtClean="0"/>
              <a:pPr/>
              <a:t>2020/3/28</a:t>
            </a:fld>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12</a:t>
            </a:fld>
            <a:endParaRPr lang="zh-TW" altLang="en-US"/>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991</TotalTime>
  <Words>1283</Words>
  <Application>Microsoft Office PowerPoint</Application>
  <PresentationFormat>On-screen Show (4:3)</PresentationFormat>
  <Paragraphs>102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Wingdings</vt:lpstr>
      <vt:lpstr>Office 佈景主題</vt:lpstr>
      <vt:lpstr>10 Network Protocol</vt:lpstr>
      <vt:lpstr>10 Network Protocol</vt:lpstr>
      <vt:lpstr>10 Network Protocol</vt:lpstr>
      <vt:lpstr>10 Network Protocol</vt:lpstr>
      <vt:lpstr>10 Network Protocol</vt:lpstr>
      <vt:lpstr>10 Network Protocol</vt:lpstr>
      <vt:lpstr>10 Network Protocol</vt:lpstr>
      <vt:lpstr>10 Network Protocol</vt:lpstr>
      <vt:lpstr>10 Network Protocol</vt:lpstr>
      <vt:lpstr>10 Network Protocol</vt:lpstr>
      <vt:lpstr>10 Network Protocol</vt:lpstr>
      <vt:lpstr>End of Chapter</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 JS</dc:title>
  <dc:creator>USER</dc:creator>
  <cp:lastModifiedBy>14088587657</cp:lastModifiedBy>
  <cp:revision>376</cp:revision>
  <dcterms:created xsi:type="dcterms:W3CDTF">2018-09-28T16:40:41Z</dcterms:created>
  <dcterms:modified xsi:type="dcterms:W3CDTF">2020-03-28T18:15:38Z</dcterms:modified>
</cp:coreProperties>
</file>