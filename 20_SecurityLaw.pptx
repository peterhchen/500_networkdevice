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5" r:id="rId3"/>
    <p:sldId id="266" r:id="rId4"/>
    <p:sldId id="267" r:id="rId5"/>
    <p:sldId id="268" r:id="rId6"/>
    <p:sldId id="269" r:id="rId7"/>
    <p:sldId id="270" r:id="rId8"/>
    <p:sldId id="271" r:id="rId9"/>
    <p:sldId id="272" r:id="rId10"/>
    <p:sldId id="273" r:id="rId11"/>
    <p:sldId id="259" r:id="rId1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20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37EDA8-41C8-4B24-A206-13C08A65A6D7}" type="datetimeFigureOut">
              <a:rPr lang="zh-TW" altLang="en-US" smtClean="0"/>
              <a:pPr/>
              <a:t>2020/3/28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FAA135-E01C-4A42-9760-5A137A0CA41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lvl1pPr>
              <a:defRPr>
                <a:solidFill>
                  <a:schemeClr val="tx1"/>
                </a:solidFill>
              </a:defRPr>
            </a:lvl1pPr>
          </a:lstStyle>
          <a:p>
            <a:fld id="{8B85509C-BD4F-47BF-9B1E-FC2E949B3621}"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lvl1pPr>
              <a:defRPr>
                <a:solidFill>
                  <a:schemeClr val="tx1"/>
                </a:solidFill>
              </a:defRPr>
            </a:lvl1pPr>
          </a:lstStyle>
          <a:p>
            <a:fld id="{E4D7E63D-91F2-4366-A2C4-1B00C9E2590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0B99440-D9EF-40CC-9B52-F6428D9B2C76}"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0871BF52-5C6C-4959-8E27-CECB68D39FE4}"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F863F05-2DD9-4EB1-A827-12FD992DE9DC}"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339AF51-4491-4873-A096-75DB6CE47516}" type="datetime1">
              <a:rPr lang="zh-TW" altLang="en-US" smtClean="0"/>
              <a:pPr/>
              <a:t>2020/3/28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EE4AD9C8-8B9E-40FF-ABE2-858AC2057BBB}" type="datetime1">
              <a:rPr lang="zh-TW" altLang="en-US" smtClean="0"/>
              <a:pPr/>
              <a:t>2020/3/28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4784999-BBBE-4BE4-A8D0-877E7D1D66CC}" type="datetime1">
              <a:rPr lang="zh-TW" altLang="en-US" smtClean="0"/>
              <a:pPr/>
              <a:t>2020/3/28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88D17E6-02BD-4944-B9FE-7BFCCBF83D48}"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3C13E23D-1FEF-4D78-A3A3-3D6F2BB31954}"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2251B24-F787-4C15-8A0F-7AEC20C70069}"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CA0D33C-CE2B-45F1-B8D4-FFD1F131F331}"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197F35-AD6F-4594-8B50-334492D2E7E8}" type="datetime1">
              <a:rPr lang="zh-TW" altLang="en-US" smtClean="0"/>
              <a:pPr/>
              <a:t>2020/3/28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D7E63D-91F2-4366-A2C4-1B00C9E2590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security_acts_and_laws.ht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solidFill>
            <a:srgbClr val="00B0F0"/>
          </a:solidFill>
        </p:spPr>
        <p:txBody>
          <a:bodyPr>
            <a:normAutofit/>
          </a:bodyPr>
          <a:lstStyle/>
          <a:p>
            <a:r>
              <a:rPr lang="en-US" altLang="zh-TW" sz="4800" b="1" dirty="0">
                <a:solidFill>
                  <a:srgbClr val="FFFF00"/>
                </a:solidFill>
              </a:rPr>
              <a:t>20 Security Act and Law</a:t>
            </a:r>
            <a:endParaRPr lang="zh-TW" altLang="en-US" sz="4800" b="1" dirty="0">
              <a:solidFill>
                <a:srgbClr val="FFFF00"/>
              </a:solidFill>
            </a:endParaRPr>
          </a:p>
        </p:txBody>
      </p:sp>
      <p:sp>
        <p:nvSpPr>
          <p:cNvPr id="3" name="副標題 2"/>
          <p:cNvSpPr>
            <a:spLocks noGrp="1"/>
          </p:cNvSpPr>
          <p:nvPr>
            <p:ph type="subTitle" idx="1"/>
          </p:nvPr>
        </p:nvSpPr>
        <p:spPr>
          <a:xfrm>
            <a:off x="1371600" y="4570616"/>
            <a:ext cx="6400800" cy="694928"/>
          </a:xfrm>
        </p:spPr>
        <p:txBody>
          <a:bodyPr>
            <a:normAutofit/>
          </a:bodyPr>
          <a:lstStyle/>
          <a:p>
            <a:r>
              <a:rPr lang="en-US" altLang="zh-TW" dirty="0"/>
              <a:t>Peter H. Chen</a:t>
            </a:r>
            <a:endParaRPr lang="zh-TW" altLang="en-US" dirty="0"/>
          </a:p>
        </p:txBody>
      </p:sp>
      <p:sp>
        <p:nvSpPr>
          <p:cNvPr id="5" name="日期版面配置區 4"/>
          <p:cNvSpPr>
            <a:spLocks noGrp="1"/>
          </p:cNvSpPr>
          <p:nvPr>
            <p:ph type="dt" sz="half" idx="10"/>
          </p:nvPr>
        </p:nvSpPr>
        <p:spPr/>
        <p:txBody>
          <a:bodyPr/>
          <a:lstStyle/>
          <a:p>
            <a:fld id="{C389EDC9-19E3-47AC-9C57-C6A24DEA81AD}" type="datetime1">
              <a:rPr lang="zh-TW" altLang="en-US" smtClean="0"/>
              <a:pPr/>
              <a:t>2020/3/28</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1</a:t>
            </a:fld>
            <a:endParaRPr lang="zh-TW" altLang="en-US"/>
          </a:p>
        </p:txBody>
      </p:sp>
      <p:pic>
        <p:nvPicPr>
          <p:cNvPr id="4" name="Picture 3">
            <a:extLst>
              <a:ext uri="{FF2B5EF4-FFF2-40B4-BE49-F238E27FC236}">
                <a16:creationId xmlns:a16="http://schemas.microsoft.com/office/drawing/2014/main" id="{E3C8BD46-82E2-48A7-803A-12ED04C9EDCE}"/>
              </a:ext>
            </a:extLst>
          </p:cNvPr>
          <p:cNvPicPr>
            <a:picLocks noChangeAspect="1"/>
          </p:cNvPicPr>
          <p:nvPr/>
        </p:nvPicPr>
        <p:blipFill>
          <a:blip r:embed="rId2"/>
          <a:stretch>
            <a:fillRect/>
          </a:stretch>
        </p:blipFill>
        <p:spPr>
          <a:xfrm>
            <a:off x="4022825" y="3717032"/>
            <a:ext cx="1098349" cy="950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3528391"/>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Cyber Crimes</a:t>
            </a:r>
          </a:p>
          <a:p>
            <a:pPr marL="342900" indent="-342900" algn="l">
              <a:buClr>
                <a:srgbClr val="0070C0"/>
              </a:buClr>
              <a:buSzPct val="80000"/>
              <a:buFont typeface="Wingdings" pitchFamily="2" charset="2"/>
              <a:buChar char="u"/>
            </a:pPr>
            <a:r>
              <a:rPr lang="en-US" sz="1800" dirty="0">
                <a:solidFill>
                  <a:schemeClr val="tx1"/>
                </a:solidFill>
              </a:rPr>
              <a:t>Any unlawful activity involving or related to computer and networks is called </a:t>
            </a:r>
            <a:r>
              <a:rPr lang="en-US" sz="1800" b="1" dirty="0">
                <a:solidFill>
                  <a:schemeClr val="tx1"/>
                </a:solidFill>
              </a:rPr>
              <a:t>cybercrime</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Dr. K. Jaishankar, Professor and Head of the Department of Criminology, Raksha Shakti University (</a:t>
            </a:r>
            <a:r>
              <a:rPr lang="en-US" sz="1800" dirty="0" err="1">
                <a:solidFill>
                  <a:schemeClr val="tx1"/>
                </a:solidFill>
              </a:rPr>
              <a:t>Inida</a:t>
            </a:r>
            <a:r>
              <a:rPr lang="en-US" sz="1800" dirty="0">
                <a:solidFill>
                  <a:schemeClr val="tx1"/>
                </a:solidFill>
              </a:rPr>
              <a:t>), and Dr. </a:t>
            </a:r>
            <a:r>
              <a:rPr lang="en-US" sz="1800" dirty="0" err="1">
                <a:solidFill>
                  <a:schemeClr val="tx1"/>
                </a:solidFill>
              </a:rPr>
              <a:t>Debarati</a:t>
            </a:r>
            <a:r>
              <a:rPr lang="en-US" sz="1800" dirty="0">
                <a:solidFill>
                  <a:schemeClr val="tx1"/>
                </a:solidFill>
              </a:rPr>
              <a:t> Halder, lawyer and legal researcher, define cybercrime thus −</a:t>
            </a:r>
          </a:p>
          <a:p>
            <a:pPr marL="342900" indent="-342900" algn="l">
              <a:buClr>
                <a:srgbClr val="0070C0"/>
              </a:buClr>
              <a:buSzPct val="80000"/>
              <a:buFont typeface="Wingdings" pitchFamily="2" charset="2"/>
              <a:buChar char="u"/>
            </a:pPr>
            <a:r>
              <a:rPr lang="en-US" sz="1800" i="1" dirty="0">
                <a:solidFill>
                  <a:schemeClr val="tx1"/>
                </a:solidFill>
              </a:rPr>
              <a:t>Offences that are committed against individuals or groups of individuals with a criminal motive to intentionally harm the reputation of the victim or cause physical or mental harm, or loss, to the victim directly or indirectly, using modern telecommunication networks such as Internet (networks including but not limited to Chat rooms, emails, notice boards and groups) and mobile phones (Bluetooth/SMS/MMS).</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2</a:t>
            </a:fld>
            <a:endParaRPr lang="zh-TW" altLang="en-US"/>
          </a:p>
        </p:txBody>
      </p:sp>
    </p:spTree>
    <p:extLst>
      <p:ext uri="{BB962C8B-B14F-4D97-AF65-F5344CB8AC3E}">
        <p14:creationId xmlns:p14="http://schemas.microsoft.com/office/powerpoint/2010/main" val="244154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936103"/>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Cyber Crimes</a:t>
            </a:r>
          </a:p>
          <a:p>
            <a:pPr marL="342900" indent="-342900" algn="l">
              <a:buClr>
                <a:srgbClr val="0070C0"/>
              </a:buClr>
              <a:buSzPct val="80000"/>
              <a:buFont typeface="Wingdings" pitchFamily="2" charset="2"/>
              <a:buChar char="u"/>
            </a:pPr>
            <a:r>
              <a:rPr lang="en-US" sz="1800" dirty="0">
                <a:solidFill>
                  <a:schemeClr val="tx1"/>
                </a:solidFill>
              </a:rPr>
              <a:t>This definition implies that any crime perpetrated (carry out harmful action) on the Internet or using computers is a cybercrime.</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3</a:t>
            </a:fld>
            <a:endParaRPr lang="zh-TW" altLang="en-US"/>
          </a:p>
        </p:txBody>
      </p:sp>
      <p:pic>
        <p:nvPicPr>
          <p:cNvPr id="1026" name="Picture 2" descr="Cybercrimes">
            <a:extLst>
              <a:ext uri="{FF2B5EF4-FFF2-40B4-BE49-F238E27FC236}">
                <a16:creationId xmlns:a16="http://schemas.microsoft.com/office/drawing/2014/main" id="{E87E9C48-8E70-4053-8A05-7129079DC1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474348"/>
            <a:ext cx="4286248" cy="4286248"/>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244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4392487"/>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dirty="0">
                <a:solidFill>
                  <a:schemeClr val="tx1"/>
                </a:solidFill>
              </a:rPr>
              <a:t>Examples of cybercrimes include −</a:t>
            </a:r>
          </a:p>
          <a:p>
            <a:pPr marL="800100" lvl="1" indent="-342900" algn="l">
              <a:buClr>
                <a:srgbClr val="0070C0"/>
              </a:buClr>
              <a:buSzPct val="80000"/>
              <a:buFont typeface="Wingdings" pitchFamily="2" charset="2"/>
              <a:buChar char="u"/>
            </a:pPr>
            <a:r>
              <a:rPr lang="en-US" sz="1800" dirty="0">
                <a:solidFill>
                  <a:schemeClr val="tx1"/>
                </a:solidFill>
              </a:rPr>
              <a:t>Cracking</a:t>
            </a:r>
          </a:p>
          <a:p>
            <a:pPr marL="800100" lvl="1" indent="-342900" algn="l">
              <a:buClr>
                <a:srgbClr val="0070C0"/>
              </a:buClr>
              <a:buSzPct val="80000"/>
              <a:buFont typeface="Wingdings" pitchFamily="2" charset="2"/>
              <a:buChar char="u"/>
            </a:pPr>
            <a:r>
              <a:rPr lang="en-US" sz="1800" dirty="0">
                <a:solidFill>
                  <a:schemeClr val="tx1"/>
                </a:solidFill>
              </a:rPr>
              <a:t>Identity theft</a:t>
            </a:r>
          </a:p>
          <a:p>
            <a:pPr marL="800100" lvl="1" indent="-342900" algn="l">
              <a:buClr>
                <a:srgbClr val="0070C0"/>
              </a:buClr>
              <a:buSzPct val="80000"/>
              <a:buFont typeface="Wingdings" pitchFamily="2" charset="2"/>
              <a:buChar char="u"/>
            </a:pPr>
            <a:r>
              <a:rPr lang="en-US" sz="1800" dirty="0">
                <a:solidFill>
                  <a:schemeClr val="tx1"/>
                </a:solidFill>
              </a:rPr>
              <a:t>Hate crime</a:t>
            </a:r>
          </a:p>
          <a:p>
            <a:pPr marL="800100" lvl="1" indent="-342900" algn="l">
              <a:buClr>
                <a:srgbClr val="0070C0"/>
              </a:buClr>
              <a:buSzPct val="80000"/>
              <a:buFont typeface="Wingdings" pitchFamily="2" charset="2"/>
              <a:buChar char="u"/>
            </a:pPr>
            <a:r>
              <a:rPr lang="en-US" sz="1800" dirty="0">
                <a:solidFill>
                  <a:schemeClr val="tx1"/>
                </a:solidFill>
              </a:rPr>
              <a:t>E-commerce fraud</a:t>
            </a:r>
          </a:p>
          <a:p>
            <a:pPr marL="800100" lvl="1" indent="-342900" algn="l">
              <a:buClr>
                <a:srgbClr val="0070C0"/>
              </a:buClr>
              <a:buSzPct val="80000"/>
              <a:buFont typeface="Wingdings" pitchFamily="2" charset="2"/>
              <a:buChar char="u"/>
            </a:pPr>
            <a:r>
              <a:rPr lang="en-US" sz="1800" dirty="0">
                <a:solidFill>
                  <a:schemeClr val="tx1"/>
                </a:solidFill>
              </a:rPr>
              <a:t>Credit card account theft</a:t>
            </a:r>
          </a:p>
          <a:p>
            <a:pPr marL="800100" lvl="1" indent="-342900" algn="l">
              <a:buClr>
                <a:srgbClr val="0070C0"/>
              </a:buClr>
              <a:buSzPct val="80000"/>
              <a:buFont typeface="Wingdings" pitchFamily="2" charset="2"/>
              <a:buChar char="u"/>
            </a:pPr>
            <a:r>
              <a:rPr lang="en-US" sz="1800" dirty="0">
                <a:solidFill>
                  <a:schemeClr val="tx1"/>
                </a:solidFill>
              </a:rPr>
              <a:t>Publishing obscene content</a:t>
            </a:r>
          </a:p>
          <a:p>
            <a:pPr marL="800100" lvl="1" indent="-342900" algn="l">
              <a:buClr>
                <a:srgbClr val="0070C0"/>
              </a:buClr>
              <a:buSzPct val="80000"/>
              <a:buFont typeface="Wingdings" pitchFamily="2" charset="2"/>
              <a:buChar char="u"/>
            </a:pPr>
            <a:r>
              <a:rPr lang="en-US" sz="1800" dirty="0">
                <a:solidFill>
                  <a:schemeClr val="tx1"/>
                </a:solidFill>
              </a:rPr>
              <a:t>Child pornography</a:t>
            </a:r>
          </a:p>
          <a:p>
            <a:pPr marL="800100" lvl="1" indent="-342900" algn="l">
              <a:buClr>
                <a:srgbClr val="0070C0"/>
              </a:buClr>
              <a:buSzPct val="80000"/>
              <a:buFont typeface="Wingdings" pitchFamily="2" charset="2"/>
              <a:buChar char="u"/>
            </a:pPr>
            <a:r>
              <a:rPr lang="en-US" sz="1800" dirty="0">
                <a:solidFill>
                  <a:schemeClr val="tx1"/>
                </a:solidFill>
              </a:rPr>
              <a:t>Online stalking (illegal following or watching)</a:t>
            </a:r>
          </a:p>
          <a:p>
            <a:pPr marL="800100" lvl="1" indent="-342900" algn="l">
              <a:buClr>
                <a:srgbClr val="0070C0"/>
              </a:buClr>
              <a:buSzPct val="80000"/>
              <a:buFont typeface="Wingdings" pitchFamily="2" charset="2"/>
              <a:buChar char="u"/>
            </a:pPr>
            <a:r>
              <a:rPr lang="en-US" sz="1800" dirty="0">
                <a:solidFill>
                  <a:schemeClr val="tx1"/>
                </a:solidFill>
              </a:rPr>
              <a:t>Copyright infringement (Law Violation)</a:t>
            </a:r>
          </a:p>
          <a:p>
            <a:pPr marL="800100" lvl="1" indent="-342900" algn="l">
              <a:buClr>
                <a:srgbClr val="0070C0"/>
              </a:buClr>
              <a:buSzPct val="80000"/>
              <a:buFont typeface="Wingdings" pitchFamily="2" charset="2"/>
              <a:buChar char="u"/>
            </a:pPr>
            <a:r>
              <a:rPr lang="en-US" sz="1800" dirty="0">
                <a:solidFill>
                  <a:schemeClr val="tx1"/>
                </a:solidFill>
              </a:rPr>
              <a:t>Mass surveillance</a:t>
            </a:r>
          </a:p>
          <a:p>
            <a:pPr marL="800100" lvl="1" indent="-342900" algn="l">
              <a:buClr>
                <a:srgbClr val="0070C0"/>
              </a:buClr>
              <a:buSzPct val="80000"/>
              <a:buFont typeface="Wingdings" pitchFamily="2" charset="2"/>
              <a:buChar char="u"/>
            </a:pPr>
            <a:r>
              <a:rPr lang="en-US" sz="1800" dirty="0">
                <a:solidFill>
                  <a:schemeClr val="tx1"/>
                </a:solidFill>
              </a:rPr>
              <a:t>Cyber terrorism</a:t>
            </a:r>
          </a:p>
          <a:p>
            <a:pPr marL="800100" lvl="1" indent="-342900" algn="l">
              <a:buClr>
                <a:srgbClr val="0070C0"/>
              </a:buClr>
              <a:buSzPct val="80000"/>
              <a:buFont typeface="Wingdings" pitchFamily="2" charset="2"/>
              <a:buChar char="u"/>
            </a:pPr>
            <a:r>
              <a:rPr lang="en-US" sz="1800" dirty="0">
                <a:solidFill>
                  <a:schemeClr val="tx1"/>
                </a:solidFill>
              </a:rPr>
              <a:t>Cyber warfare</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4</a:t>
            </a:fld>
            <a:endParaRPr lang="zh-TW" altLang="en-US"/>
          </a:p>
        </p:txBody>
      </p:sp>
    </p:spTree>
    <p:extLst>
      <p:ext uri="{BB962C8B-B14F-4D97-AF65-F5344CB8AC3E}">
        <p14:creationId xmlns:p14="http://schemas.microsoft.com/office/powerpoint/2010/main" val="3540692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3384375"/>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Cyber Law</a:t>
            </a:r>
          </a:p>
          <a:p>
            <a:pPr marL="342900" indent="-342900" algn="l">
              <a:buClr>
                <a:srgbClr val="0070C0"/>
              </a:buClr>
              <a:buSzPct val="80000"/>
              <a:buFont typeface="Wingdings" pitchFamily="2" charset="2"/>
              <a:buChar char="u"/>
            </a:pPr>
            <a:r>
              <a:rPr lang="en-US" sz="1800" b="1" dirty="0">
                <a:solidFill>
                  <a:schemeClr val="tx1"/>
                </a:solidFill>
              </a:rPr>
              <a:t>Cyber law</a:t>
            </a:r>
            <a:r>
              <a:rPr lang="en-US" sz="1800" dirty="0">
                <a:solidFill>
                  <a:schemeClr val="tx1"/>
                </a:solidFill>
              </a:rPr>
              <a:t> is a term that encompasses legal issues related to use of </a:t>
            </a:r>
            <a:r>
              <a:rPr lang="en-US" sz="1800" b="1" dirty="0">
                <a:solidFill>
                  <a:schemeClr val="tx1"/>
                </a:solidFill>
              </a:rPr>
              <a:t>Internet </a:t>
            </a:r>
            <a:r>
              <a:rPr lang="en-US" sz="1800" dirty="0">
                <a:solidFill>
                  <a:schemeClr val="tx1"/>
                </a:solidFill>
              </a:rPr>
              <a:t>and </a:t>
            </a:r>
            <a:r>
              <a:rPr lang="en-US" sz="1800" b="1" dirty="0">
                <a:solidFill>
                  <a:schemeClr val="tx1"/>
                </a:solidFill>
              </a:rPr>
              <a:t>cyberspace</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It is a broad term that covers varied issues like freedom of expression, internet usage, online privacy, child abuse, etc. </a:t>
            </a:r>
          </a:p>
          <a:p>
            <a:pPr marL="342900" indent="-342900" algn="l">
              <a:buClr>
                <a:srgbClr val="0070C0"/>
              </a:buClr>
              <a:buSzPct val="80000"/>
              <a:buFont typeface="Wingdings" pitchFamily="2" charset="2"/>
              <a:buChar char="u"/>
            </a:pPr>
            <a:r>
              <a:rPr lang="en-US" sz="1800" dirty="0">
                <a:solidFill>
                  <a:schemeClr val="tx1"/>
                </a:solidFill>
              </a:rPr>
              <a:t>Most of the countries have one or the other form of cyber law in place to tackle the growing menace of cybercrimes.</a:t>
            </a:r>
          </a:p>
          <a:p>
            <a:pPr marL="342900" indent="-342900" algn="l">
              <a:buClr>
                <a:srgbClr val="0070C0"/>
              </a:buClr>
              <a:buSzPct val="80000"/>
              <a:buFont typeface="Wingdings" pitchFamily="2" charset="2"/>
              <a:buChar char="u"/>
            </a:pPr>
            <a:r>
              <a:rPr lang="en-US" sz="1800" dirty="0">
                <a:solidFill>
                  <a:schemeClr val="tx1"/>
                </a:solidFill>
              </a:rPr>
              <a:t>A major issue here is that in any crime perpetrator, victim and instruments used might be spread across multiple locations nationally as well as internationally. </a:t>
            </a:r>
          </a:p>
          <a:p>
            <a:pPr marL="342900" indent="-342900" algn="l">
              <a:buClr>
                <a:srgbClr val="0070C0"/>
              </a:buClr>
              <a:buSzPct val="80000"/>
              <a:buFont typeface="Wingdings" pitchFamily="2" charset="2"/>
              <a:buChar char="u"/>
            </a:pPr>
            <a:r>
              <a:rPr lang="en-US" sz="1800" dirty="0">
                <a:solidFill>
                  <a:schemeClr val="tx1"/>
                </a:solidFill>
              </a:rPr>
              <a:t>Investigating the crime needs close collaboration between computer experts and multiple government authorities, sometimes in more than one country.</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5</a:t>
            </a:fld>
            <a:endParaRPr lang="zh-TW" altLang="en-US"/>
          </a:p>
        </p:txBody>
      </p:sp>
    </p:spTree>
    <p:extLst>
      <p:ext uri="{BB962C8B-B14F-4D97-AF65-F5344CB8AC3E}">
        <p14:creationId xmlns:p14="http://schemas.microsoft.com/office/powerpoint/2010/main" val="89027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4392487"/>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IT Act</a:t>
            </a:r>
          </a:p>
          <a:p>
            <a:pPr marL="342900" indent="-342900" algn="l">
              <a:buClr>
                <a:srgbClr val="0070C0"/>
              </a:buClr>
              <a:buSzPct val="80000"/>
              <a:buFont typeface="Wingdings" pitchFamily="2" charset="2"/>
              <a:buChar char="u"/>
            </a:pPr>
            <a:r>
              <a:rPr lang="en-US" sz="1800" dirty="0">
                <a:solidFill>
                  <a:schemeClr val="tx1"/>
                </a:solidFill>
              </a:rPr>
              <a:t>Information Technology Act, </a:t>
            </a:r>
            <a:r>
              <a:rPr lang="en-US" sz="1800" b="1" dirty="0">
                <a:solidFill>
                  <a:schemeClr val="tx1"/>
                </a:solidFill>
              </a:rPr>
              <a:t>2000</a:t>
            </a:r>
            <a:r>
              <a:rPr lang="en-US" sz="1800" dirty="0">
                <a:solidFill>
                  <a:schemeClr val="tx1"/>
                </a:solidFill>
              </a:rPr>
              <a:t> is the primary Indian law dealing with </a:t>
            </a:r>
            <a:r>
              <a:rPr lang="en-US" sz="1800" b="1" dirty="0">
                <a:solidFill>
                  <a:schemeClr val="tx1"/>
                </a:solidFill>
              </a:rPr>
              <a:t>cybercrime </a:t>
            </a:r>
            <a:r>
              <a:rPr lang="en-US" sz="1800" dirty="0">
                <a:solidFill>
                  <a:schemeClr val="tx1"/>
                </a:solidFill>
              </a:rPr>
              <a:t>and </a:t>
            </a:r>
            <a:r>
              <a:rPr lang="en-US" sz="1800" b="1" dirty="0">
                <a:solidFill>
                  <a:schemeClr val="tx1"/>
                </a:solidFill>
              </a:rPr>
              <a:t>e-commerce</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The law, also called </a:t>
            </a:r>
            <a:r>
              <a:rPr lang="en-US" sz="1800" b="1" dirty="0">
                <a:solidFill>
                  <a:schemeClr val="tx1"/>
                </a:solidFill>
              </a:rPr>
              <a:t>ITA-2000</a:t>
            </a:r>
            <a:r>
              <a:rPr lang="en-US" sz="1800" dirty="0">
                <a:solidFill>
                  <a:schemeClr val="tx1"/>
                </a:solidFill>
              </a:rPr>
              <a:t> or </a:t>
            </a:r>
            <a:r>
              <a:rPr lang="en-US" sz="1800" b="1" dirty="0">
                <a:solidFill>
                  <a:schemeClr val="tx1"/>
                </a:solidFill>
              </a:rPr>
              <a:t>IT Act</a:t>
            </a:r>
            <a:r>
              <a:rPr lang="en-US" sz="1800" dirty="0">
                <a:solidFill>
                  <a:schemeClr val="tx1"/>
                </a:solidFill>
              </a:rPr>
              <a:t>, was notified on 17</a:t>
            </a:r>
            <a:r>
              <a:rPr lang="en-US" sz="1800" baseline="30000" dirty="0">
                <a:solidFill>
                  <a:schemeClr val="tx1"/>
                </a:solidFill>
              </a:rPr>
              <a:t>th</a:t>
            </a:r>
            <a:r>
              <a:rPr lang="en-US" sz="1800" dirty="0">
                <a:solidFill>
                  <a:schemeClr val="tx1"/>
                </a:solidFill>
              </a:rPr>
              <a:t> October 2000 and is based on the United Nations Model Law on Electronic Commerce 1996 recommended by the UN General Assembly on 30</a:t>
            </a:r>
            <a:r>
              <a:rPr lang="en-US" sz="1800" baseline="30000" dirty="0">
                <a:solidFill>
                  <a:schemeClr val="tx1"/>
                </a:solidFill>
              </a:rPr>
              <a:t>th</a:t>
            </a:r>
            <a:r>
              <a:rPr lang="en-US" sz="1800" dirty="0">
                <a:solidFill>
                  <a:schemeClr val="tx1"/>
                </a:solidFill>
              </a:rPr>
              <a:t> January 1997.</a:t>
            </a:r>
          </a:p>
          <a:p>
            <a:pPr marL="342900" indent="-342900" algn="l">
              <a:buClr>
                <a:srgbClr val="0070C0"/>
              </a:buClr>
              <a:buSzPct val="80000"/>
              <a:buFont typeface="Wingdings" pitchFamily="2" charset="2"/>
              <a:buChar char="u"/>
            </a:pPr>
            <a:r>
              <a:rPr lang="en-US" sz="1800" dirty="0">
                <a:solidFill>
                  <a:schemeClr val="tx1"/>
                </a:solidFill>
              </a:rPr>
              <a:t>The IT Act covers whole of India and recognizes electronic records and digital signatures. Some of its prominent features include −</a:t>
            </a:r>
          </a:p>
          <a:p>
            <a:pPr marL="800100" lvl="1" indent="-342900" algn="l">
              <a:buClr>
                <a:srgbClr val="0070C0"/>
              </a:buClr>
              <a:buSzPct val="80000"/>
              <a:buFont typeface="Wingdings" pitchFamily="2" charset="2"/>
              <a:buChar char="u"/>
            </a:pPr>
            <a:r>
              <a:rPr lang="en-US" sz="1800" dirty="0">
                <a:solidFill>
                  <a:schemeClr val="tx1"/>
                </a:solidFill>
              </a:rPr>
              <a:t>Formation of Controller of Certifying Authorities to regulate issuance of digital signatures</a:t>
            </a:r>
          </a:p>
          <a:p>
            <a:pPr marL="800100" lvl="1" indent="-342900" algn="l">
              <a:buClr>
                <a:srgbClr val="0070C0"/>
              </a:buClr>
              <a:buSzPct val="80000"/>
              <a:buFont typeface="Wingdings" pitchFamily="2" charset="2"/>
              <a:buChar char="u"/>
            </a:pPr>
            <a:r>
              <a:rPr lang="en-US" sz="1800" dirty="0">
                <a:solidFill>
                  <a:schemeClr val="tx1"/>
                </a:solidFill>
              </a:rPr>
              <a:t>Establishment of Cyber Appellate Tribunal to resolve disputes due to the new law </a:t>
            </a:r>
          </a:p>
          <a:p>
            <a:pPr marL="800100" lvl="1" indent="-342900" algn="l">
              <a:buClr>
                <a:srgbClr val="0070C0"/>
              </a:buClr>
              <a:buSzPct val="80000"/>
              <a:buFont typeface="Wingdings" pitchFamily="2" charset="2"/>
              <a:buChar char="u"/>
            </a:pPr>
            <a:r>
              <a:rPr lang="en-US" sz="1800" dirty="0">
                <a:solidFill>
                  <a:schemeClr val="tx1"/>
                </a:solidFill>
              </a:rPr>
              <a:t>Amendment in sections of Indian Penal Code, Indian Evidence Act, Banker’s Book Evidence Act and RBI Act to make them technology compliant</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6</a:t>
            </a:fld>
            <a:endParaRPr lang="zh-TW" altLang="en-US"/>
          </a:p>
        </p:txBody>
      </p:sp>
    </p:spTree>
    <p:extLst>
      <p:ext uri="{BB962C8B-B14F-4D97-AF65-F5344CB8AC3E}">
        <p14:creationId xmlns:p14="http://schemas.microsoft.com/office/powerpoint/2010/main" val="3407522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180019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IT Act</a:t>
            </a:r>
          </a:p>
          <a:p>
            <a:pPr marL="342900" indent="-342900" algn="l">
              <a:buClr>
                <a:srgbClr val="0070C0"/>
              </a:buClr>
              <a:buSzPct val="80000"/>
              <a:buFont typeface="Wingdings" pitchFamily="2" charset="2"/>
              <a:buChar char="u"/>
            </a:pPr>
            <a:r>
              <a:rPr lang="en-US" sz="1800" dirty="0">
                <a:solidFill>
                  <a:schemeClr val="tx1"/>
                </a:solidFill>
              </a:rPr>
              <a:t>The IT Act was framed to originally to provide legal infrastructure for e-commerce in India. However, major amendments were made in 2008 to address issues like cyber terrorism, data protection, child pornography, stalking, etc. </a:t>
            </a:r>
          </a:p>
          <a:p>
            <a:pPr marL="342900" indent="-342900" algn="l">
              <a:buClr>
                <a:srgbClr val="0070C0"/>
              </a:buClr>
              <a:buSzPct val="80000"/>
              <a:buFont typeface="Wingdings" pitchFamily="2" charset="2"/>
              <a:buChar char="u"/>
            </a:pPr>
            <a:r>
              <a:rPr lang="en-US" sz="1800" dirty="0">
                <a:solidFill>
                  <a:schemeClr val="tx1"/>
                </a:solidFill>
              </a:rPr>
              <a:t>It also gave authorities the power to intercept, monitor or decrypt any information through computer resources.</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7</a:t>
            </a:fld>
            <a:endParaRPr lang="zh-TW" altLang="en-US"/>
          </a:p>
        </p:txBody>
      </p:sp>
    </p:spTree>
    <p:extLst>
      <p:ext uri="{BB962C8B-B14F-4D97-AF65-F5344CB8AC3E}">
        <p14:creationId xmlns:p14="http://schemas.microsoft.com/office/powerpoint/2010/main" val="3459230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52027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IPR Issues</a:t>
            </a:r>
          </a:p>
          <a:p>
            <a:pPr marL="342900" indent="-342900" algn="l">
              <a:buClr>
                <a:srgbClr val="0070C0"/>
              </a:buClr>
              <a:buSzPct val="80000"/>
              <a:buFont typeface="Wingdings" pitchFamily="2" charset="2"/>
              <a:buChar char="u"/>
            </a:pPr>
            <a:r>
              <a:rPr lang="en-US" sz="1800" dirty="0">
                <a:solidFill>
                  <a:schemeClr val="tx1"/>
                </a:solidFill>
              </a:rPr>
              <a:t>IPR stands for </a:t>
            </a:r>
            <a:r>
              <a:rPr lang="en-US" sz="1800" b="1" dirty="0">
                <a:solidFill>
                  <a:schemeClr val="tx1"/>
                </a:solidFill>
              </a:rPr>
              <a:t>Intellectual Property Rights</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IPR is legal protection provided to creators of </a:t>
            </a:r>
            <a:r>
              <a:rPr lang="en-US" sz="1800" b="1" dirty="0">
                <a:solidFill>
                  <a:schemeClr val="tx1"/>
                </a:solidFill>
              </a:rPr>
              <a:t>Intellectual Property (IP)</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IP is any creation of the intellect or mind, like art, music, literature, inventions, logo, symbols, tag lines, etc. </a:t>
            </a:r>
          </a:p>
          <a:p>
            <a:pPr marL="342900" indent="-342900" algn="l">
              <a:buClr>
                <a:srgbClr val="0070C0"/>
              </a:buClr>
              <a:buSzPct val="80000"/>
              <a:buFont typeface="Wingdings" pitchFamily="2" charset="2"/>
              <a:buChar char="u"/>
            </a:pPr>
            <a:r>
              <a:rPr lang="en-US" sz="1800" dirty="0">
                <a:solidFill>
                  <a:schemeClr val="tx1"/>
                </a:solidFill>
              </a:rPr>
              <a:t>Protecting the rights of intellectual property creators is essentially a moral issue. However, law of the land does provide legal protection in case of violation of these rights.</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8</a:t>
            </a:fld>
            <a:endParaRPr lang="zh-TW" altLang="en-US"/>
          </a:p>
        </p:txBody>
      </p:sp>
      <p:pic>
        <p:nvPicPr>
          <p:cNvPr id="2050" name="Picture 2" descr="Intellectual Property">
            <a:extLst>
              <a:ext uri="{FF2B5EF4-FFF2-40B4-BE49-F238E27FC236}">
                <a16:creationId xmlns:a16="http://schemas.microsoft.com/office/drawing/2014/main" id="{ACDD997B-9B47-4EB4-A08E-5BAF62B78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3057" y="3692783"/>
            <a:ext cx="3131391" cy="2745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97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3456383"/>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IPR Issues</a:t>
            </a:r>
            <a:endParaRPr lang="en-US" sz="1800" dirty="0">
              <a:solidFill>
                <a:schemeClr val="tx1"/>
              </a:solidFill>
            </a:endParaRPr>
          </a:p>
          <a:p>
            <a:pPr marL="342900" indent="-342900" algn="l">
              <a:buClr>
                <a:srgbClr val="0070C0"/>
              </a:buClr>
              <a:buSzPct val="80000"/>
              <a:buFont typeface="Wingdings" pitchFamily="2" charset="2"/>
              <a:buChar char="u"/>
            </a:pPr>
            <a:r>
              <a:rPr lang="en-US" sz="1800" dirty="0">
                <a:solidFill>
                  <a:schemeClr val="tx1"/>
                </a:solidFill>
              </a:rPr>
              <a:t>Intellectual Property Rights include −</a:t>
            </a:r>
          </a:p>
          <a:p>
            <a:pPr marL="800100" lvl="1" indent="-342900" algn="l">
              <a:buClr>
                <a:srgbClr val="0070C0"/>
              </a:buClr>
              <a:buSzPct val="80000"/>
              <a:buFont typeface="Wingdings" pitchFamily="2" charset="2"/>
              <a:buChar char="u"/>
            </a:pPr>
            <a:r>
              <a:rPr lang="en-US" sz="1800" dirty="0">
                <a:solidFill>
                  <a:schemeClr val="tx1"/>
                </a:solidFill>
              </a:rPr>
              <a:t>Patents</a:t>
            </a:r>
          </a:p>
          <a:p>
            <a:pPr marL="800100" lvl="1" indent="-342900" algn="l">
              <a:buClr>
                <a:srgbClr val="0070C0"/>
              </a:buClr>
              <a:buSzPct val="80000"/>
              <a:buFont typeface="Wingdings" pitchFamily="2" charset="2"/>
              <a:buChar char="u"/>
            </a:pPr>
            <a:r>
              <a:rPr lang="en-US" sz="1800" dirty="0">
                <a:solidFill>
                  <a:schemeClr val="tx1"/>
                </a:solidFill>
              </a:rPr>
              <a:t>Copyrights</a:t>
            </a:r>
          </a:p>
          <a:p>
            <a:pPr marL="800100" lvl="1" indent="-342900" algn="l">
              <a:buClr>
                <a:srgbClr val="0070C0"/>
              </a:buClr>
              <a:buSzPct val="80000"/>
              <a:buFont typeface="Wingdings" pitchFamily="2" charset="2"/>
              <a:buChar char="u"/>
            </a:pPr>
            <a:r>
              <a:rPr lang="en-US" sz="1800" dirty="0">
                <a:solidFill>
                  <a:schemeClr val="tx1"/>
                </a:solidFill>
              </a:rPr>
              <a:t>Industrial design rights</a:t>
            </a:r>
          </a:p>
          <a:p>
            <a:pPr marL="800100" lvl="1" indent="-342900" algn="l">
              <a:buClr>
                <a:srgbClr val="0070C0"/>
              </a:buClr>
              <a:buSzPct val="80000"/>
              <a:buFont typeface="Wingdings" pitchFamily="2" charset="2"/>
              <a:buChar char="u"/>
            </a:pPr>
            <a:r>
              <a:rPr lang="en-US" sz="1800" dirty="0">
                <a:solidFill>
                  <a:schemeClr val="tx1"/>
                </a:solidFill>
              </a:rPr>
              <a:t>Trademarks</a:t>
            </a:r>
          </a:p>
          <a:p>
            <a:pPr marL="800100" lvl="1" indent="-342900" algn="l">
              <a:buClr>
                <a:srgbClr val="0070C0"/>
              </a:buClr>
              <a:buSzPct val="80000"/>
              <a:buFont typeface="Wingdings" pitchFamily="2" charset="2"/>
              <a:buChar char="u"/>
            </a:pPr>
            <a:r>
              <a:rPr lang="en-US" sz="1800" dirty="0">
                <a:solidFill>
                  <a:schemeClr val="tx1"/>
                </a:solidFill>
              </a:rPr>
              <a:t>Plant variety rights</a:t>
            </a:r>
          </a:p>
          <a:p>
            <a:pPr marL="800100" lvl="1" indent="-342900" algn="l">
              <a:buClr>
                <a:srgbClr val="0070C0"/>
              </a:buClr>
              <a:buSzPct val="80000"/>
              <a:buFont typeface="Wingdings" pitchFamily="2" charset="2"/>
              <a:buChar char="u"/>
            </a:pPr>
            <a:r>
              <a:rPr lang="en-US" sz="1800" dirty="0">
                <a:solidFill>
                  <a:schemeClr val="tx1"/>
                </a:solidFill>
              </a:rPr>
              <a:t>Trade dress</a:t>
            </a:r>
          </a:p>
          <a:p>
            <a:pPr marL="800100" lvl="1" indent="-342900" algn="l">
              <a:buClr>
                <a:srgbClr val="0070C0"/>
              </a:buClr>
              <a:buSzPct val="80000"/>
              <a:buFont typeface="Wingdings" pitchFamily="2" charset="2"/>
              <a:buChar char="u"/>
            </a:pPr>
            <a:r>
              <a:rPr lang="en-US" sz="1800" dirty="0">
                <a:solidFill>
                  <a:schemeClr val="tx1"/>
                </a:solidFill>
              </a:rPr>
              <a:t>Geographical indications</a:t>
            </a:r>
          </a:p>
          <a:p>
            <a:pPr marL="800100" lvl="1" indent="-342900" algn="l">
              <a:buClr>
                <a:srgbClr val="0070C0"/>
              </a:buClr>
              <a:buSzPct val="80000"/>
              <a:buFont typeface="Wingdings" pitchFamily="2" charset="2"/>
              <a:buChar char="u"/>
            </a:pPr>
            <a:r>
              <a:rPr lang="en-US" sz="1800" dirty="0">
                <a:solidFill>
                  <a:schemeClr val="tx1"/>
                </a:solidFill>
              </a:rPr>
              <a:t>Trade secrets</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9</a:t>
            </a:fld>
            <a:endParaRPr lang="zh-TW" altLang="en-US"/>
          </a:p>
        </p:txBody>
      </p:sp>
    </p:spTree>
    <p:extLst>
      <p:ext uri="{BB962C8B-B14F-4D97-AF65-F5344CB8AC3E}">
        <p14:creationId xmlns:p14="http://schemas.microsoft.com/office/powerpoint/2010/main" val="196909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20 Security Act and Law</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232247"/>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IPR Issues</a:t>
            </a:r>
            <a:endParaRPr lang="en-US" sz="1800" dirty="0">
              <a:solidFill>
                <a:schemeClr val="tx1"/>
              </a:solidFill>
            </a:endParaRPr>
          </a:p>
          <a:p>
            <a:pPr marL="342900" indent="-342900" algn="l">
              <a:buClr>
                <a:srgbClr val="0070C0"/>
              </a:buClr>
              <a:buSzPct val="80000"/>
              <a:buFont typeface="Wingdings" pitchFamily="2" charset="2"/>
              <a:buChar char="u"/>
            </a:pPr>
            <a:r>
              <a:rPr lang="en-US" sz="1800" dirty="0">
                <a:solidFill>
                  <a:schemeClr val="tx1"/>
                </a:solidFill>
              </a:rPr>
              <a:t>Violation of Intellectual Property Rights is called </a:t>
            </a:r>
            <a:r>
              <a:rPr lang="en-US" sz="1800" b="1" dirty="0">
                <a:solidFill>
                  <a:schemeClr val="tx1"/>
                </a:solidFill>
              </a:rPr>
              <a:t>infringement</a:t>
            </a:r>
            <a:r>
              <a:rPr lang="en-US" sz="1800" dirty="0">
                <a:solidFill>
                  <a:schemeClr val="tx1"/>
                </a:solidFill>
              </a:rPr>
              <a:t> in case of patents, copyrights and trademarks, and </a:t>
            </a:r>
            <a:r>
              <a:rPr lang="en-US" sz="1800" b="1" dirty="0">
                <a:solidFill>
                  <a:schemeClr val="tx1"/>
                </a:solidFill>
              </a:rPr>
              <a:t>misappropriation</a:t>
            </a:r>
            <a:r>
              <a:rPr lang="en-US" sz="1800" dirty="0">
                <a:solidFill>
                  <a:schemeClr val="tx1"/>
                </a:solidFill>
              </a:rPr>
              <a:t> in case of trade secrets. </a:t>
            </a:r>
          </a:p>
          <a:p>
            <a:pPr marL="342900" indent="-342900" algn="l">
              <a:buClr>
                <a:srgbClr val="0070C0"/>
              </a:buClr>
              <a:buSzPct val="80000"/>
              <a:buFont typeface="Wingdings" pitchFamily="2" charset="2"/>
              <a:buChar char="u"/>
            </a:pPr>
            <a:r>
              <a:rPr lang="en-US" sz="1800" dirty="0">
                <a:solidFill>
                  <a:schemeClr val="tx1"/>
                </a:solidFill>
              </a:rPr>
              <a:t>Any published material that you view or read on the Internet is copyright of its creator and hence protected by</a:t>
            </a:r>
            <a:r>
              <a:rPr lang="en-US" sz="1800" b="1" dirty="0">
                <a:solidFill>
                  <a:schemeClr val="tx1"/>
                </a:solidFill>
              </a:rPr>
              <a:t> IPR (Intellectual Property Rights</a:t>
            </a:r>
            <a:r>
              <a:rPr lang="en-US" sz="1800" dirty="0">
                <a:solidFill>
                  <a:schemeClr val="tx1"/>
                </a:solidFill>
              </a:rPr>
              <a:t>). </a:t>
            </a:r>
          </a:p>
          <a:p>
            <a:pPr marL="342900" indent="-342900" algn="l">
              <a:buClr>
                <a:srgbClr val="0070C0"/>
              </a:buClr>
              <a:buSzPct val="80000"/>
              <a:buFont typeface="Wingdings" pitchFamily="2" charset="2"/>
              <a:buChar char="u"/>
            </a:pPr>
            <a:r>
              <a:rPr lang="en-US" sz="1800" dirty="0">
                <a:solidFill>
                  <a:schemeClr val="tx1"/>
                </a:solidFill>
              </a:rPr>
              <a:t>You are legally and morally obliged not to use it and pass it off as your own. </a:t>
            </a:r>
          </a:p>
          <a:p>
            <a:pPr marL="342900" indent="-342900" algn="l">
              <a:buClr>
                <a:srgbClr val="0070C0"/>
              </a:buClr>
              <a:buSzPct val="80000"/>
              <a:buFont typeface="Wingdings" pitchFamily="2" charset="2"/>
              <a:buChar char="u"/>
            </a:pPr>
            <a:r>
              <a:rPr lang="en-US" sz="1800" dirty="0">
                <a:solidFill>
                  <a:schemeClr val="tx1"/>
                </a:solidFill>
              </a:rPr>
              <a:t>That would be infringement of creator’s copyright and you may incur legal action.</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fontScale="85000" lnSpcReduction="10000"/>
          </a:bodyPr>
          <a:lstStyle/>
          <a:p>
            <a:pPr marL="0" lvl="1"/>
            <a:r>
              <a:rPr lang="en-US" sz="1600" dirty="0">
                <a:hlinkClick r:id="rId2"/>
              </a:rPr>
              <a:t>https://www.tutorialspoint.com/communication_technologies/communication_technologies_security_acts_and_laws.htm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10</a:t>
            </a:fld>
            <a:endParaRPr lang="zh-TW" altLang="en-US"/>
          </a:p>
        </p:txBody>
      </p:sp>
    </p:spTree>
    <p:extLst>
      <p:ext uri="{BB962C8B-B14F-4D97-AF65-F5344CB8AC3E}">
        <p14:creationId xmlns:p14="http://schemas.microsoft.com/office/powerpoint/2010/main" val="2159085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a:normAutofit/>
          </a:bodyPr>
          <a:lstStyle/>
          <a:p>
            <a:r>
              <a:rPr lang="en-US" altLang="zh-TW" sz="6000" b="1" dirty="0">
                <a:solidFill>
                  <a:srgbClr val="FFFF00"/>
                </a:solidFill>
              </a:rPr>
              <a:t>End of Chapter</a:t>
            </a:r>
            <a:endParaRPr lang="zh-TW" altLang="en-US" sz="6000" b="1" dirty="0">
              <a:solidFill>
                <a:srgbClr val="FFFF00"/>
              </a:solidFill>
            </a:endParaRPr>
          </a:p>
        </p:txBody>
      </p:sp>
      <p:sp>
        <p:nvSpPr>
          <p:cNvPr id="5" name="日期版面配置區 4"/>
          <p:cNvSpPr>
            <a:spLocks noGrp="1"/>
          </p:cNvSpPr>
          <p:nvPr>
            <p:ph type="dt" sz="half" idx="10"/>
          </p:nvPr>
        </p:nvSpPr>
        <p:spPr/>
        <p:txBody>
          <a:bodyPr/>
          <a:lstStyle/>
          <a:p>
            <a:fld id="{4E46BE27-E923-4EC2-B046-3272AE2A3E5C}" type="datetime1">
              <a:rPr lang="zh-TW" altLang="en-US" smtClean="0"/>
              <a:pPr/>
              <a:t>2020/3/28</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11</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1302</TotalTime>
  <Words>988</Words>
  <Application>Microsoft Office PowerPoint</Application>
  <PresentationFormat>On-screen Show (4:3)</PresentationFormat>
  <Paragraphs>98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Office 佈景主題</vt:lpstr>
      <vt:lpstr>20 Security Act and Law</vt:lpstr>
      <vt:lpstr>20 Security Act and Law</vt:lpstr>
      <vt:lpstr>20 Security Act and Law</vt:lpstr>
      <vt:lpstr>20 Security Act and Law</vt:lpstr>
      <vt:lpstr>20 Security Act and Law</vt:lpstr>
      <vt:lpstr>20 Security Act and Law</vt:lpstr>
      <vt:lpstr>20 Security Act and Law</vt:lpstr>
      <vt:lpstr>20 Security Act and Law</vt:lpstr>
      <vt:lpstr>20 Security Act and Law</vt:lpstr>
      <vt:lpstr>20 Security Act and Law</vt:lpstr>
      <vt:lpstr>End of Chapter</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 JS</dc:title>
  <dc:creator>USER</dc:creator>
  <cp:lastModifiedBy>14088587657</cp:lastModifiedBy>
  <cp:revision>477</cp:revision>
  <dcterms:created xsi:type="dcterms:W3CDTF">2018-09-28T16:40:41Z</dcterms:created>
  <dcterms:modified xsi:type="dcterms:W3CDTF">2020-03-29T00:14:43Z</dcterms:modified>
</cp:coreProperties>
</file>