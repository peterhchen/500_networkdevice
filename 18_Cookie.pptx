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65" r:id="rId3"/>
    <p:sldId id="266" r:id="rId4"/>
    <p:sldId id="268" r:id="rId5"/>
    <p:sldId id="267" r:id="rId6"/>
    <p:sldId id="259" r:id="rId7"/>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204" y="11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837EDA8-41C8-4B24-A206-13C08A65A6D7}" type="datetimeFigureOut">
              <a:rPr lang="zh-TW" altLang="en-US" smtClean="0"/>
              <a:pPr/>
              <a:t>2020/3/28</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1FAA135-E01C-4A42-9760-5A137A0CA41F}"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lvl1pPr>
              <a:defRPr>
                <a:solidFill>
                  <a:schemeClr val="tx1"/>
                </a:solidFill>
              </a:defRPr>
            </a:lvl1pPr>
          </a:lstStyle>
          <a:p>
            <a:fld id="{8B85509C-BD4F-47BF-9B1E-FC2E949B3621}" type="datetime1">
              <a:rPr lang="zh-TW" altLang="en-US" smtClean="0"/>
              <a:pPr/>
              <a:t>2020/3/28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lvl1pPr>
              <a:defRPr>
                <a:solidFill>
                  <a:schemeClr val="tx1"/>
                </a:solidFill>
              </a:defRPr>
            </a:lvl1pPr>
          </a:lstStyle>
          <a:p>
            <a:fld id="{E4D7E63D-91F2-4366-A2C4-1B00C9E2590E}"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0B99440-D9EF-40CC-9B52-F6428D9B2C76}" type="datetime1">
              <a:rPr lang="zh-TW" altLang="en-US" smtClean="0"/>
              <a:pPr/>
              <a:t>2020/3/28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0871BF52-5C6C-4959-8E27-CECB68D39FE4}" type="datetime1">
              <a:rPr lang="zh-TW" altLang="en-US" smtClean="0"/>
              <a:pPr/>
              <a:t>2020/3/28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DF863F05-2DD9-4EB1-A827-12FD992DE9DC}" type="datetime1">
              <a:rPr lang="zh-TW" altLang="en-US" smtClean="0"/>
              <a:pPr/>
              <a:t>2020/3/28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6339AF51-4491-4873-A096-75DB6CE47516}" type="datetime1">
              <a:rPr lang="zh-TW" altLang="en-US" smtClean="0"/>
              <a:pPr/>
              <a:t>2020/3/28</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EE4AD9C8-8B9E-40FF-ABE2-858AC2057BBB}" type="datetime1">
              <a:rPr lang="zh-TW" altLang="en-US" smtClean="0"/>
              <a:pPr/>
              <a:t>2020/3/28</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B4784999-BBBE-4BE4-A8D0-877E7D1D66CC}" type="datetime1">
              <a:rPr lang="zh-TW" altLang="en-US" smtClean="0"/>
              <a:pPr/>
              <a:t>2020/3/28</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E88D17E6-02BD-4944-B9FE-7BFCCBF83D48}" type="datetime1">
              <a:rPr lang="zh-TW" altLang="en-US" smtClean="0"/>
              <a:pPr/>
              <a:t>2020/3/28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3C13E23D-1FEF-4D78-A3A3-3D6F2BB31954}" type="datetime1">
              <a:rPr lang="zh-TW" altLang="en-US" smtClean="0"/>
              <a:pPr/>
              <a:t>2020/3/28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42251B24-F787-4C15-8A0F-7AEC20C70069}" type="datetime1">
              <a:rPr lang="zh-TW" altLang="en-US" smtClean="0"/>
              <a:pPr/>
              <a:t>2020/3/28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9CA0D33C-CE2B-45F1-B8D4-FFD1F131F331}" type="datetime1">
              <a:rPr lang="zh-TW" altLang="en-US" smtClean="0"/>
              <a:pPr/>
              <a:t>2020/3/28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4D7E63D-91F2-4366-A2C4-1B00C9E2590E}"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197F35-AD6F-4594-8B50-334492D2E7E8}" type="datetime1">
              <a:rPr lang="zh-TW" altLang="en-US" smtClean="0"/>
              <a:pPr/>
              <a:t>2020/3/28</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D7E63D-91F2-4366-A2C4-1B00C9E2590E}"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www.tutorialspoint.com/communication_technologies/communication_technologies_cookies.htm"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s://www.tutorialspoint.com/communication_technologies/communication_technologies_cookies.htm"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hyperlink" Target="https://www.tutorialspoint.com/communication_technologies/communication_technologies_cookies.htm"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hyperlink" Target="https://www.tutorialspoint.com/communication_technologies/communication_technologies_cookies.htm"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2130425"/>
            <a:ext cx="9144000" cy="1470025"/>
          </a:xfrm>
          <a:solidFill>
            <a:srgbClr val="00B0F0"/>
          </a:solidFill>
        </p:spPr>
        <p:txBody>
          <a:bodyPr>
            <a:normAutofit/>
          </a:bodyPr>
          <a:lstStyle/>
          <a:p>
            <a:r>
              <a:rPr lang="en-US" altLang="zh-TW" sz="4800" b="1" dirty="0">
                <a:solidFill>
                  <a:srgbClr val="FFFF00"/>
                </a:solidFill>
              </a:rPr>
              <a:t>18 Cookie</a:t>
            </a:r>
            <a:endParaRPr lang="zh-TW" altLang="en-US" sz="4800" b="1" dirty="0">
              <a:solidFill>
                <a:srgbClr val="FFFF00"/>
              </a:solidFill>
            </a:endParaRPr>
          </a:p>
        </p:txBody>
      </p:sp>
      <p:sp>
        <p:nvSpPr>
          <p:cNvPr id="3" name="副標題 2"/>
          <p:cNvSpPr>
            <a:spLocks noGrp="1"/>
          </p:cNvSpPr>
          <p:nvPr>
            <p:ph type="subTitle" idx="1"/>
          </p:nvPr>
        </p:nvSpPr>
        <p:spPr>
          <a:xfrm>
            <a:off x="1371600" y="4570616"/>
            <a:ext cx="6400800" cy="694928"/>
          </a:xfrm>
        </p:spPr>
        <p:txBody>
          <a:bodyPr>
            <a:normAutofit/>
          </a:bodyPr>
          <a:lstStyle/>
          <a:p>
            <a:r>
              <a:rPr lang="en-US" altLang="zh-TW" dirty="0"/>
              <a:t>Peter H. Chen</a:t>
            </a:r>
            <a:endParaRPr lang="zh-TW" altLang="en-US" dirty="0"/>
          </a:p>
        </p:txBody>
      </p:sp>
      <p:sp>
        <p:nvSpPr>
          <p:cNvPr id="5" name="日期版面配置區 4"/>
          <p:cNvSpPr>
            <a:spLocks noGrp="1"/>
          </p:cNvSpPr>
          <p:nvPr>
            <p:ph type="dt" sz="half" idx="10"/>
          </p:nvPr>
        </p:nvSpPr>
        <p:spPr/>
        <p:txBody>
          <a:bodyPr/>
          <a:lstStyle/>
          <a:p>
            <a:fld id="{C389EDC9-19E3-47AC-9C57-C6A24DEA81AD}" type="datetime1">
              <a:rPr lang="zh-TW" altLang="en-US" smtClean="0"/>
              <a:pPr/>
              <a:t>2020/3/28</a:t>
            </a:fld>
            <a:endParaRPr lang="zh-TW" altLang="en-US"/>
          </a:p>
        </p:txBody>
      </p:sp>
      <p:sp>
        <p:nvSpPr>
          <p:cNvPr id="6" name="投影片編號版面配置區 5"/>
          <p:cNvSpPr>
            <a:spLocks noGrp="1"/>
          </p:cNvSpPr>
          <p:nvPr>
            <p:ph type="sldNum" sz="quarter" idx="12"/>
          </p:nvPr>
        </p:nvSpPr>
        <p:spPr/>
        <p:txBody>
          <a:bodyPr/>
          <a:lstStyle/>
          <a:p>
            <a:fld id="{E4D7E63D-91F2-4366-A2C4-1B00C9E2590E}" type="slidenum">
              <a:rPr lang="zh-TW" altLang="en-US" smtClean="0"/>
              <a:pPr/>
              <a:t>1</a:t>
            </a:fld>
            <a:endParaRPr lang="zh-TW" altLang="en-US"/>
          </a:p>
        </p:txBody>
      </p:sp>
      <p:pic>
        <p:nvPicPr>
          <p:cNvPr id="4" name="Picture 3">
            <a:extLst>
              <a:ext uri="{FF2B5EF4-FFF2-40B4-BE49-F238E27FC236}">
                <a16:creationId xmlns:a16="http://schemas.microsoft.com/office/drawing/2014/main" id="{E3C8BD46-82E2-48A7-803A-12ED04C9EDCE}"/>
              </a:ext>
            </a:extLst>
          </p:cNvPr>
          <p:cNvPicPr>
            <a:picLocks noChangeAspect="1"/>
          </p:cNvPicPr>
          <p:nvPr/>
        </p:nvPicPr>
        <p:blipFill>
          <a:blip r:embed="rId2"/>
          <a:stretch>
            <a:fillRect/>
          </a:stretch>
        </p:blipFill>
        <p:spPr>
          <a:xfrm>
            <a:off x="4022825" y="3717032"/>
            <a:ext cx="1098349" cy="950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18 Cookie</a:t>
            </a:r>
            <a:endParaRPr lang="zh-TW" altLang="en-US" b="1" dirty="0">
              <a:solidFill>
                <a:srgbClr val="FFFF00"/>
              </a:solidFill>
            </a:endParaRPr>
          </a:p>
        </p:txBody>
      </p:sp>
      <p:sp>
        <p:nvSpPr>
          <p:cNvPr id="3" name="副標題 2"/>
          <p:cNvSpPr>
            <a:spLocks noGrp="1"/>
          </p:cNvSpPr>
          <p:nvPr>
            <p:ph type="subTitle" idx="1"/>
          </p:nvPr>
        </p:nvSpPr>
        <p:spPr>
          <a:xfrm>
            <a:off x="367862" y="1412777"/>
            <a:ext cx="8318938" cy="1512167"/>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b="1" dirty="0">
                <a:solidFill>
                  <a:schemeClr val="tx1"/>
                </a:solidFill>
              </a:rPr>
              <a:t>Cookies</a:t>
            </a:r>
            <a:r>
              <a:rPr lang="en-US" sz="1800" dirty="0">
                <a:solidFill>
                  <a:schemeClr val="tx1"/>
                </a:solidFill>
              </a:rPr>
              <a:t> are small text files with their </a:t>
            </a:r>
            <a:r>
              <a:rPr lang="en-US" sz="1800" b="1" dirty="0">
                <a:solidFill>
                  <a:schemeClr val="tx1"/>
                </a:solidFill>
              </a:rPr>
              <a:t>unique ID</a:t>
            </a:r>
            <a:r>
              <a:rPr lang="en-US" sz="1800" dirty="0">
                <a:solidFill>
                  <a:schemeClr val="tx1"/>
                </a:solidFill>
              </a:rPr>
              <a:t> stored on your system by a website. </a:t>
            </a:r>
          </a:p>
          <a:p>
            <a:pPr marL="342900" indent="-342900" algn="l">
              <a:buClr>
                <a:srgbClr val="0070C0"/>
              </a:buClr>
              <a:buSzPct val="80000"/>
              <a:buFont typeface="Wingdings" pitchFamily="2" charset="2"/>
              <a:buChar char="u"/>
            </a:pPr>
            <a:r>
              <a:rPr lang="en-US" sz="1800" dirty="0">
                <a:solidFill>
                  <a:schemeClr val="tx1"/>
                </a:solidFill>
              </a:rPr>
              <a:t>The website stores your browsing details like preferences, customizations, login ID, pages clicked, and etc. that specific to that website. </a:t>
            </a:r>
          </a:p>
          <a:p>
            <a:pPr marL="342900" indent="-342900" algn="l">
              <a:buClr>
                <a:srgbClr val="0070C0"/>
              </a:buClr>
              <a:buSzPct val="80000"/>
              <a:buFont typeface="Wingdings" pitchFamily="2" charset="2"/>
              <a:buChar char="u"/>
            </a:pPr>
            <a:r>
              <a:rPr lang="en-US" sz="1800" dirty="0">
                <a:solidFill>
                  <a:schemeClr val="tx1"/>
                </a:solidFill>
              </a:rPr>
              <a:t>Storing this information enables the website to provide you with a customized experience the next time you visit it.</a:t>
            </a: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a:bodyPr>
          <a:lstStyle/>
          <a:p>
            <a:pPr marL="0" lvl="1"/>
            <a:r>
              <a:rPr lang="en-US" sz="1600" dirty="0">
                <a:hlinkClick r:id="rId2"/>
              </a:rPr>
              <a:t>https://www.tutorialspoint.com/communication_technologies/communication_technologies_cookies.htm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2020/3/28</a:t>
            </a:fld>
            <a:endParaRPr lang="zh-TW" altLang="en-US" dirty="0"/>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2</a:t>
            </a:fld>
            <a:endParaRPr lang="zh-TW" altLang="en-US"/>
          </a:p>
        </p:txBody>
      </p:sp>
      <p:pic>
        <p:nvPicPr>
          <p:cNvPr id="1026" name="Picture 2" descr="Cookies">
            <a:extLst>
              <a:ext uri="{FF2B5EF4-FFF2-40B4-BE49-F238E27FC236}">
                <a16:creationId xmlns:a16="http://schemas.microsoft.com/office/drawing/2014/main" id="{A7794F5B-03C2-4809-A4D8-0FEBEA70C0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3060018"/>
            <a:ext cx="5227714" cy="3485143"/>
          </a:xfrm>
          <a:prstGeom prst="rect">
            <a:avLst/>
          </a:prstGeom>
          <a:noFill/>
          <a:ln>
            <a:solidFill>
              <a:srgbClr val="C00000"/>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154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18 Cookie</a:t>
            </a:r>
            <a:endParaRPr lang="zh-TW" altLang="en-US" b="1" dirty="0">
              <a:solidFill>
                <a:srgbClr val="FFFF00"/>
              </a:solidFill>
            </a:endParaRPr>
          </a:p>
        </p:txBody>
      </p:sp>
      <p:sp>
        <p:nvSpPr>
          <p:cNvPr id="3" name="副標題 2"/>
          <p:cNvSpPr>
            <a:spLocks noGrp="1"/>
          </p:cNvSpPr>
          <p:nvPr>
            <p:ph type="subTitle" idx="1"/>
          </p:nvPr>
        </p:nvSpPr>
        <p:spPr>
          <a:xfrm>
            <a:off x="367862" y="1412777"/>
            <a:ext cx="8318938" cy="4680519"/>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b="1" dirty="0">
                <a:solidFill>
                  <a:schemeClr val="tx1"/>
                </a:solidFill>
              </a:rPr>
              <a:t>How Cookies Work</a:t>
            </a:r>
          </a:p>
          <a:p>
            <a:pPr marL="342900" indent="-342900" algn="l">
              <a:buClr>
                <a:srgbClr val="0070C0"/>
              </a:buClr>
              <a:buSzPct val="80000"/>
              <a:buFont typeface="Wingdings" pitchFamily="2" charset="2"/>
              <a:buChar char="u"/>
            </a:pPr>
            <a:r>
              <a:rPr lang="en-US" sz="1800" dirty="0">
                <a:solidFill>
                  <a:schemeClr val="tx1"/>
                </a:solidFill>
              </a:rPr>
              <a:t>When you visit a website through your browser, the website creates and stores a cookie file in your browser or program data folder/sub-folder. This cookie may be of two types −</a:t>
            </a:r>
          </a:p>
          <a:p>
            <a:pPr marL="800100" lvl="1" indent="-342900" algn="l">
              <a:buClr>
                <a:srgbClr val="0070C0"/>
              </a:buClr>
              <a:buSzPct val="80000"/>
              <a:buFont typeface="Wingdings" pitchFamily="2" charset="2"/>
              <a:buChar char="u"/>
            </a:pPr>
            <a:r>
              <a:rPr lang="en-US" sz="1800" b="1" dirty="0">
                <a:solidFill>
                  <a:schemeClr val="tx1"/>
                </a:solidFill>
              </a:rPr>
              <a:t>Session cookie:</a:t>
            </a:r>
            <a:r>
              <a:rPr lang="en-US" sz="1800" dirty="0">
                <a:solidFill>
                  <a:schemeClr val="tx1"/>
                </a:solidFill>
              </a:rPr>
              <a:t> </a:t>
            </a:r>
          </a:p>
          <a:p>
            <a:pPr marL="800100" lvl="1" indent="-342900" algn="l">
              <a:buClr>
                <a:srgbClr val="0070C0"/>
              </a:buClr>
              <a:buSzPct val="80000"/>
              <a:buFont typeface="Wingdings" pitchFamily="2" charset="2"/>
              <a:buChar char="u"/>
            </a:pPr>
            <a:r>
              <a:rPr lang="en-US" sz="1800" dirty="0">
                <a:solidFill>
                  <a:schemeClr val="tx1"/>
                </a:solidFill>
              </a:rPr>
              <a:t>It is valid only till the session lasts. </a:t>
            </a:r>
          </a:p>
          <a:p>
            <a:pPr marL="800100" lvl="1" indent="-342900" algn="l">
              <a:buClr>
                <a:srgbClr val="0070C0"/>
              </a:buClr>
              <a:buSzPct val="80000"/>
              <a:buFont typeface="Wingdings" pitchFamily="2" charset="2"/>
              <a:buChar char="u"/>
            </a:pPr>
            <a:r>
              <a:rPr lang="en-US" sz="1800" dirty="0">
                <a:solidFill>
                  <a:schemeClr val="tx1"/>
                </a:solidFill>
              </a:rPr>
              <a:t>Once you exit the website the cookie is automatically deleted.</a:t>
            </a:r>
          </a:p>
          <a:p>
            <a:pPr marL="800100" lvl="1" indent="-342900" algn="l">
              <a:buClr>
                <a:srgbClr val="0070C0"/>
              </a:buClr>
              <a:buSzPct val="80000"/>
              <a:buFont typeface="Wingdings" pitchFamily="2" charset="2"/>
              <a:buChar char="u"/>
            </a:pPr>
            <a:r>
              <a:rPr lang="en-US" sz="1800" b="1" dirty="0">
                <a:solidFill>
                  <a:schemeClr val="tx1"/>
                </a:solidFill>
              </a:rPr>
              <a:t>Persistent cookie:</a:t>
            </a:r>
          </a:p>
          <a:p>
            <a:pPr marL="800100" lvl="1" indent="-342900" algn="l">
              <a:buClr>
                <a:srgbClr val="0070C0"/>
              </a:buClr>
              <a:buSzPct val="80000"/>
              <a:buFont typeface="Wingdings" pitchFamily="2" charset="2"/>
              <a:buChar char="u"/>
            </a:pPr>
            <a:r>
              <a:rPr lang="en-US" sz="1800" dirty="0">
                <a:solidFill>
                  <a:schemeClr val="tx1"/>
                </a:solidFill>
              </a:rPr>
              <a:t>It is valid beyond your current session. </a:t>
            </a:r>
          </a:p>
          <a:p>
            <a:pPr marL="800100" lvl="1" indent="-342900" algn="l">
              <a:buClr>
                <a:srgbClr val="0070C0"/>
              </a:buClr>
              <a:buSzPct val="80000"/>
              <a:buFont typeface="Wingdings" pitchFamily="2" charset="2"/>
              <a:buChar char="u"/>
            </a:pPr>
            <a:r>
              <a:rPr lang="en-US" sz="1800" dirty="0">
                <a:solidFill>
                  <a:schemeClr val="tx1"/>
                </a:solidFill>
              </a:rPr>
              <a:t>Its expiration date is mentioned within the cookie itself.</a:t>
            </a:r>
          </a:p>
          <a:p>
            <a:pPr marL="342900" indent="-342900" algn="l">
              <a:buClr>
                <a:srgbClr val="0070C0"/>
              </a:buClr>
              <a:buSzPct val="80000"/>
              <a:buFont typeface="Wingdings" pitchFamily="2" charset="2"/>
              <a:buChar char="u"/>
            </a:pPr>
            <a:r>
              <a:rPr lang="en-US" sz="1800" dirty="0">
                <a:solidFill>
                  <a:schemeClr val="tx1"/>
                </a:solidFill>
              </a:rPr>
              <a:t>A cookie stores these information −</a:t>
            </a:r>
          </a:p>
          <a:p>
            <a:pPr marL="800100" lvl="1" indent="-342900" algn="l">
              <a:buClr>
                <a:srgbClr val="0070C0"/>
              </a:buClr>
              <a:buSzPct val="80000"/>
              <a:buFont typeface="Wingdings" pitchFamily="2" charset="2"/>
              <a:buChar char="u"/>
            </a:pPr>
            <a:r>
              <a:rPr lang="en-US" sz="1800" dirty="0">
                <a:solidFill>
                  <a:schemeClr val="tx1"/>
                </a:solidFill>
              </a:rPr>
              <a:t>Name of website server</a:t>
            </a:r>
          </a:p>
          <a:p>
            <a:pPr marL="800100" lvl="1" indent="-342900" algn="l">
              <a:buClr>
                <a:srgbClr val="0070C0"/>
              </a:buClr>
              <a:buSzPct val="80000"/>
              <a:buFont typeface="Wingdings" pitchFamily="2" charset="2"/>
              <a:buChar char="u"/>
            </a:pPr>
            <a:r>
              <a:rPr lang="en-US" sz="1800" dirty="0">
                <a:solidFill>
                  <a:schemeClr val="tx1"/>
                </a:solidFill>
              </a:rPr>
              <a:t>Cookie expiration date/time</a:t>
            </a:r>
          </a:p>
          <a:p>
            <a:pPr marL="800100" lvl="1" indent="-342900" algn="l">
              <a:buClr>
                <a:srgbClr val="0070C0"/>
              </a:buClr>
              <a:buSzPct val="80000"/>
              <a:buFont typeface="Wingdings" pitchFamily="2" charset="2"/>
              <a:buChar char="u"/>
            </a:pPr>
            <a:r>
              <a:rPr lang="en-US" sz="1800" dirty="0">
                <a:solidFill>
                  <a:schemeClr val="tx1"/>
                </a:solidFill>
              </a:rPr>
              <a:t>Unique ID</a:t>
            </a: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a:bodyPr>
          <a:lstStyle/>
          <a:p>
            <a:pPr marL="0" lvl="1"/>
            <a:r>
              <a:rPr lang="en-US" sz="1600" dirty="0">
                <a:hlinkClick r:id="rId2"/>
              </a:rPr>
              <a:t>https://www.tutorialspoint.com/communication_technologies/communication_technologies_cookies.htm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2020/3/28</a:t>
            </a:fld>
            <a:endParaRPr lang="zh-TW" altLang="en-US" dirty="0"/>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3</a:t>
            </a:fld>
            <a:endParaRPr lang="zh-TW" altLang="en-US"/>
          </a:p>
        </p:txBody>
      </p:sp>
    </p:spTree>
    <p:extLst>
      <p:ext uri="{BB962C8B-B14F-4D97-AF65-F5344CB8AC3E}">
        <p14:creationId xmlns:p14="http://schemas.microsoft.com/office/powerpoint/2010/main" val="3988077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18 Cookie</a:t>
            </a:r>
            <a:endParaRPr lang="zh-TW" altLang="en-US" b="1" dirty="0">
              <a:solidFill>
                <a:srgbClr val="FFFF00"/>
              </a:solidFill>
            </a:endParaRPr>
          </a:p>
        </p:txBody>
      </p:sp>
      <p:sp>
        <p:nvSpPr>
          <p:cNvPr id="3" name="副標題 2"/>
          <p:cNvSpPr>
            <a:spLocks noGrp="1"/>
          </p:cNvSpPr>
          <p:nvPr>
            <p:ph type="subTitle" idx="1"/>
          </p:nvPr>
        </p:nvSpPr>
        <p:spPr>
          <a:xfrm>
            <a:off x="367862" y="1412777"/>
            <a:ext cx="8318938" cy="1224135"/>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b="1" dirty="0">
                <a:solidFill>
                  <a:schemeClr val="tx1"/>
                </a:solidFill>
              </a:rPr>
              <a:t>How Cookies Work</a:t>
            </a:r>
          </a:p>
          <a:p>
            <a:pPr marL="342900" indent="-342900" algn="l">
              <a:buClr>
                <a:srgbClr val="0070C0"/>
              </a:buClr>
              <a:buSzPct val="80000"/>
              <a:buFont typeface="Wingdings" pitchFamily="2" charset="2"/>
              <a:buChar char="u"/>
            </a:pPr>
            <a:r>
              <a:rPr lang="en-US" sz="1800" dirty="0">
                <a:solidFill>
                  <a:schemeClr val="tx1"/>
                </a:solidFill>
              </a:rPr>
              <a:t>A cookie is meaningless by itself. It can be read only by the server that stored it. When you visit the website subsequently, its server matches cookie ID with its own database of cookies and loads webpages according to your browsing history.</a:t>
            </a: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a:bodyPr>
          <a:lstStyle/>
          <a:p>
            <a:pPr marL="0" lvl="1"/>
            <a:r>
              <a:rPr lang="en-US" sz="1600" dirty="0">
                <a:hlinkClick r:id="rId2"/>
              </a:rPr>
              <a:t>https://www.tutorialspoint.com/communication_technologies/communication_technologies_cookies.htm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2020/3/28</a:t>
            </a:fld>
            <a:endParaRPr lang="zh-TW" altLang="en-US" dirty="0"/>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4</a:t>
            </a:fld>
            <a:endParaRPr lang="zh-TW" altLang="en-US"/>
          </a:p>
        </p:txBody>
      </p:sp>
    </p:spTree>
    <p:extLst>
      <p:ext uri="{BB962C8B-B14F-4D97-AF65-F5344CB8AC3E}">
        <p14:creationId xmlns:p14="http://schemas.microsoft.com/office/powerpoint/2010/main" val="3332820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1"/>
            <a:ext cx="9144000" cy="764704"/>
          </a:xfr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path path="circle">
              <a:fillToRect t="100000" r="100000"/>
            </a:path>
            <a:tileRect l="-100000" b="-100000"/>
          </a:gradFill>
        </p:spPr>
        <p:txBody>
          <a:bodyPr/>
          <a:lstStyle/>
          <a:p>
            <a:pPr algn="l"/>
            <a:r>
              <a:rPr lang="en-US" altLang="zh-TW" b="1" dirty="0">
                <a:solidFill>
                  <a:srgbClr val="FFFF00"/>
                </a:solidFill>
              </a:rPr>
              <a:t>18 Cookie</a:t>
            </a:r>
            <a:endParaRPr lang="zh-TW" altLang="en-US" b="1" dirty="0">
              <a:solidFill>
                <a:srgbClr val="FFFF00"/>
              </a:solidFill>
            </a:endParaRPr>
          </a:p>
        </p:txBody>
      </p:sp>
      <p:sp>
        <p:nvSpPr>
          <p:cNvPr id="3" name="副標題 2"/>
          <p:cNvSpPr>
            <a:spLocks noGrp="1"/>
          </p:cNvSpPr>
          <p:nvPr>
            <p:ph type="subTitle" idx="1"/>
          </p:nvPr>
        </p:nvSpPr>
        <p:spPr>
          <a:xfrm>
            <a:off x="367862" y="1412777"/>
            <a:ext cx="8318938" cy="2592287"/>
          </a:xfrm>
          <a:ln>
            <a:solidFill>
              <a:srgbClr val="C00000"/>
            </a:solidFill>
          </a:ln>
        </p:spPr>
        <p:txBody>
          <a:bodyPr>
            <a:noAutofit/>
          </a:bodyPr>
          <a:lstStyle/>
          <a:p>
            <a:pPr marL="342900" indent="-342900" algn="l">
              <a:buClr>
                <a:srgbClr val="0070C0"/>
              </a:buClr>
              <a:buSzPct val="80000"/>
              <a:buFont typeface="Wingdings" pitchFamily="2" charset="2"/>
              <a:buChar char="u"/>
            </a:pPr>
            <a:r>
              <a:rPr lang="en-US" sz="1800" b="1" dirty="0">
                <a:solidFill>
                  <a:schemeClr val="tx1"/>
                </a:solidFill>
              </a:rPr>
              <a:t>Handling Cookies</a:t>
            </a:r>
          </a:p>
          <a:p>
            <a:pPr marL="342900" indent="-342900" algn="l">
              <a:buClr>
                <a:srgbClr val="0070C0"/>
              </a:buClr>
              <a:buSzPct val="80000"/>
              <a:buFont typeface="Wingdings" pitchFamily="2" charset="2"/>
              <a:buChar char="u"/>
            </a:pPr>
            <a:r>
              <a:rPr lang="en-US" sz="1800" dirty="0">
                <a:solidFill>
                  <a:schemeClr val="tx1"/>
                </a:solidFill>
              </a:rPr>
              <a:t>Cookies were initially designed to enhance user’s web browsing experience. </a:t>
            </a:r>
          </a:p>
          <a:p>
            <a:pPr marL="342900" indent="-342900" algn="l">
              <a:buClr>
                <a:srgbClr val="0070C0"/>
              </a:buClr>
              <a:buSzPct val="80000"/>
              <a:buFont typeface="Wingdings" pitchFamily="2" charset="2"/>
              <a:buChar char="u"/>
            </a:pPr>
            <a:r>
              <a:rPr lang="en-US" sz="1800" dirty="0">
                <a:solidFill>
                  <a:schemeClr val="tx1"/>
                </a:solidFill>
              </a:rPr>
              <a:t>However, in the current aggressive marketing scenario, </a:t>
            </a:r>
            <a:r>
              <a:rPr lang="en-US" sz="1800" b="1" dirty="0">
                <a:solidFill>
                  <a:schemeClr val="tx1"/>
                </a:solidFill>
              </a:rPr>
              <a:t>rogue cookies</a:t>
            </a:r>
            <a:r>
              <a:rPr lang="en-US" sz="1800" dirty="0">
                <a:solidFill>
                  <a:schemeClr val="tx1"/>
                </a:solidFill>
              </a:rPr>
              <a:t> are being used to create your profile based on your browsing patterns without consent. </a:t>
            </a:r>
          </a:p>
          <a:p>
            <a:pPr marL="342900" indent="-342900" algn="l">
              <a:buClr>
                <a:srgbClr val="0070C0"/>
              </a:buClr>
              <a:buSzPct val="80000"/>
              <a:buFont typeface="Wingdings" pitchFamily="2" charset="2"/>
              <a:buChar char="u"/>
            </a:pPr>
            <a:r>
              <a:rPr lang="en-US" sz="1800" dirty="0">
                <a:solidFill>
                  <a:schemeClr val="tx1"/>
                </a:solidFill>
              </a:rPr>
              <a:t>You need to be wary of cookies if you care about your privacy and security.</a:t>
            </a:r>
          </a:p>
          <a:p>
            <a:pPr marL="342900" indent="-342900" algn="l">
              <a:buClr>
                <a:srgbClr val="0070C0"/>
              </a:buClr>
              <a:buSzPct val="80000"/>
              <a:buFont typeface="Wingdings" pitchFamily="2" charset="2"/>
              <a:buChar char="u"/>
            </a:pPr>
            <a:r>
              <a:rPr lang="en-US" sz="1800" dirty="0">
                <a:solidFill>
                  <a:schemeClr val="tx1"/>
                </a:solidFill>
              </a:rPr>
              <a:t>Almost all modern-day browsers give you options to allow, disallow or limit cookies on your system. </a:t>
            </a:r>
          </a:p>
          <a:p>
            <a:pPr marL="342900" indent="-342900" algn="l">
              <a:buClr>
                <a:srgbClr val="0070C0"/>
              </a:buClr>
              <a:buSzPct val="80000"/>
              <a:buFont typeface="Wingdings" pitchFamily="2" charset="2"/>
              <a:buChar char="u"/>
            </a:pPr>
            <a:r>
              <a:rPr lang="en-US" sz="1800" dirty="0">
                <a:solidFill>
                  <a:schemeClr val="tx1"/>
                </a:solidFill>
              </a:rPr>
              <a:t>You can view the cookies active on your computer and make decisions accordingly.</a:t>
            </a:r>
          </a:p>
        </p:txBody>
      </p:sp>
      <p:sp>
        <p:nvSpPr>
          <p:cNvPr id="4" name="標題 1"/>
          <p:cNvSpPr txBox="1">
            <a:spLocks/>
          </p:cNvSpPr>
          <p:nvPr/>
        </p:nvSpPr>
        <p:spPr>
          <a:xfrm>
            <a:off x="0" y="764704"/>
            <a:ext cx="9144000" cy="398616"/>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vert="horz" lIns="91440" tIns="45720" rIns="91440" bIns="45720" rtlCol="0" anchor="ctr">
            <a:normAutofit/>
          </a:bodyPr>
          <a:lstStyle/>
          <a:p>
            <a:pPr marL="0" lvl="1"/>
            <a:r>
              <a:rPr lang="en-US" sz="1600" dirty="0">
                <a:hlinkClick r:id="rId2"/>
              </a:rPr>
              <a:t>https://www.tutorialspoint.com/communication_technologies/communication_technologies_cookies.htm</a:t>
            </a:r>
            <a:endParaRPr lang="en-US" sz="1600" dirty="0"/>
          </a:p>
        </p:txBody>
      </p:sp>
      <p:sp>
        <p:nvSpPr>
          <p:cNvPr id="5" name="日期版面配置區 4"/>
          <p:cNvSpPr>
            <a:spLocks noGrp="1"/>
          </p:cNvSpPr>
          <p:nvPr>
            <p:ph type="dt" sz="half" idx="10"/>
          </p:nvPr>
        </p:nvSpPr>
        <p:spPr>
          <a:xfrm>
            <a:off x="457200" y="6356350"/>
            <a:ext cx="2133600" cy="404246"/>
          </a:xfrm>
        </p:spPr>
        <p:txBody>
          <a:bodyPr/>
          <a:lstStyle/>
          <a:p>
            <a:fld id="{A4F910E6-8D00-4BAF-8C48-9688E0B449D3}" type="datetime1">
              <a:rPr lang="zh-TW" altLang="en-US" smtClean="0"/>
              <a:pPr/>
              <a:t>2020/3/28</a:t>
            </a:fld>
            <a:endParaRPr lang="zh-TW" altLang="en-US" dirty="0"/>
          </a:p>
        </p:txBody>
      </p:sp>
      <p:sp>
        <p:nvSpPr>
          <p:cNvPr id="6" name="投影片編號版面配置區 5"/>
          <p:cNvSpPr>
            <a:spLocks noGrp="1"/>
          </p:cNvSpPr>
          <p:nvPr>
            <p:ph type="sldNum" sz="quarter" idx="12"/>
          </p:nvPr>
        </p:nvSpPr>
        <p:spPr>
          <a:xfrm>
            <a:off x="6553200" y="6356350"/>
            <a:ext cx="2133600" cy="404246"/>
          </a:xfrm>
        </p:spPr>
        <p:txBody>
          <a:bodyPr/>
          <a:lstStyle/>
          <a:p>
            <a:fld id="{E4D7E63D-91F2-4366-A2C4-1B00C9E2590E}" type="slidenum">
              <a:rPr lang="zh-TW" altLang="en-US" smtClean="0"/>
              <a:pPr/>
              <a:t>5</a:t>
            </a:fld>
            <a:endParaRPr lang="zh-TW" altLang="en-US"/>
          </a:p>
        </p:txBody>
      </p:sp>
    </p:spTree>
    <p:extLst>
      <p:ext uri="{BB962C8B-B14F-4D97-AF65-F5344CB8AC3E}">
        <p14:creationId xmlns:p14="http://schemas.microsoft.com/office/powerpoint/2010/main" val="299087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0" y="2130425"/>
            <a:ext cx="9144000" cy="1470025"/>
          </a:xfr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t="100000" r="100000"/>
            </a:path>
            <a:tileRect l="-100000" b="-100000"/>
          </a:gradFill>
        </p:spPr>
        <p:txBody>
          <a:bodyPr>
            <a:normAutofit/>
          </a:bodyPr>
          <a:lstStyle/>
          <a:p>
            <a:r>
              <a:rPr lang="en-US" altLang="zh-TW" sz="6000" b="1" dirty="0">
                <a:solidFill>
                  <a:srgbClr val="FFFF00"/>
                </a:solidFill>
              </a:rPr>
              <a:t>End of Chapter</a:t>
            </a:r>
            <a:endParaRPr lang="zh-TW" altLang="en-US" sz="6000" b="1" dirty="0">
              <a:solidFill>
                <a:srgbClr val="FFFF00"/>
              </a:solidFill>
            </a:endParaRPr>
          </a:p>
        </p:txBody>
      </p:sp>
      <p:sp>
        <p:nvSpPr>
          <p:cNvPr id="5" name="日期版面配置區 4"/>
          <p:cNvSpPr>
            <a:spLocks noGrp="1"/>
          </p:cNvSpPr>
          <p:nvPr>
            <p:ph type="dt" sz="half" idx="10"/>
          </p:nvPr>
        </p:nvSpPr>
        <p:spPr/>
        <p:txBody>
          <a:bodyPr/>
          <a:lstStyle/>
          <a:p>
            <a:fld id="{4E46BE27-E923-4EC2-B046-3272AE2A3E5C}" type="datetime1">
              <a:rPr lang="zh-TW" altLang="en-US" smtClean="0"/>
              <a:pPr/>
              <a:t>2020/3/28</a:t>
            </a:fld>
            <a:endParaRPr lang="zh-TW" altLang="en-US"/>
          </a:p>
        </p:txBody>
      </p:sp>
      <p:sp>
        <p:nvSpPr>
          <p:cNvPr id="6" name="投影片編號版面配置區 5"/>
          <p:cNvSpPr>
            <a:spLocks noGrp="1"/>
          </p:cNvSpPr>
          <p:nvPr>
            <p:ph type="sldNum" sz="quarter" idx="12"/>
          </p:nvPr>
        </p:nvSpPr>
        <p:spPr/>
        <p:txBody>
          <a:bodyPr/>
          <a:lstStyle/>
          <a:p>
            <a:fld id="{E4D7E63D-91F2-4366-A2C4-1B00C9E2590E}" type="slidenum">
              <a:rPr lang="zh-TW" altLang="en-US" smtClean="0"/>
              <a:pPr/>
              <a:t>6</a:t>
            </a:fld>
            <a:endParaRPr lang="zh-TW" altLang="en-US"/>
          </a:p>
        </p:txBody>
      </p:sp>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1274</TotalTime>
  <Words>403</Words>
  <Application>Microsoft Office PowerPoint</Application>
  <PresentationFormat>On-screen Show (4:3)</PresentationFormat>
  <Paragraphs>46</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Wingdings</vt:lpstr>
      <vt:lpstr>Office 佈景主題</vt:lpstr>
      <vt:lpstr>18 Cookie</vt:lpstr>
      <vt:lpstr>18 Cookie</vt:lpstr>
      <vt:lpstr>18 Cookie</vt:lpstr>
      <vt:lpstr>18 Cookie</vt:lpstr>
      <vt:lpstr>18 Cookie</vt:lpstr>
      <vt:lpstr>End of Chapter</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Node JS</dc:title>
  <dc:creator>USER</dc:creator>
  <cp:lastModifiedBy>14088587657</cp:lastModifiedBy>
  <cp:revision>459</cp:revision>
  <dcterms:created xsi:type="dcterms:W3CDTF">2018-09-28T16:40:41Z</dcterms:created>
  <dcterms:modified xsi:type="dcterms:W3CDTF">2020-03-28T23:45:59Z</dcterms:modified>
</cp:coreProperties>
</file>