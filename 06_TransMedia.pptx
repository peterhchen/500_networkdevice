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63" r:id="rId3"/>
    <p:sldId id="264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59" r:id="rId16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20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37EDA8-41C8-4B24-A206-13C08A65A6D7}" type="datetimeFigureOut">
              <a:rPr lang="zh-TW" altLang="en-US" smtClean="0"/>
              <a:pPr/>
              <a:t>2020/3/27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FAA135-E01C-4A42-9760-5A137A0CA41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B85509C-BD4F-47BF-9B1E-FC2E949B3621}" type="datetime1">
              <a:rPr lang="zh-TW" altLang="en-US" smtClean="0"/>
              <a:pPr/>
              <a:t>2020/3/27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99440-D9EF-40CC-9B52-F6428D9B2C76}" type="datetime1">
              <a:rPr lang="zh-TW" altLang="en-US" smtClean="0"/>
              <a:pPr/>
              <a:t>2020/3/27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1BF52-5C6C-4959-8E27-CECB68D39FE4}" type="datetime1">
              <a:rPr lang="zh-TW" altLang="en-US" smtClean="0"/>
              <a:pPr/>
              <a:t>2020/3/27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63F05-2DD9-4EB1-A827-12FD992DE9DC}" type="datetime1">
              <a:rPr lang="zh-TW" altLang="en-US" smtClean="0"/>
              <a:pPr/>
              <a:t>2020/3/27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9AF51-4491-4873-A096-75DB6CE47516}" type="datetime1">
              <a:rPr lang="zh-TW" altLang="en-US" smtClean="0"/>
              <a:pPr/>
              <a:t>2020/3/27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AD9C8-8B9E-40FF-ABE2-858AC2057BBB}" type="datetime1">
              <a:rPr lang="zh-TW" altLang="en-US" smtClean="0"/>
              <a:pPr/>
              <a:t>2020/3/27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84999-BBBE-4BE4-A8D0-877E7D1D66CC}" type="datetime1">
              <a:rPr lang="zh-TW" altLang="en-US" smtClean="0"/>
              <a:pPr/>
              <a:t>2020/3/27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D17E6-02BD-4944-B9FE-7BFCCBF83D48}" type="datetime1">
              <a:rPr lang="zh-TW" altLang="en-US" smtClean="0"/>
              <a:pPr/>
              <a:t>2020/3/27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3E23D-1FEF-4D78-A3A3-3D6F2BB31954}" type="datetime1">
              <a:rPr lang="zh-TW" altLang="en-US" smtClean="0"/>
              <a:pPr/>
              <a:t>2020/3/27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51B24-F787-4C15-8A0F-7AEC20C70069}" type="datetime1">
              <a:rPr lang="zh-TW" altLang="en-US" smtClean="0"/>
              <a:pPr/>
              <a:t>2020/3/27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0D33C-CE2B-45F1-B8D4-FFD1F131F331}" type="datetime1">
              <a:rPr lang="zh-TW" altLang="en-US" smtClean="0"/>
              <a:pPr/>
              <a:t>2020/3/27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197F35-AD6F-4594-8B50-334492D2E7E8}" type="datetime1">
              <a:rPr lang="zh-TW" altLang="en-US" smtClean="0"/>
              <a:pPr/>
              <a:t>2020/3/27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utorialspoint.com/communication_technologies/communication_technologies_transmission_media.htm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https://www.tutorialspoint.com/communication_technologies/communication_technologies_transmission_media.htm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utorialspoint.com/communication_technologies/communication_technologies_transmission_media.htm" TargetMode="Externa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utorialspoint.com/communication_technologies/communication_technologies_transmission_media.htm" TargetMode="Externa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https://www.tutorialspoint.com/communication_technologies/communication_technologies_transmission_media.htm" TargetMode="Externa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utorialspoint.com/communication_technologies/communication_technologies_transmission_media.htm" TargetMode="Externa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utorialspoint.com/communication_technologies/communication_technologies_transmission_media.htm" TargetMode="Externa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www.tutorialspoint.com/communication_technologies/communication_technologies_transmission_media.htm" TargetMode="Externa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utorialspoint.com/communication_technologies/communication_technologies_transmission_media.htm" TargetMode="Externa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utorialspoint.com/communication_technologies/communication_technologies_transmission_media.htm" TargetMode="Externa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hyperlink" Target="https://www.tutorialspoint.com/communication_technologies/communication_technologies_transmission_media.htm" TargetMode="Externa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hyperlink" Target="https://www.tutorialspoint.com/communication_technologies/communication_technologies_transmission_media.htm" TargetMode="Externa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utorialspoint.com/communication_technologies/communication_technologies_transmission_media.htm" TargetMode="Externa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solidFill>
            <a:srgbClr val="00B0F0"/>
          </a:solidFill>
        </p:spPr>
        <p:txBody>
          <a:bodyPr>
            <a:normAutofit/>
          </a:bodyPr>
          <a:lstStyle/>
          <a:p>
            <a:r>
              <a:rPr lang="en-US" altLang="zh-TW" sz="4800" b="1" dirty="0">
                <a:solidFill>
                  <a:srgbClr val="FFFF00"/>
                </a:solidFill>
              </a:rPr>
              <a:t>6 Transmission Media</a:t>
            </a:r>
            <a:endParaRPr lang="zh-TW" altLang="en-US" sz="4800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4570616"/>
            <a:ext cx="6400800" cy="694928"/>
          </a:xfrm>
        </p:spPr>
        <p:txBody>
          <a:bodyPr>
            <a:normAutofit/>
          </a:bodyPr>
          <a:lstStyle/>
          <a:p>
            <a:r>
              <a:rPr lang="en-US" altLang="zh-TW" dirty="0"/>
              <a:t>Peter H. Chen</a:t>
            </a:r>
            <a:endParaRPr lang="zh-TW" altLang="en-US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EDC9-19E3-47AC-9C57-C6A24DEA81AD}" type="datetime1">
              <a:rPr lang="zh-TW" altLang="en-US" smtClean="0"/>
              <a:pPr/>
              <a:t>2020/3/27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1</a:t>
            </a:fld>
            <a:endParaRPr lang="zh-TW" alt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C8BD46-82E2-48A7-803A-12ED04C9ED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2825" y="3717032"/>
            <a:ext cx="1098349" cy="950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/>
          <a:lstStyle/>
          <a:p>
            <a:pPr algn="l"/>
            <a:r>
              <a:rPr lang="en-US" altLang="zh-TW" b="1" dirty="0">
                <a:solidFill>
                  <a:srgbClr val="FFFF00"/>
                </a:solidFill>
              </a:rPr>
              <a:t>6 Transmission Media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67862" y="1412777"/>
            <a:ext cx="8318938" cy="2448271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For any networking to be effective, raw stream of data is to be transported from one device to other device over some medium.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Various transmission media can be used to transfer data, The transmission may be two types: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Guided</a:t>
            </a:r>
            <a:r>
              <a:rPr lang="en-US" sz="1800" dirty="0">
                <a:solidFill>
                  <a:schemeClr val="tx1"/>
                </a:solidFill>
              </a:rPr>
              <a:t>: data travel through the cable. For example, copper wires, fiber optic wire, and etc.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Unguided</a:t>
            </a:r>
            <a:r>
              <a:rPr lang="en-US" sz="1800" dirty="0">
                <a:solidFill>
                  <a:schemeClr val="tx1"/>
                </a:solidFill>
              </a:rPr>
              <a:t>: Data travel through the free in form of electromagnetic signal. For example radio waves, lasers, and etc.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98616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 marL="0" lvl="1"/>
            <a:r>
              <a:rPr lang="en-US" sz="1600" dirty="0">
                <a:hlinkClick r:id="rId2"/>
              </a:rPr>
              <a:t>https://www.tutorialspoint.com/communication_technologies/communication_technologies_transmission_media.htm</a:t>
            </a:r>
            <a:endParaRPr lang="en-US" sz="1600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404246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2020/3/27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404246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/>
          <a:lstStyle/>
          <a:p>
            <a:pPr algn="l"/>
            <a:r>
              <a:rPr lang="en-US" altLang="zh-TW" b="1" dirty="0">
                <a:solidFill>
                  <a:srgbClr val="FFFF00"/>
                </a:solidFill>
              </a:rPr>
              <a:t>6 Transmission Media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67862" y="1412777"/>
            <a:ext cx="8318938" cy="1296143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Twisted Pair Cable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Copper wire are the most common wires used for transmitting signals because of good performance at low costs.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They are commonly sed in telephone lines.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98616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 marL="0" lvl="1"/>
            <a:r>
              <a:rPr lang="en-US" sz="1600" dirty="0">
                <a:hlinkClick r:id="rId2"/>
              </a:rPr>
              <a:t>https://www.tutorialspoint.com/communication_technologies/communication_technologies_transmission_media.htm</a:t>
            </a:r>
            <a:endParaRPr lang="en-US" sz="1600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404246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2020/3/27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404246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3</a:t>
            </a:fld>
            <a:endParaRPr lang="zh-TW" altLang="en-US"/>
          </a:p>
        </p:txBody>
      </p:sp>
      <p:pic>
        <p:nvPicPr>
          <p:cNvPr id="1026" name="Picture 2" descr="Twisted Cable">
            <a:extLst>
              <a:ext uri="{FF2B5EF4-FFF2-40B4-BE49-F238E27FC236}">
                <a16:creationId xmlns:a16="http://schemas.microsoft.com/office/drawing/2014/main" id="{97B76060-5AF6-44C2-A51A-9A73E93DAC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6213" y="2852936"/>
            <a:ext cx="4120588" cy="3470473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副標題 2">
            <a:extLst>
              <a:ext uri="{FF2B5EF4-FFF2-40B4-BE49-F238E27FC236}">
                <a16:creationId xmlns:a16="http://schemas.microsoft.com/office/drawing/2014/main" id="{EDD427E0-1A85-4C61-A5D2-739CC713AEE0}"/>
              </a:ext>
            </a:extLst>
          </p:cNvPr>
          <p:cNvSpPr txBox="1">
            <a:spLocks/>
          </p:cNvSpPr>
          <p:nvPr/>
        </p:nvSpPr>
        <p:spPr>
          <a:xfrm>
            <a:off x="352994" y="2824615"/>
            <a:ext cx="4120588" cy="3268681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If two or more wires are lying together, thy can interface with each other’s signals.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To reduce the electromagnetic interference, pair of copper wires are twisted together in helical shape, like a DNA molecule. Such twisted wires are called twisted pair.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To reduce interference between nearby twisted pairs, the twist rates are different for each other pair.</a:t>
            </a:r>
          </a:p>
        </p:txBody>
      </p:sp>
    </p:spTree>
    <p:extLst>
      <p:ext uri="{BB962C8B-B14F-4D97-AF65-F5344CB8AC3E}">
        <p14:creationId xmlns:p14="http://schemas.microsoft.com/office/powerpoint/2010/main" val="2835824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/>
          <a:lstStyle/>
          <a:p>
            <a:pPr algn="l"/>
            <a:r>
              <a:rPr lang="en-US" altLang="zh-TW" b="1" dirty="0">
                <a:solidFill>
                  <a:srgbClr val="FFFF00"/>
                </a:solidFill>
              </a:rPr>
              <a:t>6 Transmission Media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67862" y="1412777"/>
            <a:ext cx="8318938" cy="5112567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Twisted Pair Cable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Up to 25 twisted pair are put together in a protective covering to form twisted pair cables that are the backbone of telephone systems are Ethernet networks.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Advantage of Twisted Pair Cable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Twisted pair cables are the oldest and most popular cables all over the world. This is due to the many advantages that they offer: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Trained personnel easily available due to shallow learning curve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Can be used for both analog and digital transmissions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Least expensive for short distances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Entire network does not go down if a part of network is damaged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Disadvantages of twisted pair cable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With its many advantages, twisted pair cables offer some disadvantages too −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Signal cannot travel long distances without repeaters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High error rate for distances greater than 100m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Very thin and hence breaks easily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Not suitable for broadband connections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98616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 marL="0" lvl="1"/>
            <a:r>
              <a:rPr lang="en-US" sz="1600" dirty="0">
                <a:hlinkClick r:id="rId2"/>
              </a:rPr>
              <a:t>https://www.tutorialspoint.com/communication_technologies/communication_technologies_transmission_media.htm</a:t>
            </a:r>
            <a:endParaRPr lang="en-US" sz="1600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404246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2020/3/27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404246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65823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/>
          <a:lstStyle/>
          <a:p>
            <a:pPr algn="l"/>
            <a:r>
              <a:rPr lang="en-US" altLang="zh-TW" b="1" dirty="0">
                <a:solidFill>
                  <a:srgbClr val="FFFF00"/>
                </a:solidFill>
              </a:rPr>
              <a:t>6 Transmission Media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67862" y="1412777"/>
            <a:ext cx="8318938" cy="3816423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Shielding Twisted Pair Cable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To counter the tendency of twisted pair cables to pick up noise signals, wires are shielded in the following three ways −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Each twisted pair is shielded.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Set of multiple twisted pairs in the cable is shielded.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Each twisted pair and then all the pairs are shielded.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Such twisted pairs are called shielded twisted pair (STP) cables. The wires that are not shielded but simply bundled together in a protective sheath are called unshielded twisted pair (UTP) cables. These cables can have maximum length of 100 meters.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Shielding makes the cable bulky, so UTP are more popular than STP. UTP cables are used as the last mile network connection in homes and offices.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98616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 marL="0" lvl="1"/>
            <a:r>
              <a:rPr lang="en-US" sz="1600" dirty="0">
                <a:hlinkClick r:id="rId2"/>
              </a:rPr>
              <a:t>https://www.tutorialspoint.com/communication_technologies/communication_technologies_transmission_media.htm</a:t>
            </a:r>
            <a:endParaRPr lang="en-US" sz="1600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404246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2020/3/27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404246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77551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/>
          <a:lstStyle/>
          <a:p>
            <a:pPr algn="l"/>
            <a:r>
              <a:rPr lang="en-US" altLang="zh-TW" b="1" dirty="0">
                <a:solidFill>
                  <a:srgbClr val="FFFF00"/>
                </a:solidFill>
              </a:rPr>
              <a:t>6 Transmission Media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67862" y="1412778"/>
            <a:ext cx="8318938" cy="857144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Coaxial Cable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Coaxial cables</a:t>
            </a:r>
            <a:r>
              <a:rPr lang="en-US" sz="1800" dirty="0">
                <a:solidFill>
                  <a:schemeClr val="tx1"/>
                </a:solidFill>
              </a:rPr>
              <a:t> are copper cables with better </a:t>
            </a:r>
            <a:r>
              <a:rPr lang="en-US" sz="1800" b="1" dirty="0">
                <a:solidFill>
                  <a:schemeClr val="tx1"/>
                </a:solidFill>
              </a:rPr>
              <a:t>shielding</a:t>
            </a:r>
            <a:r>
              <a:rPr lang="en-US" sz="1800" dirty="0">
                <a:solidFill>
                  <a:schemeClr val="tx1"/>
                </a:solidFill>
              </a:rPr>
              <a:t> than twisted pair cables, so that transmitted signals may travel longer distances at higher speeds. 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98616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 marL="0" lvl="1"/>
            <a:r>
              <a:rPr lang="en-US" sz="1600" dirty="0">
                <a:hlinkClick r:id="rId2"/>
              </a:rPr>
              <a:t>https://www.tutorialspoint.com/communication_technologies/communication_technologies_transmission_media.htm</a:t>
            </a:r>
            <a:endParaRPr lang="en-US" sz="1600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404246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2020/3/27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404246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6</a:t>
            </a:fld>
            <a:endParaRPr lang="zh-TW" altLang="en-US"/>
          </a:p>
        </p:txBody>
      </p:sp>
      <p:pic>
        <p:nvPicPr>
          <p:cNvPr id="2050" name="Picture 2" descr="Coaxial Cable">
            <a:extLst>
              <a:ext uri="{FF2B5EF4-FFF2-40B4-BE49-F238E27FC236}">
                <a16:creationId xmlns:a16="http://schemas.microsoft.com/office/drawing/2014/main" id="{3675BF65-3503-4491-A0A5-DCF4F86221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2427537"/>
            <a:ext cx="4022675" cy="3928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副標題 2">
            <a:extLst>
              <a:ext uri="{FF2B5EF4-FFF2-40B4-BE49-F238E27FC236}">
                <a16:creationId xmlns:a16="http://schemas.microsoft.com/office/drawing/2014/main" id="{F8A30348-6E8D-428A-8776-F975F028CC9C}"/>
              </a:ext>
            </a:extLst>
          </p:cNvPr>
          <p:cNvSpPr txBox="1">
            <a:spLocks/>
          </p:cNvSpPr>
          <p:nvPr/>
        </p:nvSpPr>
        <p:spPr>
          <a:xfrm>
            <a:off x="367862" y="2519380"/>
            <a:ext cx="4303484" cy="3717932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A coaxial cable consists of these layers, starting from the innermost −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Stiff copper wire as </a:t>
            </a:r>
            <a:r>
              <a:rPr lang="en-US" sz="1800" b="1" dirty="0">
                <a:solidFill>
                  <a:schemeClr val="tx1"/>
                </a:solidFill>
              </a:rPr>
              <a:t>core</a:t>
            </a:r>
            <a:endParaRPr lang="en-US" sz="1800" dirty="0">
              <a:solidFill>
                <a:schemeClr val="tx1"/>
              </a:solidFill>
            </a:endParaRP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Insulating material</a:t>
            </a:r>
            <a:r>
              <a:rPr lang="en-US" sz="1800" dirty="0">
                <a:solidFill>
                  <a:schemeClr val="tx1"/>
                </a:solidFill>
              </a:rPr>
              <a:t> surrounding the core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Closely woven braided mesh of </a:t>
            </a:r>
            <a:r>
              <a:rPr lang="en-US" sz="1800" b="1" dirty="0">
                <a:solidFill>
                  <a:schemeClr val="tx1"/>
                </a:solidFill>
              </a:rPr>
              <a:t>conducting material</a:t>
            </a:r>
            <a:r>
              <a:rPr lang="en-US" sz="1800" dirty="0">
                <a:solidFill>
                  <a:schemeClr val="tx1"/>
                </a:solidFill>
              </a:rPr>
              <a:t> surrounding the </a:t>
            </a:r>
            <a:r>
              <a:rPr lang="en-US" sz="1800" b="1" dirty="0">
                <a:solidFill>
                  <a:schemeClr val="tx1"/>
                </a:solidFill>
              </a:rPr>
              <a:t>insulator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Protective </a:t>
            </a:r>
            <a:r>
              <a:rPr lang="en-US" sz="1800" b="1" dirty="0">
                <a:solidFill>
                  <a:schemeClr val="tx1"/>
                </a:solidFill>
              </a:rPr>
              <a:t>plastic sheath</a:t>
            </a:r>
            <a:r>
              <a:rPr lang="en-US" sz="1800" dirty="0">
                <a:solidFill>
                  <a:schemeClr val="tx1"/>
                </a:solidFill>
              </a:rPr>
              <a:t> encasing the wire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Coaxial cables are widely used for </a:t>
            </a:r>
            <a:r>
              <a:rPr lang="en-US" sz="1800" b="1" dirty="0">
                <a:solidFill>
                  <a:schemeClr val="tx1"/>
                </a:solidFill>
              </a:rPr>
              <a:t>cable TV</a:t>
            </a:r>
            <a:r>
              <a:rPr lang="en-US" sz="1800" dirty="0">
                <a:solidFill>
                  <a:schemeClr val="tx1"/>
                </a:solidFill>
              </a:rPr>
              <a:t> connections and </a:t>
            </a:r>
            <a:r>
              <a:rPr lang="en-US" sz="1800" b="1" dirty="0">
                <a:solidFill>
                  <a:schemeClr val="tx1"/>
                </a:solidFill>
              </a:rPr>
              <a:t>LANs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endParaRPr lang="en-US" sz="1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88158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/>
          <a:lstStyle/>
          <a:p>
            <a:pPr algn="l"/>
            <a:r>
              <a:rPr lang="en-US" altLang="zh-TW" b="1" dirty="0">
                <a:solidFill>
                  <a:srgbClr val="FFFF00"/>
                </a:solidFill>
              </a:rPr>
              <a:t>6 Transmission Media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67862" y="1412778"/>
            <a:ext cx="8318938" cy="4320478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Coaxial Cable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Advantages of Coaxial Cables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These are the advantages of coaxial cables −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Excellent noise immunity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Signals can travel longer distances at higher speeds, e.g. 1 to 2 Gbps for 1 Km cable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Can be used for both analog and digital signals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Inexpensive as compared to fiber optic cables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Easy to install and maintain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Disadvantages of Coaxial Cables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These are some of the disadvantages of coaxial cables −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Expensive as compared to twisted pair cables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Not compatible with twisted pair cables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98616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 marL="0" lvl="1"/>
            <a:r>
              <a:rPr lang="en-US" sz="1600" dirty="0">
                <a:hlinkClick r:id="rId2"/>
              </a:rPr>
              <a:t>https://www.tutorialspoint.com/communication_technologies/communication_technologies_transmission_media.htm</a:t>
            </a:r>
            <a:endParaRPr lang="en-US" sz="1600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404246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2020/3/27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404246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267346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/>
          <a:lstStyle/>
          <a:p>
            <a:pPr algn="l"/>
            <a:r>
              <a:rPr lang="en-US" altLang="zh-TW" b="1" dirty="0">
                <a:solidFill>
                  <a:srgbClr val="FFFF00"/>
                </a:solidFill>
              </a:rPr>
              <a:t>6 Transmission Media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67862" y="1412778"/>
            <a:ext cx="8318938" cy="2160238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Optical Fiber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Thin glass or plastic threads used to transmit data using light waves are called </a:t>
            </a:r>
            <a:r>
              <a:rPr lang="en-US" sz="1800" b="1" dirty="0">
                <a:solidFill>
                  <a:schemeClr val="tx1"/>
                </a:solidFill>
              </a:rPr>
              <a:t>optical fiber</a:t>
            </a:r>
            <a:r>
              <a:rPr lang="en-US" sz="1800" dirty="0">
                <a:solidFill>
                  <a:schemeClr val="tx1"/>
                </a:solidFill>
              </a:rPr>
              <a:t>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Light Emitting Diodes (LEDs) or Laser Diodes (LDs) emit light waves at the </a:t>
            </a:r>
            <a:r>
              <a:rPr lang="en-US" sz="1800" b="1" dirty="0">
                <a:solidFill>
                  <a:schemeClr val="tx1"/>
                </a:solidFill>
              </a:rPr>
              <a:t>source</a:t>
            </a:r>
            <a:r>
              <a:rPr lang="en-US" sz="1800" dirty="0">
                <a:solidFill>
                  <a:schemeClr val="tx1"/>
                </a:solidFill>
              </a:rPr>
              <a:t>, which is read by a </a:t>
            </a:r>
            <a:r>
              <a:rPr lang="en-US" sz="1800" b="1" dirty="0">
                <a:solidFill>
                  <a:schemeClr val="tx1"/>
                </a:solidFill>
              </a:rPr>
              <a:t>detector</a:t>
            </a:r>
            <a:r>
              <a:rPr lang="en-US" sz="1800" dirty="0">
                <a:solidFill>
                  <a:schemeClr val="tx1"/>
                </a:solidFill>
              </a:rPr>
              <a:t> at the other end. 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Optical fiber cable</a:t>
            </a:r>
            <a:r>
              <a:rPr lang="en-US" sz="1800" dirty="0">
                <a:solidFill>
                  <a:schemeClr val="tx1"/>
                </a:solidFill>
              </a:rPr>
              <a:t> has a bundle of such threads or fibers bundled together in a protective covering. 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98616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 marL="0" lvl="1"/>
            <a:r>
              <a:rPr lang="en-US" sz="1600" dirty="0">
                <a:hlinkClick r:id="rId2"/>
              </a:rPr>
              <a:t>https://www.tutorialspoint.com/communication_technologies/communication_technologies_transmission_media.htm</a:t>
            </a:r>
            <a:endParaRPr lang="en-US" sz="1600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404246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2020/3/27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404246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71581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/>
          <a:lstStyle/>
          <a:p>
            <a:pPr algn="l"/>
            <a:r>
              <a:rPr lang="en-US" altLang="zh-TW" b="1" dirty="0">
                <a:solidFill>
                  <a:srgbClr val="FFFF00"/>
                </a:solidFill>
              </a:rPr>
              <a:t>6 Transmission Media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67862" y="1412778"/>
            <a:ext cx="8318938" cy="2016222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Optical Fiber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Each fiber is made up of these three layers, starting with the innermost layer −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Core</a:t>
            </a:r>
            <a:r>
              <a:rPr lang="en-US" sz="1800" dirty="0">
                <a:solidFill>
                  <a:schemeClr val="tx1"/>
                </a:solidFill>
              </a:rPr>
              <a:t> made of high quality </a:t>
            </a:r>
            <a:r>
              <a:rPr lang="en-US" sz="1800" b="1" dirty="0">
                <a:solidFill>
                  <a:schemeClr val="tx1"/>
                </a:solidFill>
              </a:rPr>
              <a:t>silica glass</a:t>
            </a:r>
            <a:r>
              <a:rPr lang="en-US" sz="1800" dirty="0">
                <a:solidFill>
                  <a:schemeClr val="tx1"/>
                </a:solidFill>
              </a:rPr>
              <a:t> or </a:t>
            </a:r>
            <a:r>
              <a:rPr lang="en-US" sz="1800" b="1" dirty="0">
                <a:solidFill>
                  <a:schemeClr val="tx1"/>
                </a:solidFill>
              </a:rPr>
              <a:t>plastic</a:t>
            </a:r>
            <a:endParaRPr lang="en-US" sz="1800" dirty="0">
              <a:solidFill>
                <a:schemeClr val="tx1"/>
              </a:solidFill>
            </a:endParaRP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Cladding</a:t>
            </a:r>
            <a:r>
              <a:rPr lang="en-US" sz="1800" dirty="0">
                <a:solidFill>
                  <a:schemeClr val="tx1"/>
                </a:solidFill>
              </a:rPr>
              <a:t> made of high quality </a:t>
            </a:r>
            <a:r>
              <a:rPr lang="en-US" sz="1800" b="1" dirty="0">
                <a:solidFill>
                  <a:schemeClr val="tx1"/>
                </a:solidFill>
              </a:rPr>
              <a:t>silica glass</a:t>
            </a:r>
            <a:r>
              <a:rPr lang="en-US" sz="1800" dirty="0">
                <a:solidFill>
                  <a:schemeClr val="tx1"/>
                </a:solidFill>
              </a:rPr>
              <a:t> or </a:t>
            </a:r>
            <a:r>
              <a:rPr lang="en-US" sz="1800" b="1" dirty="0">
                <a:solidFill>
                  <a:schemeClr val="tx1"/>
                </a:solidFill>
              </a:rPr>
              <a:t>plastic</a:t>
            </a:r>
            <a:r>
              <a:rPr lang="en-US" sz="1800" dirty="0">
                <a:solidFill>
                  <a:schemeClr val="tx1"/>
                </a:solidFill>
              </a:rPr>
              <a:t>, with a lower refractive index than the core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Protective outer covering called </a:t>
            </a:r>
            <a:r>
              <a:rPr lang="en-US" sz="1800" b="1" dirty="0">
                <a:solidFill>
                  <a:schemeClr val="tx1"/>
                </a:solidFill>
              </a:rPr>
              <a:t>buffer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98616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 marL="0" lvl="1"/>
            <a:r>
              <a:rPr lang="en-US" sz="1600" dirty="0">
                <a:hlinkClick r:id="rId2"/>
              </a:rPr>
              <a:t>https://www.tutorialspoint.com/communication_technologies/communication_technologies_transmission_media.htm</a:t>
            </a:r>
            <a:endParaRPr lang="en-US" sz="1600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404246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2020/3/27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404246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9</a:t>
            </a:fld>
            <a:endParaRPr lang="zh-TW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2F516B4-A66B-44C5-A2F0-7D8E8C8419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0032" y="3528990"/>
            <a:ext cx="3826768" cy="2902800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8" name="副標題 2">
            <a:extLst>
              <a:ext uri="{FF2B5EF4-FFF2-40B4-BE49-F238E27FC236}">
                <a16:creationId xmlns:a16="http://schemas.microsoft.com/office/drawing/2014/main" id="{A9C8F9A6-4C30-4706-AAC3-770330A34C61}"/>
              </a:ext>
            </a:extLst>
          </p:cNvPr>
          <p:cNvSpPr txBox="1">
            <a:spLocks/>
          </p:cNvSpPr>
          <p:nvPr/>
        </p:nvSpPr>
        <p:spPr>
          <a:xfrm>
            <a:off x="367862" y="3593389"/>
            <a:ext cx="4204138" cy="1851833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Note that both core and cladding are made of similar material.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However, as </a:t>
            </a:r>
            <a:r>
              <a:rPr lang="en-US" sz="1800" b="1" dirty="0">
                <a:solidFill>
                  <a:schemeClr val="tx1"/>
                </a:solidFill>
              </a:rPr>
              <a:t>refractive index</a:t>
            </a:r>
            <a:r>
              <a:rPr lang="en-US" sz="1800" dirty="0">
                <a:solidFill>
                  <a:schemeClr val="tx1"/>
                </a:solidFill>
              </a:rPr>
              <a:t> of the cladding is lower, any stray light wave trying to escape the core is reflected back due to </a:t>
            </a:r>
            <a:r>
              <a:rPr lang="en-US" sz="1800" b="1" dirty="0">
                <a:solidFill>
                  <a:schemeClr val="tx1"/>
                </a:solidFill>
              </a:rPr>
              <a:t>total internal reflection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endParaRPr lang="en-U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33955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/>
          <a:lstStyle/>
          <a:p>
            <a:pPr algn="l"/>
            <a:r>
              <a:rPr lang="en-US" altLang="zh-TW" b="1" dirty="0">
                <a:solidFill>
                  <a:srgbClr val="FFFF00"/>
                </a:solidFill>
              </a:rPr>
              <a:t>6 Transmission Media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67862" y="1412778"/>
            <a:ext cx="8318938" cy="4680518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Optical Fiber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Optical fiber is rapidly replacing copper wires in telephone lines, internet communication and even cable TV connections because transmitted data can travel very long distances without weakening. 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Single node</a:t>
            </a:r>
            <a:r>
              <a:rPr lang="en-US" sz="1800" dirty="0">
                <a:solidFill>
                  <a:schemeClr val="tx1"/>
                </a:solidFill>
              </a:rPr>
              <a:t> fiber optic cable can have maximum segment length of 2 kms and bandwidth of up to 100 Mbps. 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Multi-node</a:t>
            </a:r>
            <a:r>
              <a:rPr lang="en-US" sz="1800" dirty="0">
                <a:solidFill>
                  <a:schemeClr val="tx1"/>
                </a:solidFill>
              </a:rPr>
              <a:t> fiber optic cable can have maximum segment length of 100 kms and bandwidth up to 2 Gbps.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Advantages of Optical Fiber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Optical fiber is fast replacing copper wires because of these advantages that it offers −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High bandwidth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Immune to electromagnetic interference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Suitable for industrial and noisy areas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Signals carrying data can travel long distances without weakening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98616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 marL="0" lvl="1"/>
            <a:r>
              <a:rPr lang="en-US" sz="1600" dirty="0">
                <a:hlinkClick r:id="rId2"/>
              </a:rPr>
              <a:t>https://www.tutorialspoint.com/communication_technologies/communication_technologies_transmission_media.htm</a:t>
            </a:r>
            <a:endParaRPr lang="en-US" sz="1600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404246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2020/3/27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404246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19655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/>
          <a:lstStyle/>
          <a:p>
            <a:pPr algn="l"/>
            <a:r>
              <a:rPr lang="en-US" altLang="zh-TW" b="1" dirty="0">
                <a:solidFill>
                  <a:srgbClr val="FFFF00"/>
                </a:solidFill>
              </a:rPr>
              <a:t>6 Transmission Media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67862" y="1412778"/>
            <a:ext cx="8318938" cy="2808310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Optical Fiber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Disadvantages of Optical Fiber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Despite long segment lengths and high bandwidth, using optical fiber may not be a viable option for every one due to these disadvantages −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Optical fiber cables are expensive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Sophisticated technology required for manufacturing, installing and maintaining optical fiber cables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Light waves are unidirectional, so two frequencies are required for full duplex transmission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98616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 marL="0" lvl="1"/>
            <a:r>
              <a:rPr lang="en-US" sz="1600" dirty="0">
                <a:hlinkClick r:id="rId2"/>
              </a:rPr>
              <a:t>https://www.tutorialspoint.com/communication_technologies/communication_technologies_transmission_media.htm</a:t>
            </a:r>
            <a:endParaRPr lang="en-US" sz="1600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404246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2020/3/27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404246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094881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/>
          <a:lstStyle/>
          <a:p>
            <a:pPr algn="l"/>
            <a:r>
              <a:rPr lang="en-US" altLang="zh-TW" b="1" dirty="0">
                <a:solidFill>
                  <a:srgbClr val="FFFF00"/>
                </a:solidFill>
              </a:rPr>
              <a:t>6 Transmission Media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67862" y="1412778"/>
            <a:ext cx="8318938" cy="1872206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Infrared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Low frequency infrared waves are used for very short distance communication like TV remote, wireless speakers, automatic doors, hand held devices etc.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Infrared signals can propagate within a room but cannot penetrate walls. However, due to such short range, it is considered to be one of the most secure transmission modes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98616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 marL="0" lvl="1"/>
            <a:r>
              <a:rPr lang="en-US" sz="1600" dirty="0">
                <a:hlinkClick r:id="rId2"/>
              </a:rPr>
              <a:t>https://www.tutorialspoint.com/communication_technologies/communication_technologies_transmission_media.htm</a:t>
            </a:r>
            <a:endParaRPr lang="en-US" sz="1600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404246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2020/3/27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404246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12</a:t>
            </a:fld>
            <a:endParaRPr lang="zh-TW" altLang="en-US"/>
          </a:p>
        </p:txBody>
      </p:sp>
      <p:pic>
        <p:nvPicPr>
          <p:cNvPr id="5122" name="Picture 2" descr="Electromagnetic Spectrum">
            <a:extLst>
              <a:ext uri="{FF2B5EF4-FFF2-40B4-BE49-F238E27FC236}">
                <a16:creationId xmlns:a16="http://schemas.microsoft.com/office/drawing/2014/main" id="{3D192294-B69E-4FE0-82CD-59CE5F535F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3531540"/>
            <a:ext cx="5715000" cy="1857375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06734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/>
          <a:lstStyle/>
          <a:p>
            <a:pPr algn="l"/>
            <a:r>
              <a:rPr lang="en-US" altLang="zh-TW" b="1" dirty="0">
                <a:solidFill>
                  <a:srgbClr val="FFFF00"/>
                </a:solidFill>
              </a:rPr>
              <a:t>6 Transmission Media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67862" y="1412778"/>
            <a:ext cx="8318938" cy="2016222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Radio Wave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Transmission of data using radio frequencies is called </a:t>
            </a:r>
            <a:r>
              <a:rPr lang="en-US" sz="1800" b="1" dirty="0">
                <a:solidFill>
                  <a:schemeClr val="tx1"/>
                </a:solidFill>
              </a:rPr>
              <a:t>radio-wave transmission</a:t>
            </a:r>
            <a:r>
              <a:rPr lang="en-US" sz="1800" dirty="0">
                <a:solidFill>
                  <a:schemeClr val="tx1"/>
                </a:solidFill>
              </a:rPr>
              <a:t>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We all are familiar with radio channels that broadcast entertainment programs.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Radio stations transmit radio waves using </a:t>
            </a:r>
            <a:r>
              <a:rPr lang="en-US" sz="1800" b="1" dirty="0">
                <a:solidFill>
                  <a:schemeClr val="tx1"/>
                </a:solidFill>
              </a:rPr>
              <a:t>transmitters</a:t>
            </a:r>
            <a:r>
              <a:rPr lang="en-US" sz="1800" dirty="0">
                <a:solidFill>
                  <a:schemeClr val="tx1"/>
                </a:solidFill>
              </a:rPr>
              <a:t>, which are received by the receiver installed in our devices.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Both transmitters and receivers use antennas to radiate or capture radio signals.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98616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 marL="0" lvl="1"/>
            <a:r>
              <a:rPr lang="en-US" sz="1600" dirty="0">
                <a:hlinkClick r:id="rId2"/>
              </a:rPr>
              <a:t>https://www.tutorialspoint.com/communication_technologies/communication_technologies_transmission_media.htm</a:t>
            </a:r>
            <a:endParaRPr lang="en-US" sz="1600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404246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2020/3/27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404246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13</a:t>
            </a:fld>
            <a:endParaRPr lang="zh-TW" altLang="en-US"/>
          </a:p>
        </p:txBody>
      </p:sp>
      <p:pic>
        <p:nvPicPr>
          <p:cNvPr id="11266" name="Picture 2" descr="Radio Wave">
            <a:extLst>
              <a:ext uri="{FF2B5EF4-FFF2-40B4-BE49-F238E27FC236}">
                <a16:creationId xmlns:a16="http://schemas.microsoft.com/office/drawing/2014/main" id="{23D4E364-1327-4C19-82EE-20ED391CF1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8646" y="3497053"/>
            <a:ext cx="4348154" cy="2884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副標題 2">
            <a:extLst>
              <a:ext uri="{FF2B5EF4-FFF2-40B4-BE49-F238E27FC236}">
                <a16:creationId xmlns:a16="http://schemas.microsoft.com/office/drawing/2014/main" id="{1257E682-D551-4F8B-ADE2-D51CBD238EA4}"/>
              </a:ext>
            </a:extLst>
          </p:cNvPr>
          <p:cNvSpPr txBox="1">
            <a:spLocks/>
          </p:cNvSpPr>
          <p:nvPr/>
        </p:nvSpPr>
        <p:spPr>
          <a:xfrm>
            <a:off x="367862" y="3497053"/>
            <a:ext cx="3772090" cy="1656184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These radio frequencies can also be used for </a:t>
            </a:r>
            <a:r>
              <a:rPr lang="en-US" sz="1800" b="1" dirty="0">
                <a:solidFill>
                  <a:schemeClr val="tx1"/>
                </a:solidFill>
              </a:rPr>
              <a:t>direct voice communication </a:t>
            </a:r>
            <a:r>
              <a:rPr lang="en-US" sz="1800" dirty="0">
                <a:solidFill>
                  <a:schemeClr val="tx1"/>
                </a:solidFill>
              </a:rPr>
              <a:t>within the </a:t>
            </a:r>
            <a:r>
              <a:rPr lang="en-US" sz="1800" b="1" dirty="0">
                <a:solidFill>
                  <a:schemeClr val="tx1"/>
                </a:solidFill>
              </a:rPr>
              <a:t>allocated range</a:t>
            </a:r>
            <a:r>
              <a:rPr lang="en-US" sz="1800" dirty="0">
                <a:solidFill>
                  <a:schemeClr val="tx1"/>
                </a:solidFill>
              </a:rPr>
              <a:t>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This range is usually 10 miles.</a:t>
            </a:r>
          </a:p>
        </p:txBody>
      </p:sp>
    </p:spTree>
    <p:extLst>
      <p:ext uri="{BB962C8B-B14F-4D97-AF65-F5344CB8AC3E}">
        <p14:creationId xmlns:p14="http://schemas.microsoft.com/office/powerpoint/2010/main" val="21978711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/>
          <a:lstStyle/>
          <a:p>
            <a:pPr algn="l"/>
            <a:r>
              <a:rPr lang="en-US" altLang="zh-TW" b="1" dirty="0">
                <a:solidFill>
                  <a:srgbClr val="FFFF00"/>
                </a:solidFill>
              </a:rPr>
              <a:t>6 Transmission Media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67862" y="1412778"/>
            <a:ext cx="8318938" cy="3384374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Radio Wave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Advantages of Radio Wave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These are some of the advantages of radio wave transmissions −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Inexpensive mode of information exchange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No land needs to be acquired for laying cables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Installation and maintenance of devices is cheap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Disadvantages of Radio Wave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These are some of the disadvantages of radio wave transmissions −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Insecure communication medium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Prone to weather changes like rain, thunderstorms, etc.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98616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 marL="0" lvl="1"/>
            <a:r>
              <a:rPr lang="en-US" sz="1600" dirty="0">
                <a:hlinkClick r:id="rId2"/>
              </a:rPr>
              <a:t>https://www.tutorialspoint.com/communication_technologies/communication_technologies_transmission_media.htm</a:t>
            </a:r>
            <a:endParaRPr lang="en-US" sz="1600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404246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2020/3/27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404246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55184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r>
              <a:rPr lang="en-US" altLang="zh-TW" sz="6000" b="1" dirty="0">
                <a:solidFill>
                  <a:srgbClr val="FFFF00"/>
                </a:solidFill>
              </a:rPr>
              <a:t>End of Chapter</a:t>
            </a:r>
            <a:endParaRPr lang="zh-TW" altLang="en-US" sz="6000" b="1" dirty="0">
              <a:solidFill>
                <a:srgbClr val="FFFF00"/>
              </a:solidFill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6BE27-E923-4EC2-B046-3272AE2A3E5C}" type="datetime1">
              <a:rPr lang="zh-TW" altLang="en-US" smtClean="0"/>
              <a:pPr/>
              <a:t>2020/3/27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15</a:t>
            </a:fld>
            <a:endParaRPr lang="zh-TW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879</TotalTime>
  <Words>1507</Words>
  <Application>Microsoft Office PowerPoint</Application>
  <PresentationFormat>On-screen Show (4:3)</PresentationFormat>
  <Paragraphs>157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Wingdings</vt:lpstr>
      <vt:lpstr>Office 佈景主題</vt:lpstr>
      <vt:lpstr>6 Transmission Media</vt:lpstr>
      <vt:lpstr>6 Transmission Media</vt:lpstr>
      <vt:lpstr>6 Transmission Media</vt:lpstr>
      <vt:lpstr>6 Transmission Media</vt:lpstr>
      <vt:lpstr>6 Transmission Media</vt:lpstr>
      <vt:lpstr>6 Transmission Media</vt:lpstr>
      <vt:lpstr>6 Transmission Media</vt:lpstr>
      <vt:lpstr>6 Transmission Media</vt:lpstr>
      <vt:lpstr>6 Transmission Media</vt:lpstr>
      <vt:lpstr>6 Transmission Media</vt:lpstr>
      <vt:lpstr>6 Transmission Media</vt:lpstr>
      <vt:lpstr>6 Transmission Media</vt:lpstr>
      <vt:lpstr>6 Transmission Media</vt:lpstr>
      <vt:lpstr>6 Transmission Media</vt:lpstr>
      <vt:lpstr>End of Chapter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Node JS</dc:title>
  <dc:creator>USER</dc:creator>
  <cp:lastModifiedBy>14088587657</cp:lastModifiedBy>
  <cp:revision>325</cp:revision>
  <dcterms:created xsi:type="dcterms:W3CDTF">2018-09-28T16:40:41Z</dcterms:created>
  <dcterms:modified xsi:type="dcterms:W3CDTF">2020-03-28T02:32:57Z</dcterms:modified>
</cp:coreProperties>
</file>